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7" r:id="rId1"/>
  </p:sldMasterIdLst>
  <p:sldIdLst>
    <p:sldId id="256" r:id="rId2"/>
    <p:sldId id="258" r:id="rId3"/>
    <p:sldId id="267" r:id="rId4"/>
    <p:sldId id="257" r:id="rId5"/>
    <p:sldId id="259" r:id="rId6"/>
    <p:sldId id="260" r:id="rId7"/>
    <p:sldId id="261" r:id="rId8"/>
    <p:sldId id="262" r:id="rId9"/>
    <p:sldId id="263" r:id="rId10"/>
    <p:sldId id="264" r:id="rId11"/>
    <p:sldId id="265" r:id="rId12"/>
    <p:sldId id="269" r:id="rId13"/>
    <p:sldId id="268"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pic>
        <p:nvPicPr>
          <p:cNvPr id="7" name="Picture 6" descr="Droplets-HD-Title-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ctrTitle"/>
          </p:nvPr>
        </p:nvSpPr>
        <p:spPr>
          <a:xfrm>
            <a:off x="1751012" y="1300785"/>
            <a:ext cx="8689976" cy="2509213"/>
          </a:xfrm>
        </p:spPr>
        <p:txBody>
          <a:bodyPr anchor="b">
            <a:normAutofit/>
          </a:bodyPr>
          <a:lstStyle>
            <a:lvl1pPr algn="ctr">
              <a:defRPr sz="4800"/>
            </a:lvl1pPr>
          </a:lstStyle>
          <a:p>
            <a:r>
              <a:rPr lang="zh-TW" altLang="en-US"/>
              <a:t>按一下以編輯母片標題樣式</a:t>
            </a:r>
            <a:endParaRPr lang="en-US" dirty="0"/>
          </a:p>
        </p:txBody>
      </p:sp>
      <p:sp>
        <p:nvSpPr>
          <p:cNvPr id="3" name="Subtitle 2"/>
          <p:cNvSpPr>
            <a:spLocks noGrp="1"/>
          </p:cNvSpPr>
          <p:nvPr>
            <p:ph type="subTitle" idx="1"/>
          </p:nvPr>
        </p:nvSpPr>
        <p:spPr>
          <a:xfrm>
            <a:off x="1751012" y="3886200"/>
            <a:ext cx="8689976" cy="1371599"/>
          </a:xfrm>
        </p:spPr>
        <p:txBody>
          <a:bodyPr>
            <a:normAutofit/>
          </a:bodyPr>
          <a:lstStyle>
            <a:lvl1pPr marL="0" indent="0" algn="ctr">
              <a:buNone/>
              <a:defRPr sz="2200">
                <a:solidFill>
                  <a:schemeClr val="bg1">
                    <a:lumMod val="5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a:t>按一下以編輯母片子標題樣式</a:t>
            </a:r>
            <a:endParaRPr lang="en-US" dirty="0"/>
          </a:p>
        </p:txBody>
      </p:sp>
      <p:sp>
        <p:nvSpPr>
          <p:cNvPr id="4" name="Date Placeholder 3"/>
          <p:cNvSpPr>
            <a:spLocks noGrp="1"/>
          </p:cNvSpPr>
          <p:nvPr>
            <p:ph type="dt" sz="half" idx="10"/>
          </p:nvPr>
        </p:nvSpPr>
        <p:spPr/>
        <p:txBody>
          <a:bodyPr/>
          <a:lstStyle/>
          <a:p>
            <a:fld id="{92344E28-B27D-4C4A-BC31-163B8C692DE2}" type="datetimeFigureOut">
              <a:rPr lang="zh-TW" altLang="en-US" smtClean="0"/>
              <a:t>2024/12/23</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F00BF453-BF29-4DD9-9577-5F61C11AE7A0}" type="slidenum">
              <a:rPr lang="zh-TW" altLang="en-US" smtClean="0"/>
              <a:t>‹#›</a:t>
            </a:fld>
            <a:endParaRPr lang="zh-TW" altLang="en-US"/>
          </a:p>
        </p:txBody>
      </p:sp>
    </p:spTree>
    <p:extLst>
      <p:ext uri="{BB962C8B-B14F-4D97-AF65-F5344CB8AC3E}">
        <p14:creationId xmlns:p14="http://schemas.microsoft.com/office/powerpoint/2010/main" val="260210412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內容">
    <p:spTree>
      <p:nvGrpSpPr>
        <p:cNvPr id="1" name=""/>
        <p:cNvGrpSpPr/>
        <p:nvPr/>
      </p:nvGrpSpPr>
      <p:grpSpPr>
        <a:xfrm>
          <a:off x="0" y="0"/>
          <a:ext cx="0" cy="0"/>
          <a:chOff x="0" y="0"/>
          <a:chExt cx="0" cy="0"/>
        </a:xfrm>
      </p:grpSpPr>
      <p:pic>
        <p:nvPicPr>
          <p:cNvPr id="3" name="Picture 2"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zh-TW" altLang="en-US"/>
              <a:t>按一下以編輯母片標題樣式</a:t>
            </a:r>
            <a:endParaRPr lang="en-US" dirty="0"/>
          </a:p>
        </p:txBody>
      </p:sp>
      <p:sp>
        <p:nvSpPr>
          <p:cNvPr id="12" name="Content Placeholder 2"/>
          <p:cNvSpPr>
            <a:spLocks noGrp="1"/>
          </p:cNvSpPr>
          <p:nvPr>
            <p:ph sz="quarter" idx="13"/>
          </p:nvPr>
        </p:nvSpPr>
        <p:spPr>
          <a:xfrm>
            <a:off x="913774" y="2367092"/>
            <a:ext cx="10363826" cy="3424107"/>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10"/>
          </p:nvPr>
        </p:nvSpPr>
        <p:spPr/>
        <p:txBody>
          <a:bodyPr/>
          <a:lstStyle/>
          <a:p>
            <a:fld id="{92344E28-B27D-4C4A-BC31-163B8C692DE2}" type="datetimeFigureOut">
              <a:rPr lang="zh-TW" altLang="en-US" smtClean="0"/>
              <a:t>2024/12/23</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F00BF453-BF29-4DD9-9577-5F61C11AE7A0}" type="slidenum">
              <a:rPr lang="zh-TW" altLang="en-US" smtClean="0"/>
              <a:t>‹#›</a:t>
            </a:fld>
            <a:endParaRPr lang="zh-TW" altLang="en-US"/>
          </a:p>
        </p:txBody>
      </p:sp>
    </p:spTree>
    <p:extLst>
      <p:ext uri="{BB962C8B-B14F-4D97-AF65-F5344CB8AC3E}">
        <p14:creationId xmlns:p14="http://schemas.microsoft.com/office/powerpoint/2010/main" val="139481593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pic>
        <p:nvPicPr>
          <p:cNvPr id="9" name="Picture 8"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828563"/>
            <a:ext cx="10351752" cy="2736819"/>
          </a:xfrm>
        </p:spPr>
        <p:txBody>
          <a:bodyPr anchor="b">
            <a:normAutofit/>
          </a:bodyPr>
          <a:lstStyle>
            <a:lvl1pPr>
              <a:defRPr sz="4000"/>
            </a:lvl1pPr>
          </a:lstStyle>
          <a:p>
            <a:r>
              <a:rPr lang="zh-TW" altLang="en-US"/>
              <a:t>按一下以編輯母片標題樣式</a:t>
            </a:r>
            <a:endParaRPr lang="en-US" dirty="0"/>
          </a:p>
        </p:txBody>
      </p:sp>
      <p:sp>
        <p:nvSpPr>
          <p:cNvPr id="3" name="Text Placeholder 2"/>
          <p:cNvSpPr>
            <a:spLocks noGrp="1"/>
          </p:cNvSpPr>
          <p:nvPr>
            <p:ph type="body" idx="1"/>
          </p:nvPr>
        </p:nvSpPr>
        <p:spPr>
          <a:xfrm>
            <a:off x="913774" y="3657457"/>
            <a:ext cx="10351752" cy="1368183"/>
          </a:xfrm>
        </p:spPr>
        <p:txBody>
          <a:bodyPr>
            <a:normAutofit/>
          </a:bodyPr>
          <a:lstStyle>
            <a:lvl1pPr marL="0" indent="0" algn="ctr">
              <a:buNone/>
              <a:defRPr sz="2000">
                <a:solidFill>
                  <a:schemeClr val="bg1">
                    <a:lumMod val="50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TW" altLang="en-US"/>
              <a:t>按一下以編輯母片文字樣式</a:t>
            </a:r>
          </a:p>
        </p:txBody>
      </p:sp>
      <p:sp>
        <p:nvSpPr>
          <p:cNvPr id="4" name="Date Placeholder 3"/>
          <p:cNvSpPr>
            <a:spLocks noGrp="1"/>
          </p:cNvSpPr>
          <p:nvPr>
            <p:ph type="dt" sz="half" idx="10"/>
          </p:nvPr>
        </p:nvSpPr>
        <p:spPr/>
        <p:txBody>
          <a:bodyPr/>
          <a:lstStyle/>
          <a:p>
            <a:fld id="{92344E28-B27D-4C4A-BC31-163B8C692DE2}" type="datetimeFigureOut">
              <a:rPr lang="zh-TW" altLang="en-US" smtClean="0"/>
              <a:t>2024/12/23</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F00BF453-BF29-4DD9-9577-5F61C11AE7A0}" type="slidenum">
              <a:rPr lang="zh-TW" altLang="en-US" smtClean="0"/>
              <a:t>‹#›</a:t>
            </a:fld>
            <a:endParaRPr lang="zh-TW" altLang="en-US"/>
          </a:p>
        </p:txBody>
      </p:sp>
    </p:spTree>
    <p:extLst>
      <p:ext uri="{BB962C8B-B14F-4D97-AF65-F5344CB8AC3E}">
        <p14:creationId xmlns:p14="http://schemas.microsoft.com/office/powerpoint/2010/main" val="317507773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個內容">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4" name="Title 1"/>
          <p:cNvSpPr>
            <a:spLocks noGrp="1"/>
          </p:cNvSpPr>
          <p:nvPr>
            <p:ph type="title"/>
          </p:nvPr>
        </p:nvSpPr>
        <p:spPr>
          <a:xfrm>
            <a:off x="913775" y="618517"/>
            <a:ext cx="10364451" cy="1596177"/>
          </a:xfrm>
        </p:spPr>
        <p:txBody>
          <a:bodyPr/>
          <a:lstStyle/>
          <a:p>
            <a:r>
              <a:rPr lang="zh-TW" altLang="en-US"/>
              <a:t>按一下以編輯母片標題樣式</a:t>
            </a:r>
            <a:endParaRPr lang="en-US" dirty="0"/>
          </a:p>
        </p:txBody>
      </p:sp>
      <p:sp>
        <p:nvSpPr>
          <p:cNvPr id="12" name="Content Placeholder 2"/>
          <p:cNvSpPr>
            <a:spLocks noGrp="1"/>
          </p:cNvSpPr>
          <p:nvPr>
            <p:ph sz="quarter" idx="13"/>
          </p:nvPr>
        </p:nvSpPr>
        <p:spPr>
          <a:xfrm>
            <a:off x="913774" y="2367092"/>
            <a:ext cx="5106026" cy="3424107"/>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13" name="Content Placeholder 3"/>
          <p:cNvSpPr>
            <a:spLocks noGrp="1"/>
          </p:cNvSpPr>
          <p:nvPr>
            <p:ph sz="quarter" idx="14"/>
          </p:nvPr>
        </p:nvSpPr>
        <p:spPr>
          <a:xfrm>
            <a:off x="6172200" y="2367092"/>
            <a:ext cx="5105400" cy="3424107"/>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5" name="Date Placeholder 4"/>
          <p:cNvSpPr>
            <a:spLocks noGrp="1"/>
          </p:cNvSpPr>
          <p:nvPr>
            <p:ph type="dt" sz="half" idx="10"/>
          </p:nvPr>
        </p:nvSpPr>
        <p:spPr/>
        <p:txBody>
          <a:bodyPr/>
          <a:lstStyle/>
          <a:p>
            <a:fld id="{92344E28-B27D-4C4A-BC31-163B8C692DE2}" type="datetimeFigureOut">
              <a:rPr lang="zh-TW" altLang="en-US" smtClean="0"/>
              <a:t>2024/12/23</a:t>
            </a:fld>
            <a:endParaRPr lang="zh-TW" altLang="en-US"/>
          </a:p>
        </p:txBody>
      </p:sp>
      <p:sp>
        <p:nvSpPr>
          <p:cNvPr id="6" name="Footer Placeholder 5"/>
          <p:cNvSpPr>
            <a:spLocks noGrp="1"/>
          </p:cNvSpPr>
          <p:nvPr>
            <p:ph type="ftr" sz="quarter" idx="11"/>
          </p:nvPr>
        </p:nvSpPr>
        <p:spPr/>
        <p:txBody>
          <a:bodyPr/>
          <a:lstStyle/>
          <a:p>
            <a:endParaRPr lang="zh-TW" altLang="en-US"/>
          </a:p>
        </p:txBody>
      </p:sp>
      <p:sp>
        <p:nvSpPr>
          <p:cNvPr id="7" name="Slide Number Placeholder 6"/>
          <p:cNvSpPr>
            <a:spLocks noGrp="1"/>
          </p:cNvSpPr>
          <p:nvPr>
            <p:ph type="sldNum" sz="quarter" idx="12"/>
          </p:nvPr>
        </p:nvSpPr>
        <p:spPr/>
        <p:txBody>
          <a:bodyPr/>
          <a:lstStyle/>
          <a:p>
            <a:fld id="{F00BF453-BF29-4DD9-9577-5F61C11AE7A0}" type="slidenum">
              <a:rPr lang="zh-TW" altLang="en-US" smtClean="0"/>
              <a:t>‹#›</a:t>
            </a:fld>
            <a:endParaRPr lang="zh-TW" altLang="en-US"/>
          </a:p>
        </p:txBody>
      </p:sp>
    </p:spTree>
    <p:extLst>
      <p:ext uri="{BB962C8B-B14F-4D97-AF65-F5344CB8AC3E}">
        <p14:creationId xmlns:p14="http://schemas.microsoft.com/office/powerpoint/2010/main" val="319326632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pic>
        <p:nvPicPr>
          <p:cNvPr id="15" name="Picture 14"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4" name="Title 1"/>
          <p:cNvSpPr>
            <a:spLocks noGrp="1"/>
          </p:cNvSpPr>
          <p:nvPr>
            <p:ph type="title"/>
          </p:nvPr>
        </p:nvSpPr>
        <p:spPr>
          <a:xfrm>
            <a:off x="913775" y="618517"/>
            <a:ext cx="10364451" cy="1596177"/>
          </a:xfrm>
        </p:spPr>
        <p:txBody>
          <a:bodyPr/>
          <a:lstStyle/>
          <a:p>
            <a:r>
              <a:rPr lang="zh-TW" altLang="en-US"/>
              <a:t>按一下以編輯母片標題樣式</a:t>
            </a:r>
            <a:endParaRPr lang="en-US" dirty="0"/>
          </a:p>
        </p:txBody>
      </p:sp>
      <p:sp>
        <p:nvSpPr>
          <p:cNvPr id="3" name="Text Placeholder 2"/>
          <p:cNvSpPr>
            <a:spLocks noGrp="1"/>
          </p:cNvSpPr>
          <p:nvPr>
            <p:ph type="body" idx="1"/>
          </p:nvPr>
        </p:nvSpPr>
        <p:spPr>
          <a:xfrm>
            <a:off x="1146328" y="2371018"/>
            <a:ext cx="4873474" cy="679994"/>
          </a:xfrm>
        </p:spPr>
        <p:txBody>
          <a:bodyPr anchor="b">
            <a:noAutofit/>
          </a:bodyPr>
          <a:lstStyle>
            <a:lvl1pPr marL="0" indent="0">
              <a:lnSpc>
                <a:spcPct val="8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12" name="Content Placeholder 3"/>
          <p:cNvSpPr>
            <a:spLocks noGrp="1"/>
          </p:cNvSpPr>
          <p:nvPr>
            <p:ph sz="quarter" idx="13"/>
          </p:nvPr>
        </p:nvSpPr>
        <p:spPr>
          <a:xfrm>
            <a:off x="913774" y="3051012"/>
            <a:ext cx="5106027" cy="2740187"/>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5" name="Text Placeholder 4"/>
          <p:cNvSpPr>
            <a:spLocks noGrp="1"/>
          </p:cNvSpPr>
          <p:nvPr>
            <p:ph type="body" sz="quarter" idx="3"/>
          </p:nvPr>
        </p:nvSpPr>
        <p:spPr>
          <a:xfrm>
            <a:off x="6396423" y="2371018"/>
            <a:ext cx="4881804" cy="679994"/>
          </a:xfrm>
        </p:spPr>
        <p:txBody>
          <a:bodyPr anchor="b">
            <a:noAutofit/>
          </a:bodyPr>
          <a:lstStyle>
            <a:lvl1pPr marL="0" indent="0">
              <a:lnSpc>
                <a:spcPct val="8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13" name="Content Placeholder 5"/>
          <p:cNvSpPr>
            <a:spLocks noGrp="1"/>
          </p:cNvSpPr>
          <p:nvPr>
            <p:ph sz="quarter" idx="14"/>
          </p:nvPr>
        </p:nvSpPr>
        <p:spPr>
          <a:xfrm>
            <a:off x="6172200" y="3051012"/>
            <a:ext cx="5105401" cy="2740187"/>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7" name="Date Placeholder 6"/>
          <p:cNvSpPr>
            <a:spLocks noGrp="1"/>
          </p:cNvSpPr>
          <p:nvPr>
            <p:ph type="dt" sz="half" idx="10"/>
          </p:nvPr>
        </p:nvSpPr>
        <p:spPr/>
        <p:txBody>
          <a:bodyPr/>
          <a:lstStyle/>
          <a:p>
            <a:fld id="{92344E28-B27D-4C4A-BC31-163B8C692DE2}" type="datetimeFigureOut">
              <a:rPr lang="zh-TW" altLang="en-US" smtClean="0"/>
              <a:t>2024/12/23</a:t>
            </a:fld>
            <a:endParaRPr lang="zh-TW" altLang="en-US"/>
          </a:p>
        </p:txBody>
      </p:sp>
      <p:sp>
        <p:nvSpPr>
          <p:cNvPr id="8" name="Footer Placeholder 7"/>
          <p:cNvSpPr>
            <a:spLocks noGrp="1"/>
          </p:cNvSpPr>
          <p:nvPr>
            <p:ph type="ftr" sz="quarter" idx="11"/>
          </p:nvPr>
        </p:nvSpPr>
        <p:spPr/>
        <p:txBody>
          <a:bodyPr/>
          <a:lstStyle/>
          <a:p>
            <a:endParaRPr lang="zh-TW" altLang="en-US"/>
          </a:p>
        </p:txBody>
      </p:sp>
      <p:sp>
        <p:nvSpPr>
          <p:cNvPr id="9" name="Slide Number Placeholder 8"/>
          <p:cNvSpPr>
            <a:spLocks noGrp="1"/>
          </p:cNvSpPr>
          <p:nvPr>
            <p:ph type="sldNum" sz="quarter" idx="12"/>
          </p:nvPr>
        </p:nvSpPr>
        <p:spPr/>
        <p:txBody>
          <a:bodyPr/>
          <a:lstStyle/>
          <a:p>
            <a:fld id="{F00BF453-BF29-4DD9-9577-5F61C11AE7A0}" type="slidenum">
              <a:rPr lang="zh-TW" altLang="en-US" smtClean="0"/>
              <a:t>‹#›</a:t>
            </a:fld>
            <a:endParaRPr lang="zh-TW" altLang="en-US"/>
          </a:p>
        </p:txBody>
      </p:sp>
    </p:spTree>
    <p:extLst>
      <p:ext uri="{BB962C8B-B14F-4D97-AF65-F5344CB8AC3E}">
        <p14:creationId xmlns:p14="http://schemas.microsoft.com/office/powerpoint/2010/main" val="36818402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Date Placeholder 2"/>
          <p:cNvSpPr>
            <a:spLocks noGrp="1"/>
          </p:cNvSpPr>
          <p:nvPr>
            <p:ph type="dt" sz="half" idx="10"/>
          </p:nvPr>
        </p:nvSpPr>
        <p:spPr/>
        <p:txBody>
          <a:bodyPr/>
          <a:lstStyle/>
          <a:p>
            <a:fld id="{92344E28-B27D-4C4A-BC31-163B8C692DE2}" type="datetimeFigureOut">
              <a:rPr lang="zh-TW" altLang="en-US" smtClean="0"/>
              <a:t>2024/12/23</a:t>
            </a:fld>
            <a:endParaRPr lang="zh-TW" altLang="en-US"/>
          </a:p>
        </p:txBody>
      </p:sp>
      <p:sp>
        <p:nvSpPr>
          <p:cNvPr id="4" name="Footer Placeholder 3"/>
          <p:cNvSpPr>
            <a:spLocks noGrp="1"/>
          </p:cNvSpPr>
          <p:nvPr>
            <p:ph type="ftr" sz="quarter" idx="11"/>
          </p:nvPr>
        </p:nvSpPr>
        <p:spPr/>
        <p:txBody>
          <a:bodyPr/>
          <a:lstStyle/>
          <a:p>
            <a:endParaRPr lang="zh-TW" altLang="en-US"/>
          </a:p>
        </p:txBody>
      </p:sp>
      <p:sp>
        <p:nvSpPr>
          <p:cNvPr id="5" name="Slide Number Placeholder 4"/>
          <p:cNvSpPr>
            <a:spLocks noGrp="1"/>
          </p:cNvSpPr>
          <p:nvPr>
            <p:ph type="sldNum" sz="quarter" idx="12"/>
          </p:nvPr>
        </p:nvSpPr>
        <p:spPr/>
        <p:txBody>
          <a:bodyPr/>
          <a:lstStyle/>
          <a:p>
            <a:fld id="{F00BF453-BF29-4DD9-9577-5F61C11AE7A0}" type="slidenum">
              <a:rPr lang="zh-TW" altLang="en-US" smtClean="0"/>
              <a:t>‹#›</a:t>
            </a:fld>
            <a:endParaRPr lang="zh-TW" altLang="en-US"/>
          </a:p>
        </p:txBody>
      </p:sp>
    </p:spTree>
    <p:extLst>
      <p:ext uri="{BB962C8B-B14F-4D97-AF65-F5344CB8AC3E}">
        <p14:creationId xmlns:p14="http://schemas.microsoft.com/office/powerpoint/2010/main" val="266320990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pic>
        <p:nvPicPr>
          <p:cNvPr id="7" name="Picture 6"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Date Placeholder 1"/>
          <p:cNvSpPr>
            <a:spLocks noGrp="1"/>
          </p:cNvSpPr>
          <p:nvPr>
            <p:ph type="dt" sz="half" idx="10"/>
          </p:nvPr>
        </p:nvSpPr>
        <p:spPr/>
        <p:txBody>
          <a:bodyPr/>
          <a:lstStyle/>
          <a:p>
            <a:fld id="{92344E28-B27D-4C4A-BC31-163B8C692DE2}" type="datetimeFigureOut">
              <a:rPr lang="zh-TW" altLang="en-US" smtClean="0"/>
              <a:t>2024/12/23</a:t>
            </a:fld>
            <a:endParaRPr lang="zh-TW" altLang="en-US"/>
          </a:p>
        </p:txBody>
      </p:sp>
      <p:sp>
        <p:nvSpPr>
          <p:cNvPr id="3" name="Footer Placeholder 2"/>
          <p:cNvSpPr>
            <a:spLocks noGrp="1"/>
          </p:cNvSpPr>
          <p:nvPr>
            <p:ph type="ftr" sz="quarter" idx="11"/>
          </p:nvPr>
        </p:nvSpPr>
        <p:spPr/>
        <p:txBody>
          <a:bodyPr/>
          <a:lstStyle/>
          <a:p>
            <a:endParaRPr lang="zh-TW" altLang="en-US"/>
          </a:p>
        </p:txBody>
      </p:sp>
      <p:sp>
        <p:nvSpPr>
          <p:cNvPr id="4" name="Slide Number Placeholder 3"/>
          <p:cNvSpPr>
            <a:spLocks noGrp="1"/>
          </p:cNvSpPr>
          <p:nvPr>
            <p:ph type="sldNum" sz="quarter" idx="12"/>
          </p:nvPr>
        </p:nvSpPr>
        <p:spPr/>
        <p:txBody>
          <a:bodyPr/>
          <a:lstStyle/>
          <a:p>
            <a:fld id="{F00BF453-BF29-4DD9-9577-5F61C11AE7A0}" type="slidenum">
              <a:rPr lang="zh-TW" altLang="en-US" smtClean="0"/>
              <a:t>‹#›</a:t>
            </a:fld>
            <a:endParaRPr lang="zh-TW" altLang="en-US"/>
          </a:p>
        </p:txBody>
      </p:sp>
    </p:spTree>
    <p:extLst>
      <p:ext uri="{BB962C8B-B14F-4D97-AF65-F5344CB8AC3E}">
        <p14:creationId xmlns:p14="http://schemas.microsoft.com/office/powerpoint/2010/main" val="33445535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輔助字幕的內容">
    <p:spTree>
      <p:nvGrpSpPr>
        <p:cNvPr id="1" name=""/>
        <p:cNvGrpSpPr/>
        <p:nvPr/>
      </p:nvGrpSpPr>
      <p:grpSpPr>
        <a:xfrm>
          <a:off x="0" y="0"/>
          <a:ext cx="0" cy="0"/>
          <a:chOff x="0" y="0"/>
          <a:chExt cx="0" cy="0"/>
        </a:xfrm>
      </p:grpSpPr>
      <p:pic>
        <p:nvPicPr>
          <p:cNvPr id="11" name="Picture 10"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5" y="609600"/>
            <a:ext cx="3935688" cy="2023252"/>
          </a:xfrm>
        </p:spPr>
        <p:txBody>
          <a:bodyPr anchor="b"/>
          <a:lstStyle>
            <a:lvl1pPr algn="ctr">
              <a:defRPr sz="3200"/>
            </a:lvl1pPr>
          </a:lstStyle>
          <a:p>
            <a:r>
              <a:rPr lang="zh-TW" altLang="en-US"/>
              <a:t>按一下以編輯母片標題樣式</a:t>
            </a:r>
            <a:endParaRPr lang="en-US" dirty="0"/>
          </a:p>
        </p:txBody>
      </p:sp>
      <p:sp>
        <p:nvSpPr>
          <p:cNvPr id="10" name="Content Placeholder 2"/>
          <p:cNvSpPr>
            <a:spLocks noGrp="1"/>
          </p:cNvSpPr>
          <p:nvPr>
            <p:ph sz="quarter" idx="13"/>
          </p:nvPr>
        </p:nvSpPr>
        <p:spPr>
          <a:xfrm>
            <a:off x="5078062" y="609600"/>
            <a:ext cx="6200163" cy="5181599"/>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Text Placeholder 3"/>
          <p:cNvSpPr>
            <a:spLocks noGrp="1"/>
          </p:cNvSpPr>
          <p:nvPr>
            <p:ph type="body" sz="half" idx="2"/>
          </p:nvPr>
        </p:nvSpPr>
        <p:spPr>
          <a:xfrm>
            <a:off x="913774" y="2632852"/>
            <a:ext cx="3935689" cy="3158348"/>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按一下以編輯母片文字樣式</a:t>
            </a:r>
          </a:p>
        </p:txBody>
      </p:sp>
      <p:sp>
        <p:nvSpPr>
          <p:cNvPr id="5" name="Date Placeholder 4"/>
          <p:cNvSpPr>
            <a:spLocks noGrp="1"/>
          </p:cNvSpPr>
          <p:nvPr>
            <p:ph type="dt" sz="half" idx="10"/>
          </p:nvPr>
        </p:nvSpPr>
        <p:spPr/>
        <p:txBody>
          <a:bodyPr/>
          <a:lstStyle/>
          <a:p>
            <a:fld id="{92344E28-B27D-4C4A-BC31-163B8C692DE2}" type="datetimeFigureOut">
              <a:rPr lang="zh-TW" altLang="en-US" smtClean="0"/>
              <a:t>2024/12/23</a:t>
            </a:fld>
            <a:endParaRPr lang="zh-TW" altLang="en-US"/>
          </a:p>
        </p:txBody>
      </p:sp>
      <p:sp>
        <p:nvSpPr>
          <p:cNvPr id="6" name="Footer Placeholder 5"/>
          <p:cNvSpPr>
            <a:spLocks noGrp="1"/>
          </p:cNvSpPr>
          <p:nvPr>
            <p:ph type="ftr" sz="quarter" idx="11"/>
          </p:nvPr>
        </p:nvSpPr>
        <p:spPr/>
        <p:txBody>
          <a:bodyPr/>
          <a:lstStyle/>
          <a:p>
            <a:endParaRPr lang="zh-TW" altLang="en-US"/>
          </a:p>
        </p:txBody>
      </p:sp>
      <p:sp>
        <p:nvSpPr>
          <p:cNvPr id="7" name="Slide Number Placeholder 6"/>
          <p:cNvSpPr>
            <a:spLocks noGrp="1"/>
          </p:cNvSpPr>
          <p:nvPr>
            <p:ph type="sldNum" sz="quarter" idx="12"/>
          </p:nvPr>
        </p:nvSpPr>
        <p:spPr/>
        <p:txBody>
          <a:bodyPr/>
          <a:lstStyle/>
          <a:p>
            <a:fld id="{F00BF453-BF29-4DD9-9577-5F61C11AE7A0}" type="slidenum">
              <a:rPr lang="zh-TW" altLang="en-US" smtClean="0"/>
              <a:t>‹#›</a:t>
            </a:fld>
            <a:endParaRPr lang="zh-TW" altLang="en-US"/>
          </a:p>
        </p:txBody>
      </p:sp>
    </p:spTree>
    <p:extLst>
      <p:ext uri="{BB962C8B-B14F-4D97-AF65-F5344CB8AC3E}">
        <p14:creationId xmlns:p14="http://schemas.microsoft.com/office/powerpoint/2010/main" val="84536280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輔助字幕的圖片">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609600"/>
            <a:ext cx="5934969" cy="2023254"/>
          </a:xfrm>
        </p:spPr>
        <p:txBody>
          <a:bodyPr anchor="b"/>
          <a:lstStyle>
            <a:lvl1pPr algn="ctr">
              <a:defRPr sz="3200"/>
            </a:lvl1pPr>
          </a:lstStyle>
          <a:p>
            <a:r>
              <a:rPr lang="zh-TW" altLang="en-US"/>
              <a:t>按一下以編輯母片標題樣式</a:t>
            </a:r>
            <a:endParaRPr lang="en-US" dirty="0"/>
          </a:p>
        </p:txBody>
      </p:sp>
      <p:sp>
        <p:nvSpPr>
          <p:cNvPr id="3" name="Picture Placeholder 2"/>
          <p:cNvSpPr>
            <a:spLocks noGrp="1" noChangeAspect="1"/>
          </p:cNvSpPr>
          <p:nvPr>
            <p:ph type="pic" idx="1"/>
          </p:nvPr>
        </p:nvSpPr>
        <p:spPr>
          <a:xfrm>
            <a:off x="7424803" y="609601"/>
            <a:ext cx="3255358" cy="5181600"/>
          </a:xfrm>
          <a:prstGeom prst="roundRect">
            <a:avLst>
              <a:gd name="adj" fmla="val 4943"/>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TW" altLang="en-US"/>
              <a:t>按一下圖示以新增圖片</a:t>
            </a:r>
            <a:endParaRPr lang="en-US" dirty="0"/>
          </a:p>
        </p:txBody>
      </p:sp>
      <p:sp>
        <p:nvSpPr>
          <p:cNvPr id="4" name="Text Placeholder 3"/>
          <p:cNvSpPr>
            <a:spLocks noGrp="1"/>
          </p:cNvSpPr>
          <p:nvPr>
            <p:ph type="body" sz="half" idx="2"/>
          </p:nvPr>
        </p:nvSpPr>
        <p:spPr>
          <a:xfrm>
            <a:off x="913794" y="2632852"/>
            <a:ext cx="5934949" cy="3158347"/>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按一下以編輯母片文字樣式</a:t>
            </a:r>
          </a:p>
        </p:txBody>
      </p:sp>
      <p:sp>
        <p:nvSpPr>
          <p:cNvPr id="5" name="Date Placeholder 4"/>
          <p:cNvSpPr>
            <a:spLocks noGrp="1"/>
          </p:cNvSpPr>
          <p:nvPr>
            <p:ph type="dt" sz="half" idx="10"/>
          </p:nvPr>
        </p:nvSpPr>
        <p:spPr/>
        <p:txBody>
          <a:bodyPr/>
          <a:lstStyle/>
          <a:p>
            <a:fld id="{92344E28-B27D-4C4A-BC31-163B8C692DE2}" type="datetimeFigureOut">
              <a:rPr lang="zh-TW" altLang="en-US" smtClean="0"/>
              <a:t>2024/12/23</a:t>
            </a:fld>
            <a:endParaRPr lang="zh-TW" altLang="en-US"/>
          </a:p>
        </p:txBody>
      </p:sp>
      <p:sp>
        <p:nvSpPr>
          <p:cNvPr id="6" name="Footer Placeholder 5"/>
          <p:cNvSpPr>
            <a:spLocks noGrp="1"/>
          </p:cNvSpPr>
          <p:nvPr>
            <p:ph type="ftr" sz="quarter" idx="11"/>
          </p:nvPr>
        </p:nvSpPr>
        <p:spPr/>
        <p:txBody>
          <a:bodyPr/>
          <a:lstStyle/>
          <a:p>
            <a:endParaRPr lang="zh-TW" altLang="en-US"/>
          </a:p>
        </p:txBody>
      </p:sp>
      <p:sp>
        <p:nvSpPr>
          <p:cNvPr id="7" name="Slide Number Placeholder 6"/>
          <p:cNvSpPr>
            <a:spLocks noGrp="1"/>
          </p:cNvSpPr>
          <p:nvPr>
            <p:ph type="sldNum" sz="quarter" idx="12"/>
          </p:nvPr>
        </p:nvSpPr>
        <p:spPr/>
        <p:txBody>
          <a:bodyPr/>
          <a:lstStyle/>
          <a:p>
            <a:fld id="{F00BF453-BF29-4DD9-9577-5F61C11AE7A0}" type="slidenum">
              <a:rPr lang="zh-TW" altLang="en-US" smtClean="0"/>
              <a:t>‹#›</a:t>
            </a:fld>
            <a:endParaRPr lang="zh-TW" altLang="en-US"/>
          </a:p>
        </p:txBody>
      </p:sp>
    </p:spTree>
    <p:extLst>
      <p:ext uri="{BB962C8B-B14F-4D97-AF65-F5344CB8AC3E}">
        <p14:creationId xmlns:p14="http://schemas.microsoft.com/office/powerpoint/2010/main" val="385511530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全景圖片 (含輔助字幕)">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94" y="4289374"/>
            <a:ext cx="10364432" cy="811610"/>
          </a:xfrm>
        </p:spPr>
        <p:txBody>
          <a:bodyPr anchor="b"/>
          <a:lstStyle>
            <a:lvl1pPr>
              <a:defRPr sz="3200"/>
            </a:lvl1pPr>
          </a:lstStyle>
          <a:p>
            <a:r>
              <a:rPr lang="zh-TW" altLang="en-US"/>
              <a:t>按一下以編輯母片標題樣式</a:t>
            </a:r>
            <a:endParaRPr lang="en-US" dirty="0"/>
          </a:p>
        </p:txBody>
      </p:sp>
      <p:sp>
        <p:nvSpPr>
          <p:cNvPr id="3" name="Picture Placeholder 2"/>
          <p:cNvSpPr>
            <a:spLocks noGrp="1" noChangeAspect="1"/>
          </p:cNvSpPr>
          <p:nvPr>
            <p:ph type="pic" idx="1"/>
          </p:nvPr>
        </p:nvSpPr>
        <p:spPr>
          <a:xfrm>
            <a:off x="1184744" y="698261"/>
            <a:ext cx="9822532" cy="3214136"/>
          </a:xfrm>
          <a:prstGeom prst="roundRect">
            <a:avLst>
              <a:gd name="adj" fmla="val 4944"/>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TW" altLang="en-US"/>
              <a:t>按一下圖示以新增圖片</a:t>
            </a:r>
            <a:endParaRPr lang="en-US" dirty="0"/>
          </a:p>
        </p:txBody>
      </p:sp>
      <p:sp>
        <p:nvSpPr>
          <p:cNvPr id="4" name="Text Placeholder 3"/>
          <p:cNvSpPr>
            <a:spLocks noGrp="1"/>
          </p:cNvSpPr>
          <p:nvPr>
            <p:ph type="body" sz="half" idx="2"/>
          </p:nvPr>
        </p:nvSpPr>
        <p:spPr>
          <a:xfrm>
            <a:off x="913774" y="5108728"/>
            <a:ext cx="10364452" cy="682472"/>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按一下以編輯母片文字樣式</a:t>
            </a:r>
          </a:p>
        </p:txBody>
      </p:sp>
      <p:sp>
        <p:nvSpPr>
          <p:cNvPr id="5" name="Date Placeholder 4"/>
          <p:cNvSpPr>
            <a:spLocks noGrp="1"/>
          </p:cNvSpPr>
          <p:nvPr>
            <p:ph type="dt" sz="half" idx="10"/>
          </p:nvPr>
        </p:nvSpPr>
        <p:spPr/>
        <p:txBody>
          <a:bodyPr/>
          <a:lstStyle/>
          <a:p>
            <a:fld id="{92344E28-B27D-4C4A-BC31-163B8C692DE2}" type="datetimeFigureOut">
              <a:rPr lang="zh-TW" altLang="en-US" smtClean="0"/>
              <a:t>2024/12/23</a:t>
            </a:fld>
            <a:endParaRPr lang="zh-TW" altLang="en-US"/>
          </a:p>
        </p:txBody>
      </p:sp>
      <p:sp>
        <p:nvSpPr>
          <p:cNvPr id="6" name="Footer Placeholder 5"/>
          <p:cNvSpPr>
            <a:spLocks noGrp="1"/>
          </p:cNvSpPr>
          <p:nvPr>
            <p:ph type="ftr" sz="quarter" idx="11"/>
          </p:nvPr>
        </p:nvSpPr>
        <p:spPr/>
        <p:txBody>
          <a:bodyPr/>
          <a:lstStyle/>
          <a:p>
            <a:endParaRPr lang="zh-TW" altLang="en-US"/>
          </a:p>
        </p:txBody>
      </p:sp>
      <p:sp>
        <p:nvSpPr>
          <p:cNvPr id="7" name="Slide Number Placeholder 6"/>
          <p:cNvSpPr>
            <a:spLocks noGrp="1"/>
          </p:cNvSpPr>
          <p:nvPr>
            <p:ph type="sldNum" sz="quarter" idx="12"/>
          </p:nvPr>
        </p:nvSpPr>
        <p:spPr/>
        <p:txBody>
          <a:bodyPr/>
          <a:lstStyle/>
          <a:p>
            <a:fld id="{F00BF453-BF29-4DD9-9577-5F61C11AE7A0}" type="slidenum">
              <a:rPr lang="zh-TW" altLang="en-US" smtClean="0"/>
              <a:t>‹#›</a:t>
            </a:fld>
            <a:endParaRPr lang="zh-TW" altLang="en-US"/>
          </a:p>
        </p:txBody>
      </p:sp>
    </p:spTree>
    <p:extLst>
      <p:ext uri="{BB962C8B-B14F-4D97-AF65-F5344CB8AC3E}">
        <p14:creationId xmlns:p14="http://schemas.microsoft.com/office/powerpoint/2010/main" val="108343858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標題與輔助字幕">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609599"/>
            <a:ext cx="10364452" cy="3427245"/>
          </a:xfrm>
        </p:spPr>
        <p:txBody>
          <a:bodyPr anchor="ctr"/>
          <a:lstStyle>
            <a:lvl1pPr algn="ctr">
              <a:defRPr sz="3200"/>
            </a:lvl1pPr>
          </a:lstStyle>
          <a:p>
            <a:r>
              <a:rPr lang="zh-TW" altLang="en-US"/>
              <a:t>按一下以編輯母片標題樣式</a:t>
            </a:r>
            <a:endParaRPr lang="en-US" dirty="0"/>
          </a:p>
        </p:txBody>
      </p:sp>
      <p:sp>
        <p:nvSpPr>
          <p:cNvPr id="4" name="Text Placeholder 3"/>
          <p:cNvSpPr>
            <a:spLocks noGrp="1"/>
          </p:cNvSpPr>
          <p:nvPr>
            <p:ph type="body" sz="half" idx="2"/>
          </p:nvPr>
        </p:nvSpPr>
        <p:spPr>
          <a:xfrm>
            <a:off x="913775" y="4204821"/>
            <a:ext cx="10364452" cy="1586380"/>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按一下以編輯母片文字樣式</a:t>
            </a:r>
          </a:p>
        </p:txBody>
      </p:sp>
      <p:sp>
        <p:nvSpPr>
          <p:cNvPr id="5" name="Date Placeholder 4"/>
          <p:cNvSpPr>
            <a:spLocks noGrp="1"/>
          </p:cNvSpPr>
          <p:nvPr>
            <p:ph type="dt" sz="half" idx="10"/>
          </p:nvPr>
        </p:nvSpPr>
        <p:spPr/>
        <p:txBody>
          <a:bodyPr/>
          <a:lstStyle/>
          <a:p>
            <a:fld id="{92344E28-B27D-4C4A-BC31-163B8C692DE2}" type="datetimeFigureOut">
              <a:rPr lang="zh-TW" altLang="en-US" smtClean="0"/>
              <a:t>2024/12/23</a:t>
            </a:fld>
            <a:endParaRPr lang="zh-TW" altLang="en-US"/>
          </a:p>
        </p:txBody>
      </p:sp>
      <p:sp>
        <p:nvSpPr>
          <p:cNvPr id="6" name="Footer Placeholder 5"/>
          <p:cNvSpPr>
            <a:spLocks noGrp="1"/>
          </p:cNvSpPr>
          <p:nvPr>
            <p:ph type="ftr" sz="quarter" idx="11"/>
          </p:nvPr>
        </p:nvSpPr>
        <p:spPr/>
        <p:txBody>
          <a:bodyPr/>
          <a:lstStyle/>
          <a:p>
            <a:endParaRPr lang="zh-TW" altLang="en-US"/>
          </a:p>
        </p:txBody>
      </p:sp>
      <p:sp>
        <p:nvSpPr>
          <p:cNvPr id="7" name="Slide Number Placeholder 6"/>
          <p:cNvSpPr>
            <a:spLocks noGrp="1"/>
          </p:cNvSpPr>
          <p:nvPr>
            <p:ph type="sldNum" sz="quarter" idx="12"/>
          </p:nvPr>
        </p:nvSpPr>
        <p:spPr/>
        <p:txBody>
          <a:bodyPr/>
          <a:lstStyle/>
          <a:p>
            <a:fld id="{F00BF453-BF29-4DD9-9577-5F61C11AE7A0}" type="slidenum">
              <a:rPr lang="zh-TW" altLang="en-US" smtClean="0"/>
              <a:t>‹#›</a:t>
            </a:fld>
            <a:endParaRPr lang="zh-TW" altLang="en-US"/>
          </a:p>
        </p:txBody>
      </p:sp>
    </p:spTree>
    <p:extLst>
      <p:ext uri="{BB962C8B-B14F-4D97-AF65-F5344CB8AC3E}">
        <p14:creationId xmlns:p14="http://schemas.microsoft.com/office/powerpoint/2010/main" val="40537427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引述 (含輔助字幕)">
    <p:spTree>
      <p:nvGrpSpPr>
        <p:cNvPr id="1" name=""/>
        <p:cNvGrpSpPr/>
        <p:nvPr/>
      </p:nvGrpSpPr>
      <p:grpSpPr>
        <a:xfrm>
          <a:off x="0" y="0"/>
          <a:ext cx="0" cy="0"/>
          <a:chOff x="0" y="0"/>
          <a:chExt cx="0" cy="0"/>
        </a:xfrm>
      </p:grpSpPr>
      <p:pic>
        <p:nvPicPr>
          <p:cNvPr id="11" name="Picture 10"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1446212" y="609600"/>
            <a:ext cx="9302752" cy="2992904"/>
          </a:xfrm>
        </p:spPr>
        <p:txBody>
          <a:bodyPr anchor="ctr"/>
          <a:lstStyle>
            <a:lvl1pPr>
              <a:defRPr sz="3200"/>
            </a:lvl1pPr>
          </a:lstStyle>
          <a:p>
            <a:r>
              <a:rPr lang="zh-TW" altLang="en-US"/>
              <a:t>按一下以編輯母片標題樣式</a:t>
            </a:r>
            <a:endParaRPr lang="en-US" dirty="0"/>
          </a:p>
        </p:txBody>
      </p:sp>
      <p:sp>
        <p:nvSpPr>
          <p:cNvPr id="12" name="Text Placeholder 3"/>
          <p:cNvSpPr>
            <a:spLocks noGrp="1"/>
          </p:cNvSpPr>
          <p:nvPr>
            <p:ph type="body" sz="half" idx="13"/>
          </p:nvPr>
        </p:nvSpPr>
        <p:spPr>
          <a:xfrm>
            <a:off x="1720644" y="3610032"/>
            <a:ext cx="8752299" cy="59478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按一下以編輯母片文字樣式</a:t>
            </a:r>
          </a:p>
        </p:txBody>
      </p:sp>
      <p:sp>
        <p:nvSpPr>
          <p:cNvPr id="4" name="Text Placeholder 3"/>
          <p:cNvSpPr>
            <a:spLocks noGrp="1"/>
          </p:cNvSpPr>
          <p:nvPr>
            <p:ph type="body" sz="half" idx="2"/>
          </p:nvPr>
        </p:nvSpPr>
        <p:spPr>
          <a:xfrm>
            <a:off x="913774" y="4372796"/>
            <a:ext cx="10364452" cy="1421053"/>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按一下以編輯母片文字樣式</a:t>
            </a:r>
          </a:p>
        </p:txBody>
      </p:sp>
      <p:sp>
        <p:nvSpPr>
          <p:cNvPr id="5" name="Date Placeholder 4"/>
          <p:cNvSpPr>
            <a:spLocks noGrp="1"/>
          </p:cNvSpPr>
          <p:nvPr>
            <p:ph type="dt" sz="half" idx="10"/>
          </p:nvPr>
        </p:nvSpPr>
        <p:spPr/>
        <p:txBody>
          <a:bodyPr/>
          <a:lstStyle/>
          <a:p>
            <a:fld id="{92344E28-B27D-4C4A-BC31-163B8C692DE2}" type="datetimeFigureOut">
              <a:rPr lang="zh-TW" altLang="en-US" smtClean="0"/>
              <a:t>2024/12/23</a:t>
            </a:fld>
            <a:endParaRPr lang="zh-TW" altLang="en-US"/>
          </a:p>
        </p:txBody>
      </p:sp>
      <p:sp>
        <p:nvSpPr>
          <p:cNvPr id="6" name="Footer Placeholder 5"/>
          <p:cNvSpPr>
            <a:spLocks noGrp="1"/>
          </p:cNvSpPr>
          <p:nvPr>
            <p:ph type="ftr" sz="quarter" idx="11"/>
          </p:nvPr>
        </p:nvSpPr>
        <p:spPr/>
        <p:txBody>
          <a:bodyPr/>
          <a:lstStyle/>
          <a:p>
            <a:endParaRPr lang="zh-TW" altLang="en-US"/>
          </a:p>
        </p:txBody>
      </p:sp>
      <p:sp>
        <p:nvSpPr>
          <p:cNvPr id="7" name="Slide Number Placeholder 6"/>
          <p:cNvSpPr>
            <a:spLocks noGrp="1"/>
          </p:cNvSpPr>
          <p:nvPr>
            <p:ph type="sldNum" sz="quarter" idx="12"/>
          </p:nvPr>
        </p:nvSpPr>
        <p:spPr/>
        <p:txBody>
          <a:bodyPr/>
          <a:lstStyle/>
          <a:p>
            <a:fld id="{F00BF453-BF29-4DD9-9577-5F61C11AE7A0}" type="slidenum">
              <a:rPr lang="zh-TW" altLang="en-US" smtClean="0"/>
              <a:t>‹#›</a:t>
            </a:fld>
            <a:endParaRPr lang="zh-TW" altLang="en-US"/>
          </a:p>
        </p:txBody>
      </p:sp>
      <p:sp>
        <p:nvSpPr>
          <p:cNvPr id="13" name="TextBox 12"/>
          <p:cNvSpPr txBox="1"/>
          <p:nvPr/>
        </p:nvSpPr>
        <p:spPr>
          <a:xfrm>
            <a:off x="1001488" y="75416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4" name="TextBox 13"/>
          <p:cNvSpPr txBox="1"/>
          <p:nvPr/>
        </p:nvSpPr>
        <p:spPr>
          <a:xfrm>
            <a:off x="10557558" y="2993578"/>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221152983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名片">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5" y="2138721"/>
            <a:ext cx="10364452" cy="2511835"/>
          </a:xfrm>
        </p:spPr>
        <p:txBody>
          <a:bodyPr anchor="b"/>
          <a:lstStyle>
            <a:lvl1pPr algn="ctr">
              <a:defRPr sz="3200"/>
            </a:lvl1pPr>
          </a:lstStyle>
          <a:p>
            <a:r>
              <a:rPr lang="zh-TW" altLang="en-US"/>
              <a:t>按一下以編輯母片標題樣式</a:t>
            </a:r>
            <a:endParaRPr lang="en-US" dirty="0"/>
          </a:p>
        </p:txBody>
      </p:sp>
      <p:sp>
        <p:nvSpPr>
          <p:cNvPr id="4" name="Text Placeholder 3"/>
          <p:cNvSpPr>
            <a:spLocks noGrp="1"/>
          </p:cNvSpPr>
          <p:nvPr>
            <p:ph type="body" sz="half" idx="2"/>
          </p:nvPr>
        </p:nvSpPr>
        <p:spPr>
          <a:xfrm>
            <a:off x="913775" y="4662335"/>
            <a:ext cx="10364452"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按一下以編輯母片文字樣式</a:t>
            </a:r>
          </a:p>
        </p:txBody>
      </p:sp>
      <p:sp>
        <p:nvSpPr>
          <p:cNvPr id="5" name="Date Placeholder 4"/>
          <p:cNvSpPr>
            <a:spLocks noGrp="1"/>
          </p:cNvSpPr>
          <p:nvPr>
            <p:ph type="dt" sz="half" idx="10"/>
          </p:nvPr>
        </p:nvSpPr>
        <p:spPr/>
        <p:txBody>
          <a:bodyPr/>
          <a:lstStyle/>
          <a:p>
            <a:fld id="{92344E28-B27D-4C4A-BC31-163B8C692DE2}" type="datetimeFigureOut">
              <a:rPr lang="zh-TW" altLang="en-US" smtClean="0"/>
              <a:t>2024/12/23</a:t>
            </a:fld>
            <a:endParaRPr lang="zh-TW" altLang="en-US"/>
          </a:p>
        </p:txBody>
      </p:sp>
      <p:sp>
        <p:nvSpPr>
          <p:cNvPr id="6" name="Footer Placeholder 5"/>
          <p:cNvSpPr>
            <a:spLocks noGrp="1"/>
          </p:cNvSpPr>
          <p:nvPr>
            <p:ph type="ftr" sz="quarter" idx="11"/>
          </p:nvPr>
        </p:nvSpPr>
        <p:spPr/>
        <p:txBody>
          <a:bodyPr/>
          <a:lstStyle/>
          <a:p>
            <a:endParaRPr lang="zh-TW" altLang="en-US"/>
          </a:p>
        </p:txBody>
      </p:sp>
      <p:sp>
        <p:nvSpPr>
          <p:cNvPr id="7" name="Slide Number Placeholder 6"/>
          <p:cNvSpPr>
            <a:spLocks noGrp="1"/>
          </p:cNvSpPr>
          <p:nvPr>
            <p:ph type="sldNum" sz="quarter" idx="12"/>
          </p:nvPr>
        </p:nvSpPr>
        <p:spPr/>
        <p:txBody>
          <a:bodyPr/>
          <a:lstStyle/>
          <a:p>
            <a:fld id="{F00BF453-BF29-4DD9-9577-5F61C11AE7A0}" type="slidenum">
              <a:rPr lang="zh-TW" altLang="en-US" smtClean="0"/>
              <a:t>‹#›</a:t>
            </a:fld>
            <a:endParaRPr lang="zh-TW" altLang="en-US"/>
          </a:p>
        </p:txBody>
      </p:sp>
    </p:spTree>
    <p:extLst>
      <p:ext uri="{BB962C8B-B14F-4D97-AF65-F5344CB8AC3E}">
        <p14:creationId xmlns:p14="http://schemas.microsoft.com/office/powerpoint/2010/main" val="47318478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欄">
    <p:spTree>
      <p:nvGrpSpPr>
        <p:cNvPr id="1" name=""/>
        <p:cNvGrpSpPr/>
        <p:nvPr/>
      </p:nvGrpSpPr>
      <p:grpSpPr>
        <a:xfrm>
          <a:off x="0" y="0"/>
          <a:ext cx="0" cy="0"/>
          <a:chOff x="0" y="0"/>
          <a:chExt cx="0" cy="0"/>
        </a:xfrm>
      </p:grpSpPr>
      <p:pic>
        <p:nvPicPr>
          <p:cNvPr id="13" name="Picture 12"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5" name="Title 1"/>
          <p:cNvSpPr>
            <a:spLocks noGrp="1"/>
          </p:cNvSpPr>
          <p:nvPr>
            <p:ph type="title"/>
          </p:nvPr>
        </p:nvSpPr>
        <p:spPr>
          <a:xfrm>
            <a:off x="913774" y="609600"/>
            <a:ext cx="10364452" cy="1605094"/>
          </a:xfrm>
        </p:spPr>
        <p:txBody>
          <a:bodyPr/>
          <a:lstStyle/>
          <a:p>
            <a:r>
              <a:rPr lang="zh-TW" altLang="en-US"/>
              <a:t>按一下以編輯母片標題樣式</a:t>
            </a:r>
            <a:endParaRPr lang="en-US" dirty="0"/>
          </a:p>
        </p:txBody>
      </p:sp>
      <p:sp>
        <p:nvSpPr>
          <p:cNvPr id="7" name="Text Placeholder 2"/>
          <p:cNvSpPr>
            <a:spLocks noGrp="1"/>
          </p:cNvSpPr>
          <p:nvPr>
            <p:ph type="body" idx="1"/>
          </p:nvPr>
        </p:nvSpPr>
        <p:spPr>
          <a:xfrm>
            <a:off x="913774" y="2367093"/>
            <a:ext cx="3298976"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8" name="Text Placeholder 3"/>
          <p:cNvSpPr>
            <a:spLocks noGrp="1"/>
          </p:cNvSpPr>
          <p:nvPr>
            <p:ph type="body" sz="half" idx="15"/>
          </p:nvPr>
        </p:nvSpPr>
        <p:spPr>
          <a:xfrm>
            <a:off x="913774" y="2943355"/>
            <a:ext cx="3298976"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a:t>按一下以編輯母片文字樣式</a:t>
            </a:r>
          </a:p>
        </p:txBody>
      </p:sp>
      <p:sp>
        <p:nvSpPr>
          <p:cNvPr id="9" name="Text Placeholder 4"/>
          <p:cNvSpPr>
            <a:spLocks noGrp="1"/>
          </p:cNvSpPr>
          <p:nvPr>
            <p:ph type="body" sz="quarter" idx="3"/>
          </p:nvPr>
        </p:nvSpPr>
        <p:spPr>
          <a:xfrm>
            <a:off x="4452389" y="2367093"/>
            <a:ext cx="3291521"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10" name="Text Placeholder 3"/>
          <p:cNvSpPr>
            <a:spLocks noGrp="1"/>
          </p:cNvSpPr>
          <p:nvPr>
            <p:ph type="body" sz="half" idx="16"/>
          </p:nvPr>
        </p:nvSpPr>
        <p:spPr>
          <a:xfrm>
            <a:off x="4441348" y="2943355"/>
            <a:ext cx="3303351"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a:t>按一下以編輯母片文字樣式</a:t>
            </a:r>
          </a:p>
        </p:txBody>
      </p:sp>
      <p:sp>
        <p:nvSpPr>
          <p:cNvPr id="11" name="Text Placeholder 4"/>
          <p:cNvSpPr>
            <a:spLocks noGrp="1"/>
          </p:cNvSpPr>
          <p:nvPr>
            <p:ph type="body" sz="quarter" idx="13"/>
          </p:nvPr>
        </p:nvSpPr>
        <p:spPr>
          <a:xfrm>
            <a:off x="7973298" y="2367093"/>
            <a:ext cx="3304928"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12" name="Text Placeholder 3"/>
          <p:cNvSpPr>
            <a:spLocks noGrp="1"/>
          </p:cNvSpPr>
          <p:nvPr>
            <p:ph type="body" sz="half" idx="17"/>
          </p:nvPr>
        </p:nvSpPr>
        <p:spPr>
          <a:xfrm>
            <a:off x="7973298" y="2943355"/>
            <a:ext cx="3304928"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a:t>按一下以編輯母片文字樣式</a:t>
            </a:r>
          </a:p>
        </p:txBody>
      </p:sp>
      <p:sp>
        <p:nvSpPr>
          <p:cNvPr id="3" name="Date Placeholder 2"/>
          <p:cNvSpPr>
            <a:spLocks noGrp="1"/>
          </p:cNvSpPr>
          <p:nvPr>
            <p:ph type="dt" sz="half" idx="10"/>
          </p:nvPr>
        </p:nvSpPr>
        <p:spPr/>
        <p:txBody>
          <a:bodyPr/>
          <a:lstStyle/>
          <a:p>
            <a:fld id="{92344E28-B27D-4C4A-BC31-163B8C692DE2}" type="datetimeFigureOut">
              <a:rPr lang="zh-TW" altLang="en-US" smtClean="0"/>
              <a:t>2024/12/23</a:t>
            </a:fld>
            <a:endParaRPr lang="zh-TW" altLang="en-US"/>
          </a:p>
        </p:txBody>
      </p:sp>
      <p:sp>
        <p:nvSpPr>
          <p:cNvPr id="4" name="Footer Placeholder 3"/>
          <p:cNvSpPr>
            <a:spLocks noGrp="1"/>
          </p:cNvSpPr>
          <p:nvPr>
            <p:ph type="ftr" sz="quarter" idx="11"/>
          </p:nvPr>
        </p:nvSpPr>
        <p:spPr/>
        <p:txBody>
          <a:bodyPr/>
          <a:lstStyle/>
          <a:p>
            <a:endParaRPr lang="zh-TW" altLang="en-US"/>
          </a:p>
        </p:txBody>
      </p:sp>
      <p:sp>
        <p:nvSpPr>
          <p:cNvPr id="5" name="Slide Number Placeholder 4"/>
          <p:cNvSpPr>
            <a:spLocks noGrp="1"/>
          </p:cNvSpPr>
          <p:nvPr>
            <p:ph type="sldNum" sz="quarter" idx="12"/>
          </p:nvPr>
        </p:nvSpPr>
        <p:spPr/>
        <p:txBody>
          <a:bodyPr/>
          <a:lstStyle/>
          <a:p>
            <a:fld id="{F00BF453-BF29-4DD9-9577-5F61C11AE7A0}" type="slidenum">
              <a:rPr lang="zh-TW" altLang="en-US" smtClean="0"/>
              <a:t>‹#›</a:t>
            </a:fld>
            <a:endParaRPr lang="zh-TW" altLang="en-US"/>
          </a:p>
        </p:txBody>
      </p:sp>
    </p:spTree>
    <p:extLst>
      <p:ext uri="{BB962C8B-B14F-4D97-AF65-F5344CB8AC3E}">
        <p14:creationId xmlns:p14="http://schemas.microsoft.com/office/powerpoint/2010/main" val="65435120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圖片欄">
    <p:spTree>
      <p:nvGrpSpPr>
        <p:cNvPr id="1" name=""/>
        <p:cNvGrpSpPr/>
        <p:nvPr/>
      </p:nvGrpSpPr>
      <p:grpSpPr>
        <a:xfrm>
          <a:off x="0" y="0"/>
          <a:ext cx="0" cy="0"/>
          <a:chOff x="0" y="0"/>
          <a:chExt cx="0" cy="0"/>
        </a:xfrm>
      </p:grpSpPr>
      <p:pic>
        <p:nvPicPr>
          <p:cNvPr id="16" name="Picture 15"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0" name="Title 1"/>
          <p:cNvSpPr>
            <a:spLocks noGrp="1"/>
          </p:cNvSpPr>
          <p:nvPr>
            <p:ph type="title"/>
          </p:nvPr>
        </p:nvSpPr>
        <p:spPr>
          <a:xfrm>
            <a:off x="913774" y="610772"/>
            <a:ext cx="10364452" cy="1603922"/>
          </a:xfrm>
        </p:spPr>
        <p:txBody>
          <a:bodyPr/>
          <a:lstStyle/>
          <a:p>
            <a:r>
              <a:rPr lang="zh-TW" altLang="en-US"/>
              <a:t>按一下以編輯母片標題樣式</a:t>
            </a:r>
            <a:endParaRPr lang="en-US" dirty="0"/>
          </a:p>
        </p:txBody>
      </p:sp>
      <p:sp>
        <p:nvSpPr>
          <p:cNvPr id="19" name="Text Placeholder 2"/>
          <p:cNvSpPr>
            <a:spLocks noGrp="1"/>
          </p:cNvSpPr>
          <p:nvPr>
            <p:ph type="body" idx="1"/>
          </p:nvPr>
        </p:nvSpPr>
        <p:spPr>
          <a:xfrm>
            <a:off x="913774" y="4204820"/>
            <a:ext cx="3296409"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20" name="Picture Placeholder 2"/>
          <p:cNvSpPr>
            <a:spLocks noGrp="1" noChangeAspect="1"/>
          </p:cNvSpPr>
          <p:nvPr>
            <p:ph type="pic" idx="15"/>
          </p:nvPr>
        </p:nvSpPr>
        <p:spPr>
          <a:xfrm>
            <a:off x="913774" y="2367093"/>
            <a:ext cx="3296409" cy="1524000"/>
          </a:xfrm>
          <a:prstGeom prst="roundRect">
            <a:avLst>
              <a:gd name="adj" fmla="val 9363"/>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zh-TW" altLang="en-US"/>
              <a:t>按一下圖示以新增圖片</a:t>
            </a:r>
            <a:endParaRPr lang="en-US" dirty="0"/>
          </a:p>
        </p:txBody>
      </p:sp>
      <p:sp>
        <p:nvSpPr>
          <p:cNvPr id="21" name="Text Placeholder 3"/>
          <p:cNvSpPr>
            <a:spLocks noGrp="1"/>
          </p:cNvSpPr>
          <p:nvPr>
            <p:ph type="body" sz="half" idx="18"/>
          </p:nvPr>
        </p:nvSpPr>
        <p:spPr>
          <a:xfrm>
            <a:off x="913774" y="4781082"/>
            <a:ext cx="3296409" cy="101011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a:t>按一下以編輯母片文字樣式</a:t>
            </a:r>
          </a:p>
        </p:txBody>
      </p:sp>
      <p:sp>
        <p:nvSpPr>
          <p:cNvPr id="22" name="Text Placeholder 4"/>
          <p:cNvSpPr>
            <a:spLocks noGrp="1"/>
          </p:cNvSpPr>
          <p:nvPr>
            <p:ph type="body" sz="quarter" idx="3"/>
          </p:nvPr>
        </p:nvSpPr>
        <p:spPr>
          <a:xfrm>
            <a:off x="4442759" y="4204820"/>
            <a:ext cx="3301828"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23" name="Picture Placeholder 2"/>
          <p:cNvSpPr>
            <a:spLocks noGrp="1" noChangeAspect="1"/>
          </p:cNvSpPr>
          <p:nvPr>
            <p:ph type="pic" idx="21"/>
          </p:nvPr>
        </p:nvSpPr>
        <p:spPr>
          <a:xfrm>
            <a:off x="4441348" y="2367093"/>
            <a:ext cx="3303352" cy="1524000"/>
          </a:xfrm>
          <a:prstGeom prst="roundRect">
            <a:avLst>
              <a:gd name="adj" fmla="val 8841"/>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zh-TW" altLang="en-US"/>
              <a:t>按一下圖示以新增圖片</a:t>
            </a:r>
            <a:endParaRPr lang="en-US" dirty="0"/>
          </a:p>
        </p:txBody>
      </p:sp>
      <p:sp>
        <p:nvSpPr>
          <p:cNvPr id="24" name="Text Placeholder 3"/>
          <p:cNvSpPr>
            <a:spLocks noGrp="1"/>
          </p:cNvSpPr>
          <p:nvPr>
            <p:ph type="body" sz="half" idx="19"/>
          </p:nvPr>
        </p:nvSpPr>
        <p:spPr>
          <a:xfrm>
            <a:off x="4441348" y="4781080"/>
            <a:ext cx="3303352" cy="1010119"/>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a:t>按一下以編輯母片文字樣式</a:t>
            </a:r>
          </a:p>
        </p:txBody>
      </p:sp>
      <p:sp>
        <p:nvSpPr>
          <p:cNvPr id="25" name="Text Placeholder 4"/>
          <p:cNvSpPr>
            <a:spLocks noGrp="1"/>
          </p:cNvSpPr>
          <p:nvPr>
            <p:ph type="body" sz="quarter" idx="13"/>
          </p:nvPr>
        </p:nvSpPr>
        <p:spPr>
          <a:xfrm>
            <a:off x="7973298" y="4204820"/>
            <a:ext cx="3300681"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26" name="Picture Placeholder 2"/>
          <p:cNvSpPr>
            <a:spLocks noGrp="1" noChangeAspect="1"/>
          </p:cNvSpPr>
          <p:nvPr>
            <p:ph type="pic" idx="22"/>
          </p:nvPr>
        </p:nvSpPr>
        <p:spPr>
          <a:xfrm>
            <a:off x="7973298" y="2367093"/>
            <a:ext cx="3304928" cy="1524000"/>
          </a:xfrm>
          <a:prstGeom prst="roundRect">
            <a:avLst>
              <a:gd name="adj" fmla="val 8841"/>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zh-TW" altLang="en-US"/>
              <a:t>按一下圖示以新增圖片</a:t>
            </a:r>
            <a:endParaRPr lang="en-US" dirty="0"/>
          </a:p>
        </p:txBody>
      </p:sp>
      <p:sp>
        <p:nvSpPr>
          <p:cNvPr id="27" name="Text Placeholder 3"/>
          <p:cNvSpPr>
            <a:spLocks noGrp="1"/>
          </p:cNvSpPr>
          <p:nvPr>
            <p:ph type="body" sz="half" idx="20"/>
          </p:nvPr>
        </p:nvSpPr>
        <p:spPr>
          <a:xfrm>
            <a:off x="7973173" y="4781078"/>
            <a:ext cx="3305053" cy="1010121"/>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a:t>按一下以編輯母片文字樣式</a:t>
            </a:r>
          </a:p>
        </p:txBody>
      </p:sp>
      <p:sp>
        <p:nvSpPr>
          <p:cNvPr id="3" name="Date Placeholder 2"/>
          <p:cNvSpPr>
            <a:spLocks noGrp="1"/>
          </p:cNvSpPr>
          <p:nvPr>
            <p:ph type="dt" sz="half" idx="10"/>
          </p:nvPr>
        </p:nvSpPr>
        <p:spPr/>
        <p:txBody>
          <a:bodyPr/>
          <a:lstStyle/>
          <a:p>
            <a:fld id="{92344E28-B27D-4C4A-BC31-163B8C692DE2}" type="datetimeFigureOut">
              <a:rPr lang="zh-TW" altLang="en-US" smtClean="0"/>
              <a:t>2024/12/23</a:t>
            </a:fld>
            <a:endParaRPr lang="zh-TW" altLang="en-US"/>
          </a:p>
        </p:txBody>
      </p:sp>
      <p:sp>
        <p:nvSpPr>
          <p:cNvPr id="4" name="Footer Placeholder 3"/>
          <p:cNvSpPr>
            <a:spLocks noGrp="1"/>
          </p:cNvSpPr>
          <p:nvPr>
            <p:ph type="ftr" sz="quarter" idx="11"/>
          </p:nvPr>
        </p:nvSpPr>
        <p:spPr/>
        <p:txBody>
          <a:bodyPr/>
          <a:lstStyle/>
          <a:p>
            <a:endParaRPr lang="zh-TW" altLang="en-US"/>
          </a:p>
        </p:txBody>
      </p:sp>
      <p:sp>
        <p:nvSpPr>
          <p:cNvPr id="5" name="Slide Number Placeholder 4"/>
          <p:cNvSpPr>
            <a:spLocks noGrp="1"/>
          </p:cNvSpPr>
          <p:nvPr>
            <p:ph type="sldNum" sz="quarter" idx="12"/>
          </p:nvPr>
        </p:nvSpPr>
        <p:spPr/>
        <p:txBody>
          <a:bodyPr/>
          <a:lstStyle/>
          <a:p>
            <a:fld id="{F00BF453-BF29-4DD9-9577-5F61C11AE7A0}" type="slidenum">
              <a:rPr lang="zh-TW" altLang="en-US" smtClean="0"/>
              <a:t>‹#›</a:t>
            </a:fld>
            <a:endParaRPr lang="zh-TW" altLang="en-US"/>
          </a:p>
        </p:txBody>
      </p:sp>
    </p:spTree>
    <p:extLst>
      <p:ext uri="{BB962C8B-B14F-4D97-AF65-F5344CB8AC3E}">
        <p14:creationId xmlns:p14="http://schemas.microsoft.com/office/powerpoint/2010/main" val="232534201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zh-TW" altLang="en-US"/>
              <a:t>按一下以編輯母片標題樣式</a:t>
            </a:r>
            <a:endParaRPr lang="en-US" dirty="0"/>
          </a:p>
        </p:txBody>
      </p:sp>
      <p:sp>
        <p:nvSpPr>
          <p:cNvPr id="11" name="Vertical Text Placeholder 2"/>
          <p:cNvSpPr>
            <a:spLocks noGrp="1"/>
          </p:cNvSpPr>
          <p:nvPr>
            <p:ph type="body" orient="vert" sz="quarter" idx="13"/>
          </p:nvPr>
        </p:nvSpPr>
        <p:spPr>
          <a:xfrm>
            <a:off x="913775" y="2367093"/>
            <a:ext cx="10364452" cy="3424107"/>
          </a:xfrm>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10"/>
          </p:nvPr>
        </p:nvSpPr>
        <p:spPr/>
        <p:txBody>
          <a:bodyPr/>
          <a:lstStyle/>
          <a:p>
            <a:fld id="{92344E28-B27D-4C4A-BC31-163B8C692DE2}" type="datetimeFigureOut">
              <a:rPr lang="zh-TW" altLang="en-US" smtClean="0"/>
              <a:t>2024/12/23</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F00BF453-BF29-4DD9-9577-5F61C11AE7A0}" type="slidenum">
              <a:rPr lang="zh-TW" altLang="en-US" smtClean="0"/>
              <a:t>‹#›</a:t>
            </a:fld>
            <a:endParaRPr lang="zh-TW" altLang="en-US"/>
          </a:p>
        </p:txBody>
      </p:sp>
    </p:spTree>
    <p:extLst>
      <p:ext uri="{BB962C8B-B14F-4D97-AF65-F5344CB8AC3E}">
        <p14:creationId xmlns:p14="http://schemas.microsoft.com/office/powerpoint/2010/main" val="260080716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pic>
        <p:nvPicPr>
          <p:cNvPr id="9" name="Picture 8"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Vertical Title 1"/>
          <p:cNvSpPr>
            <a:spLocks noGrp="1"/>
          </p:cNvSpPr>
          <p:nvPr>
            <p:ph type="title" orient="vert"/>
          </p:nvPr>
        </p:nvSpPr>
        <p:spPr>
          <a:xfrm>
            <a:off x="8724900" y="609601"/>
            <a:ext cx="2553326" cy="5181599"/>
          </a:xfrm>
        </p:spPr>
        <p:txBody>
          <a:bodyPr vert="eaVert"/>
          <a:lstStyle>
            <a:lvl1pPr algn="l">
              <a:defRPr/>
            </a:lvl1pPr>
          </a:lstStyle>
          <a:p>
            <a:r>
              <a:rPr lang="zh-TW" altLang="en-US"/>
              <a:t>按一下以編輯母片標題樣式</a:t>
            </a:r>
            <a:endParaRPr lang="en-US" dirty="0"/>
          </a:p>
        </p:txBody>
      </p:sp>
      <p:sp>
        <p:nvSpPr>
          <p:cNvPr id="8" name="Vertical Text Placeholder 2"/>
          <p:cNvSpPr>
            <a:spLocks noGrp="1"/>
          </p:cNvSpPr>
          <p:nvPr>
            <p:ph type="body" orient="vert" sz="quarter" idx="13"/>
          </p:nvPr>
        </p:nvSpPr>
        <p:spPr>
          <a:xfrm>
            <a:off x="913775" y="609601"/>
            <a:ext cx="7658724" cy="5181599"/>
          </a:xfrm>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10"/>
          </p:nvPr>
        </p:nvSpPr>
        <p:spPr/>
        <p:txBody>
          <a:bodyPr/>
          <a:lstStyle/>
          <a:p>
            <a:fld id="{92344E28-B27D-4C4A-BC31-163B8C692DE2}" type="datetimeFigureOut">
              <a:rPr lang="zh-TW" altLang="en-US" smtClean="0"/>
              <a:t>2024/12/23</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F00BF453-BF29-4DD9-9577-5F61C11AE7A0}" type="slidenum">
              <a:rPr lang="zh-TW" altLang="en-US" smtClean="0"/>
              <a:t>‹#›</a:t>
            </a:fld>
            <a:endParaRPr lang="zh-TW" altLang="en-US"/>
          </a:p>
        </p:txBody>
      </p:sp>
    </p:spTree>
    <p:extLst>
      <p:ext uri="{BB962C8B-B14F-4D97-AF65-F5344CB8AC3E}">
        <p14:creationId xmlns:p14="http://schemas.microsoft.com/office/powerpoint/2010/main" val="10205718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pic>
        <p:nvPicPr>
          <p:cNvPr id="1026" name="Picture 2" descr="\\DROBO-FS\QuickDrops\JB\PPTX NG\Droplets\LightingOverlay.png"/>
          <p:cNvPicPr>
            <a:picLocks noChangeAspect="1" noChangeArrowheads="1"/>
          </p:cNvPicPr>
          <p:nvPr/>
        </p:nvPicPr>
        <p:blipFill>
          <a:blip r:embed="rId19">
            <a:alphaModFix/>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a:solidFill>
                  <a:srgbClr val="FFFFFF"/>
                </a:solidFill>
              </a14:hiddenFill>
            </a:ext>
          </a:extLst>
        </p:spPr>
      </p:pic>
      <p:sp>
        <p:nvSpPr>
          <p:cNvPr id="2" name="Title Placeholder 1"/>
          <p:cNvSpPr>
            <a:spLocks noGrp="1"/>
          </p:cNvSpPr>
          <p:nvPr>
            <p:ph type="title"/>
          </p:nvPr>
        </p:nvSpPr>
        <p:spPr>
          <a:xfrm>
            <a:off x="913775" y="618517"/>
            <a:ext cx="10364451" cy="1596177"/>
          </a:xfrm>
          <a:prstGeom prst="rect">
            <a:avLst/>
          </a:prstGeom>
        </p:spPr>
        <p:txBody>
          <a:bodyPr vert="horz" lIns="91440" tIns="45720" rIns="91440" bIns="45720" rtlCol="0" anchor="ctr">
            <a:normAutofit/>
          </a:bodyPr>
          <a:lstStyle/>
          <a:p>
            <a:r>
              <a:rPr lang="zh-TW" altLang="en-US"/>
              <a:t>按一下以編輯母片標題樣式</a:t>
            </a:r>
            <a:endParaRPr lang="en-US" dirty="0"/>
          </a:p>
        </p:txBody>
      </p:sp>
      <p:sp>
        <p:nvSpPr>
          <p:cNvPr id="3" name="Text Placeholder 2"/>
          <p:cNvSpPr>
            <a:spLocks noGrp="1"/>
          </p:cNvSpPr>
          <p:nvPr>
            <p:ph type="body" idx="1"/>
          </p:nvPr>
        </p:nvSpPr>
        <p:spPr>
          <a:xfrm>
            <a:off x="913775" y="2367093"/>
            <a:ext cx="10364452" cy="3424107"/>
          </a:xfrm>
          <a:prstGeom prst="rect">
            <a:avLst/>
          </a:prstGeom>
        </p:spPr>
        <p:txBody>
          <a:bodyPr vert="horz" lIns="91440" tIns="45720" rIns="91440" bIns="45720" rtlCol="0">
            <a:normAutofit/>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2"/>
          </p:nvPr>
        </p:nvSpPr>
        <p:spPr>
          <a:xfrm>
            <a:off x="7678737" y="5883275"/>
            <a:ext cx="2743200" cy="365125"/>
          </a:xfrm>
          <a:prstGeom prst="rect">
            <a:avLst/>
          </a:prstGeom>
        </p:spPr>
        <p:txBody>
          <a:bodyPr vert="horz" lIns="91440" tIns="45720" rIns="91440" bIns="45720" rtlCol="0" anchor="ctr"/>
          <a:lstStyle>
            <a:lvl1pPr algn="r">
              <a:defRPr sz="1000">
                <a:solidFill>
                  <a:schemeClr val="tx1"/>
                </a:solidFill>
              </a:defRPr>
            </a:lvl1pPr>
          </a:lstStyle>
          <a:p>
            <a:fld id="{92344E28-B27D-4C4A-BC31-163B8C692DE2}" type="datetimeFigureOut">
              <a:rPr lang="zh-TW" altLang="en-US" smtClean="0"/>
              <a:t>2024/12/23</a:t>
            </a:fld>
            <a:endParaRPr lang="zh-TW" altLang="en-US"/>
          </a:p>
        </p:txBody>
      </p:sp>
      <p:sp>
        <p:nvSpPr>
          <p:cNvPr id="5" name="Footer Placeholder 4"/>
          <p:cNvSpPr>
            <a:spLocks noGrp="1"/>
          </p:cNvSpPr>
          <p:nvPr>
            <p:ph type="ftr" sz="quarter" idx="3"/>
          </p:nvPr>
        </p:nvSpPr>
        <p:spPr>
          <a:xfrm>
            <a:off x="913774" y="5883275"/>
            <a:ext cx="6672887" cy="365125"/>
          </a:xfrm>
          <a:prstGeom prst="rect">
            <a:avLst/>
          </a:prstGeom>
        </p:spPr>
        <p:txBody>
          <a:bodyPr vert="horz" lIns="91440" tIns="45720" rIns="91440" bIns="45720" rtlCol="0" anchor="ctr"/>
          <a:lstStyle>
            <a:lvl1pPr algn="l">
              <a:defRPr sz="1000">
                <a:solidFill>
                  <a:schemeClr val="tx1"/>
                </a:solidFill>
              </a:defRPr>
            </a:lvl1pPr>
          </a:lstStyle>
          <a:p>
            <a:endParaRPr lang="zh-TW" altLang="en-US"/>
          </a:p>
        </p:txBody>
      </p:sp>
      <p:sp>
        <p:nvSpPr>
          <p:cNvPr id="6" name="Slide Number Placeholder 5"/>
          <p:cNvSpPr>
            <a:spLocks noGrp="1"/>
          </p:cNvSpPr>
          <p:nvPr>
            <p:ph type="sldNum" sz="quarter" idx="4"/>
          </p:nvPr>
        </p:nvSpPr>
        <p:spPr>
          <a:xfrm>
            <a:off x="10514011" y="5883275"/>
            <a:ext cx="764215" cy="365125"/>
          </a:xfrm>
          <a:prstGeom prst="rect">
            <a:avLst/>
          </a:prstGeom>
        </p:spPr>
        <p:txBody>
          <a:bodyPr vert="horz" lIns="91440" tIns="45720" rIns="91440" bIns="45720" rtlCol="0" anchor="ctr"/>
          <a:lstStyle>
            <a:lvl1pPr algn="r">
              <a:defRPr sz="1000">
                <a:solidFill>
                  <a:schemeClr val="tx1"/>
                </a:solidFill>
              </a:defRPr>
            </a:lvl1pPr>
          </a:lstStyle>
          <a:p>
            <a:fld id="{F00BF453-BF29-4DD9-9577-5F61C11AE7A0}" type="slidenum">
              <a:rPr lang="zh-TW" altLang="en-US" smtClean="0"/>
              <a:t>‹#›</a:t>
            </a:fld>
            <a:endParaRPr lang="zh-TW" altLang="en-US"/>
          </a:p>
        </p:txBody>
      </p:sp>
    </p:spTree>
    <p:extLst>
      <p:ext uri="{BB962C8B-B14F-4D97-AF65-F5344CB8AC3E}">
        <p14:creationId xmlns:p14="http://schemas.microsoft.com/office/powerpoint/2010/main" val="4751521"/>
      </p:ext>
    </p:extLst>
  </p:cSld>
  <p:clrMap bg1="lt1" tx1="dk1" bg2="lt2" tx2="dk2" accent1="accent1" accent2="accent2" accent3="accent3" accent4="accent4" accent5="accent5" accent6="accent6" hlink="hlink" folHlink="folHlink"/>
  <p:sldLayoutIdLst>
    <p:sldLayoutId id="2147483678" r:id="rId1"/>
    <p:sldLayoutId id="2147483679" r:id="rId2"/>
    <p:sldLayoutId id="2147483680" r:id="rId3"/>
    <p:sldLayoutId id="2147483681" r:id="rId4"/>
    <p:sldLayoutId id="2147483682" r:id="rId5"/>
    <p:sldLayoutId id="2147483683" r:id="rId6"/>
    <p:sldLayoutId id="2147483684" r:id="rId7"/>
    <p:sldLayoutId id="2147483685" r:id="rId8"/>
    <p:sldLayoutId id="2147483686" r:id="rId9"/>
    <p:sldLayoutId id="2147483687" r:id="rId10"/>
    <p:sldLayoutId id="2147483688" r:id="rId11"/>
    <p:sldLayoutId id="2147483689" r:id="rId12"/>
    <p:sldLayoutId id="2147483690" r:id="rId13"/>
    <p:sldLayoutId id="2147483691" r:id="rId14"/>
    <p:sldLayoutId id="2147483692" r:id="rId15"/>
    <p:sldLayoutId id="2147483693" r:id="rId16"/>
    <p:sldLayoutId id="2147483694" r:id="rId17"/>
  </p:sldLayoutIdLst>
  <p:txStyles>
    <p:titleStyle>
      <a:lvl1pPr algn="ctr" defTabSz="914400" rtl="0" eaLnBrk="1" latinLnBrk="0" hangingPunct="1">
        <a:lnSpc>
          <a:spcPct val="90000"/>
        </a:lnSpc>
        <a:spcBef>
          <a:spcPct val="0"/>
        </a:spcBef>
        <a:buNone/>
        <a:defRPr sz="3600" kern="1200" cap="all" baseline="0">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tx1"/>
        </a:buClr>
        <a:buFont typeface="Arial" panose="020B0604020202020204" pitchFamily="34" charset="0"/>
        <a:buChar char="•"/>
        <a:defRPr sz="2000" kern="1200" cap="all" baseline="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tx1"/>
        </a:buClr>
        <a:buFont typeface="Arial" panose="020B0604020202020204" pitchFamily="34" charset="0"/>
        <a:buChar char="•"/>
        <a:defRPr sz="1800" kern="1200" cap="all"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tx1"/>
        </a:buClr>
        <a:buFont typeface="Arial" panose="020B0604020202020204" pitchFamily="34" charset="0"/>
        <a:buChar char="•"/>
        <a:defRPr sz="1600" kern="1200" cap="all" baseline="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14.png"/><Relationship Id="rId7" Type="http://schemas.openxmlformats.org/officeDocument/2006/relationships/image" Target="../media/image18.png"/><Relationship Id="rId2" Type="http://schemas.openxmlformats.org/officeDocument/2006/relationships/image" Target="../media/image13.png"/><Relationship Id="rId1" Type="http://schemas.openxmlformats.org/officeDocument/2006/relationships/slideLayout" Target="../slideLayouts/slideLayout2.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6.xml.rels><?xml version="1.0" encoding="UTF-8" standalone="yes"?>
<Relationships xmlns="http://schemas.openxmlformats.org/package/2006/relationships"><Relationship Id="rId3" Type="http://schemas.openxmlformats.org/officeDocument/2006/relationships/image" Target="../media/image21.png"/><Relationship Id="rId7" Type="http://schemas.openxmlformats.org/officeDocument/2006/relationships/image" Target="../media/image25.png"/><Relationship Id="rId2" Type="http://schemas.openxmlformats.org/officeDocument/2006/relationships/image" Target="../media/image20.png"/><Relationship Id="rId1" Type="http://schemas.openxmlformats.org/officeDocument/2006/relationships/slideLayout" Target="../slideLayouts/slideLayout2.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s>
</file>

<file path=ppt/slides/_rels/slide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3.png"/><Relationship Id="rId1" Type="http://schemas.openxmlformats.org/officeDocument/2006/relationships/slideLayout" Target="../slideLayouts/slideLayout2.xml"/><Relationship Id="rId4" Type="http://schemas.openxmlformats.org/officeDocument/2006/relationships/image" Target="../media/image27.png"/></Relationships>
</file>

<file path=ppt/slides/_rels/slide8.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xml"/><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image" Target="../media/image30.png"/></Relationships>
</file>

<file path=ppt/slides/_rels/slide9.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35.png"/><Relationship Id="rId7" Type="http://schemas.openxmlformats.org/officeDocument/2006/relationships/image" Target="../media/image39.png"/><Relationship Id="rId2" Type="http://schemas.openxmlformats.org/officeDocument/2006/relationships/image" Target="../media/image34.png"/><Relationship Id="rId1" Type="http://schemas.openxmlformats.org/officeDocument/2006/relationships/slideLayout" Target="../slideLayouts/slideLayout2.xml"/><Relationship Id="rId6" Type="http://schemas.openxmlformats.org/officeDocument/2006/relationships/image" Target="../media/image38.png"/><Relationship Id="rId5" Type="http://schemas.openxmlformats.org/officeDocument/2006/relationships/image" Target="../media/image37.png"/><Relationship Id="rId4" Type="http://schemas.openxmlformats.org/officeDocument/2006/relationships/image" Target="../media/image36.png"/></Relationships>
</file>

<file path=ppt/slides/_rels/slide11.xml.rels><?xml version="1.0" encoding="UTF-8" standalone="yes"?>
<Relationships xmlns="http://schemas.openxmlformats.org/package/2006/relationships"><Relationship Id="rId8" Type="http://schemas.openxmlformats.org/officeDocument/2006/relationships/image" Target="../media/image46.png"/><Relationship Id="rId3" Type="http://schemas.openxmlformats.org/officeDocument/2006/relationships/image" Target="../media/image41.png"/><Relationship Id="rId7" Type="http://schemas.openxmlformats.org/officeDocument/2006/relationships/image" Target="../media/image45.png"/><Relationship Id="rId2" Type="http://schemas.openxmlformats.org/officeDocument/2006/relationships/image" Target="../media/image40.png"/><Relationship Id="rId1" Type="http://schemas.openxmlformats.org/officeDocument/2006/relationships/slideLayout" Target="../slideLayouts/slideLayout2.xml"/><Relationship Id="rId6" Type="http://schemas.openxmlformats.org/officeDocument/2006/relationships/image" Target="../media/image44.png"/><Relationship Id="rId5" Type="http://schemas.openxmlformats.org/officeDocument/2006/relationships/image" Target="../media/image43.png"/><Relationship Id="rId4" Type="http://schemas.openxmlformats.org/officeDocument/2006/relationships/image" Target="../media/image42.png"/><Relationship Id="rId9" Type="http://schemas.openxmlformats.org/officeDocument/2006/relationships/image" Target="../media/image47.png"/></Relationships>
</file>

<file path=ppt/slides/_rels/slide12.xml.rels><?xml version="1.0" encoding="UTF-8" standalone="yes"?>
<Relationships xmlns="http://schemas.openxmlformats.org/package/2006/relationships"><Relationship Id="rId8" Type="http://schemas.openxmlformats.org/officeDocument/2006/relationships/image" Target="../media/image54.png"/><Relationship Id="rId3" Type="http://schemas.openxmlformats.org/officeDocument/2006/relationships/image" Target="../media/image49.png"/><Relationship Id="rId7" Type="http://schemas.openxmlformats.org/officeDocument/2006/relationships/image" Target="../media/image53.png"/><Relationship Id="rId2" Type="http://schemas.openxmlformats.org/officeDocument/2006/relationships/image" Target="../media/image48.png"/><Relationship Id="rId1" Type="http://schemas.openxmlformats.org/officeDocument/2006/relationships/slideLayout" Target="../slideLayouts/slideLayout2.xml"/><Relationship Id="rId6" Type="http://schemas.openxmlformats.org/officeDocument/2006/relationships/image" Target="../media/image52.png"/><Relationship Id="rId5" Type="http://schemas.openxmlformats.org/officeDocument/2006/relationships/image" Target="../media/image51.png"/><Relationship Id="rId4" Type="http://schemas.openxmlformats.org/officeDocument/2006/relationships/image" Target="../media/image50.png"/><Relationship Id="rId9" Type="http://schemas.openxmlformats.org/officeDocument/2006/relationships/image" Target="../media/image5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BDBBDC8-EA82-F1B9-F133-09A641341EBE}"/>
              </a:ext>
            </a:extLst>
          </p:cNvPr>
          <p:cNvSpPr>
            <a:spLocks noGrp="1"/>
          </p:cNvSpPr>
          <p:nvPr>
            <p:ph type="ctrTitle"/>
          </p:nvPr>
        </p:nvSpPr>
        <p:spPr>
          <a:xfrm>
            <a:off x="1819838" y="1890252"/>
            <a:ext cx="8862558" cy="838198"/>
          </a:xfrm>
        </p:spPr>
        <p:txBody>
          <a:bodyPr>
            <a:normAutofit/>
          </a:bodyPr>
          <a:lstStyle/>
          <a:p>
            <a:r>
              <a:rPr lang="en-US" altLang="zh-TW" sz="3600" cap="none" dirty="0">
                <a:solidFill>
                  <a:schemeClr val="tx1">
                    <a:lumMod val="65000"/>
                    <a:lumOff val="35000"/>
                  </a:schemeClr>
                </a:solidFill>
              </a:rPr>
              <a:t>Introduction To Image Processing</a:t>
            </a:r>
            <a:r>
              <a:rPr lang="zh-TW" altLang="en-US" sz="3600" cap="none" dirty="0">
                <a:solidFill>
                  <a:schemeClr val="tx1">
                    <a:lumMod val="65000"/>
                    <a:lumOff val="35000"/>
                  </a:schemeClr>
                </a:solidFill>
              </a:rPr>
              <a:t> </a:t>
            </a:r>
            <a:r>
              <a:rPr lang="en-US" altLang="zh-TW" sz="3600" cap="none" dirty="0">
                <a:solidFill>
                  <a:schemeClr val="tx1">
                    <a:lumMod val="65000"/>
                    <a:lumOff val="35000"/>
                  </a:schemeClr>
                </a:solidFill>
              </a:rPr>
              <a:t>term project</a:t>
            </a:r>
            <a:endParaRPr lang="zh-TW" altLang="en-US" sz="3600" cap="none" dirty="0">
              <a:solidFill>
                <a:schemeClr val="tx1">
                  <a:lumMod val="65000"/>
                  <a:lumOff val="35000"/>
                </a:schemeClr>
              </a:solidFill>
            </a:endParaRPr>
          </a:p>
        </p:txBody>
      </p:sp>
      <p:sp>
        <p:nvSpPr>
          <p:cNvPr id="3" name="副標題 2">
            <a:extLst>
              <a:ext uri="{FF2B5EF4-FFF2-40B4-BE49-F238E27FC236}">
                <a16:creationId xmlns:a16="http://schemas.microsoft.com/office/drawing/2014/main" id="{9C37FD9C-CC9A-1815-C813-989DCE4CDB8D}"/>
              </a:ext>
            </a:extLst>
          </p:cNvPr>
          <p:cNvSpPr>
            <a:spLocks noGrp="1"/>
          </p:cNvSpPr>
          <p:nvPr>
            <p:ph type="subTitle" idx="1"/>
          </p:nvPr>
        </p:nvSpPr>
        <p:spPr>
          <a:xfrm>
            <a:off x="1751012" y="3001297"/>
            <a:ext cx="8689976" cy="1371599"/>
          </a:xfrm>
        </p:spPr>
        <p:txBody>
          <a:bodyPr>
            <a:normAutofit/>
          </a:bodyPr>
          <a:lstStyle/>
          <a:p>
            <a:r>
              <a:rPr lang="en-US" altLang="zh-TW" sz="3600" cap="none" dirty="0">
                <a:solidFill>
                  <a:schemeClr val="tx1"/>
                </a:solidFill>
              </a:rPr>
              <a:t>Smoothing-Sharpening Self Guided Filter Application on Seam Carving</a:t>
            </a:r>
            <a:endParaRPr lang="zh-TW" altLang="en-US" sz="3600" cap="none" dirty="0">
              <a:solidFill>
                <a:schemeClr val="tx1"/>
              </a:solidFill>
            </a:endParaRPr>
          </a:p>
        </p:txBody>
      </p:sp>
      <p:sp>
        <p:nvSpPr>
          <p:cNvPr id="4" name="文字方塊 3">
            <a:extLst>
              <a:ext uri="{FF2B5EF4-FFF2-40B4-BE49-F238E27FC236}">
                <a16:creationId xmlns:a16="http://schemas.microsoft.com/office/drawing/2014/main" id="{F840BC81-29D8-D570-08D2-6E0D5D773C61}"/>
              </a:ext>
            </a:extLst>
          </p:cNvPr>
          <p:cNvSpPr txBox="1"/>
          <p:nvPr/>
        </p:nvSpPr>
        <p:spPr>
          <a:xfrm>
            <a:off x="9242323" y="5956201"/>
            <a:ext cx="4021393" cy="369332"/>
          </a:xfrm>
          <a:prstGeom prst="rect">
            <a:avLst/>
          </a:prstGeom>
          <a:noFill/>
        </p:spPr>
        <p:txBody>
          <a:bodyPr wrap="square" rtlCol="0">
            <a:spAutoFit/>
          </a:bodyPr>
          <a:lstStyle/>
          <a:p>
            <a:r>
              <a:rPr lang="en-US" altLang="zh-TW" dirty="0"/>
              <a:t>EECS26 111060024 </a:t>
            </a:r>
            <a:r>
              <a:rPr lang="zh-TW" altLang="en-US" b="1" dirty="0">
                <a:latin typeface="Microsoft JhengHei Light" panose="020B0604030504040204" pitchFamily="34" charset="-120"/>
                <a:ea typeface="Microsoft JhengHei Light" panose="020B0604030504040204" pitchFamily="34" charset="-120"/>
              </a:rPr>
              <a:t>蔡孟伶</a:t>
            </a:r>
          </a:p>
        </p:txBody>
      </p:sp>
    </p:spTree>
    <p:extLst>
      <p:ext uri="{BB962C8B-B14F-4D97-AF65-F5344CB8AC3E}">
        <p14:creationId xmlns:p14="http://schemas.microsoft.com/office/powerpoint/2010/main" val="404429710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7A41BD1-13F4-AC61-2D73-02E75E2D9D78}"/>
              </a:ext>
            </a:extLst>
          </p:cNvPr>
          <p:cNvSpPr>
            <a:spLocks noGrp="1"/>
          </p:cNvSpPr>
          <p:nvPr>
            <p:ph type="title"/>
          </p:nvPr>
        </p:nvSpPr>
        <p:spPr/>
        <p:txBody>
          <a:bodyPr/>
          <a:lstStyle/>
          <a:p>
            <a:r>
              <a:rPr lang="en-US" altLang="zh-TW" cap="none" dirty="0">
                <a:latin typeface="Calibri" panose="020F0502020204030204" pitchFamily="34" charset="0"/>
                <a:ea typeface="Calibri" panose="020F0502020204030204" pitchFamily="34" charset="0"/>
                <a:cs typeface="Calibri" panose="020F0502020204030204" pitchFamily="34" charset="0"/>
              </a:rPr>
              <a:t>Introduction To Seam Carving</a:t>
            </a:r>
            <a:endParaRPr lang="zh-TW" altLang="en-US" cap="none" dirty="0">
              <a:latin typeface="Calibri" panose="020F0502020204030204" pitchFamily="34" charset="0"/>
              <a:cs typeface="Calibri" panose="020F0502020204030204" pitchFamily="34" charset="0"/>
            </a:endParaRPr>
          </a:p>
        </p:txBody>
      </p:sp>
      <p:pic>
        <p:nvPicPr>
          <p:cNvPr id="5" name="內容版面配置區 4" descr="一張含有 人的臉孔, 微笑, 服裝, 人員 的圖片&#10;&#10;自動產生的描述">
            <a:extLst>
              <a:ext uri="{FF2B5EF4-FFF2-40B4-BE49-F238E27FC236}">
                <a16:creationId xmlns:a16="http://schemas.microsoft.com/office/drawing/2014/main" id="{241E6028-BBB1-2601-73CE-3D5E776EB9C5}"/>
              </a:ext>
            </a:extLst>
          </p:cNvPr>
          <p:cNvPicPr>
            <a:picLocks noGrp="1" noChangeAspect="1"/>
          </p:cNvPicPr>
          <p:nvPr>
            <p:ph sz="quarter" idx="13"/>
          </p:nvPr>
        </p:nvPicPr>
        <p:blipFill>
          <a:blip r:embed="rId2">
            <a:extLst>
              <a:ext uri="{28A0092B-C50C-407E-A947-70E740481C1C}">
                <a14:useLocalDpi xmlns:a14="http://schemas.microsoft.com/office/drawing/2010/main" val="0"/>
              </a:ext>
            </a:extLst>
          </a:blip>
          <a:srcRect l="23232" r="19119"/>
          <a:stretch/>
        </p:blipFill>
        <p:spPr>
          <a:xfrm>
            <a:off x="1192862" y="1766970"/>
            <a:ext cx="3511846" cy="4568802"/>
          </a:xfrm>
        </p:spPr>
      </p:pic>
      <p:pic>
        <p:nvPicPr>
          <p:cNvPr id="7" name="圖片 6" descr="一張含有 人的臉孔, 微笑, 服裝, 女人 的圖片&#10;&#10;自動產生的描述">
            <a:extLst>
              <a:ext uri="{FF2B5EF4-FFF2-40B4-BE49-F238E27FC236}">
                <a16:creationId xmlns:a16="http://schemas.microsoft.com/office/drawing/2014/main" id="{42DE5599-30A2-EA77-A837-E3E95B95A010}"/>
              </a:ext>
            </a:extLst>
          </p:cNvPr>
          <p:cNvPicPr>
            <a:picLocks noChangeAspect="1"/>
          </p:cNvPicPr>
          <p:nvPr/>
        </p:nvPicPr>
        <p:blipFill>
          <a:blip r:embed="rId3">
            <a:extLst>
              <a:ext uri="{28A0092B-C50C-407E-A947-70E740481C1C}">
                <a14:useLocalDpi xmlns:a14="http://schemas.microsoft.com/office/drawing/2010/main" val="0"/>
              </a:ext>
            </a:extLst>
          </a:blip>
          <a:srcRect l="23949" r="20496"/>
          <a:stretch/>
        </p:blipFill>
        <p:spPr>
          <a:xfrm>
            <a:off x="4866640" y="1740057"/>
            <a:ext cx="3404228" cy="4595716"/>
          </a:xfrm>
          <a:prstGeom prst="rect">
            <a:avLst/>
          </a:prstGeom>
        </p:spPr>
      </p:pic>
      <p:pic>
        <p:nvPicPr>
          <p:cNvPr id="9" name="圖片 8" descr="一張含有 服裝, 傢俱, 人員, 微笑 的圖片&#10;&#10;自動產生的描述">
            <a:extLst>
              <a:ext uri="{FF2B5EF4-FFF2-40B4-BE49-F238E27FC236}">
                <a16:creationId xmlns:a16="http://schemas.microsoft.com/office/drawing/2014/main" id="{A2207F41-9F8E-C159-1EDB-3D20EDBDB7A2}"/>
              </a:ext>
            </a:extLst>
          </p:cNvPr>
          <p:cNvPicPr>
            <a:picLocks noChangeAspect="1"/>
          </p:cNvPicPr>
          <p:nvPr/>
        </p:nvPicPr>
        <p:blipFill>
          <a:blip r:embed="rId4">
            <a:extLst>
              <a:ext uri="{28A0092B-C50C-407E-A947-70E740481C1C}">
                <a14:useLocalDpi xmlns:a14="http://schemas.microsoft.com/office/drawing/2010/main" val="0"/>
              </a:ext>
            </a:extLst>
          </a:blip>
          <a:srcRect l="27301" r="25934"/>
          <a:stretch/>
        </p:blipFill>
        <p:spPr>
          <a:xfrm>
            <a:off x="8432800" y="1772457"/>
            <a:ext cx="2845425" cy="4563315"/>
          </a:xfrm>
          <a:prstGeom prst="rect">
            <a:avLst/>
          </a:prstGeom>
        </p:spPr>
      </p:pic>
    </p:spTree>
    <p:extLst>
      <p:ext uri="{BB962C8B-B14F-4D97-AF65-F5344CB8AC3E}">
        <p14:creationId xmlns:p14="http://schemas.microsoft.com/office/powerpoint/2010/main" val="312578741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155970-BC51-5569-05F6-33D23CE611CE}"/>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4479939A-435D-F975-3FBF-CBF56A20CA51}"/>
              </a:ext>
            </a:extLst>
          </p:cNvPr>
          <p:cNvSpPr>
            <a:spLocks noGrp="1"/>
          </p:cNvSpPr>
          <p:nvPr>
            <p:ph type="title"/>
          </p:nvPr>
        </p:nvSpPr>
        <p:spPr/>
        <p:txBody>
          <a:bodyPr/>
          <a:lstStyle/>
          <a:p>
            <a:r>
              <a:rPr lang="en-US" altLang="zh-TW" cap="none" dirty="0">
                <a:latin typeface="Calibri" panose="020F0502020204030204" pitchFamily="34" charset="0"/>
                <a:ea typeface="Calibri" panose="020F0502020204030204" pitchFamily="34" charset="0"/>
                <a:cs typeface="Calibri" panose="020F0502020204030204" pitchFamily="34" charset="0"/>
              </a:rPr>
              <a:t>Introduction to Seam Carving</a:t>
            </a:r>
            <a:endParaRPr lang="zh-TW" altLang="en-US" cap="none" dirty="0">
              <a:latin typeface="Calibri" panose="020F0502020204030204" pitchFamily="34" charset="0"/>
              <a:cs typeface="Calibri" panose="020F0502020204030204" pitchFamily="34" charset="0"/>
            </a:endParaRPr>
          </a:p>
        </p:txBody>
      </p:sp>
      <p:sp>
        <p:nvSpPr>
          <p:cNvPr id="8" name="內容版面配置區 7">
            <a:extLst>
              <a:ext uri="{FF2B5EF4-FFF2-40B4-BE49-F238E27FC236}">
                <a16:creationId xmlns:a16="http://schemas.microsoft.com/office/drawing/2014/main" id="{F9A94383-5479-ADD0-D896-6F17C45BFB33}"/>
              </a:ext>
            </a:extLst>
          </p:cNvPr>
          <p:cNvSpPr>
            <a:spLocks noGrp="1"/>
          </p:cNvSpPr>
          <p:nvPr>
            <p:ph sz="quarter" idx="13"/>
          </p:nvPr>
        </p:nvSpPr>
        <p:spPr>
          <a:xfrm>
            <a:off x="913774" y="2214694"/>
            <a:ext cx="7712066" cy="3576505"/>
          </a:xfrm>
        </p:spPr>
        <p:txBody>
          <a:bodyPr/>
          <a:lstStyle/>
          <a:p>
            <a:r>
              <a:rPr lang="en-US" altLang="zh-TW" sz="2400" cap="none" dirty="0"/>
              <a:t>Define the energy map of the image</a:t>
            </a:r>
          </a:p>
          <a:p>
            <a:r>
              <a:rPr lang="en-US" altLang="zh-TW" sz="2400" cap="none" dirty="0"/>
              <a:t>Use dynamic programming to find the seam that has the </a:t>
            </a:r>
            <a:r>
              <a:rPr lang="en-US" altLang="zh-TW" sz="2400" u="sng" cap="none" dirty="0"/>
              <a:t>least cumulated lost </a:t>
            </a:r>
            <a:r>
              <a:rPr lang="en-US" altLang="zh-TW" sz="2400" cap="none" dirty="0"/>
              <a:t>of energy on this seam</a:t>
            </a:r>
          </a:p>
          <a:p>
            <a:r>
              <a:rPr lang="en-US" altLang="zh-TW" sz="2400" cap="none" dirty="0"/>
              <a:t>Remove or insert N seams to accomplish image resizing, but in a content-aware way.</a:t>
            </a:r>
          </a:p>
          <a:p>
            <a:r>
              <a:rPr lang="en-US" altLang="zh-TW" sz="2400" cap="none" dirty="0"/>
              <a:t>Other extensions include object removal, content amplification</a:t>
            </a:r>
          </a:p>
          <a:p>
            <a:endParaRPr lang="zh-TW" altLang="en-US" dirty="0"/>
          </a:p>
        </p:txBody>
      </p:sp>
      <p:pic>
        <p:nvPicPr>
          <p:cNvPr id="11" name="圖片 10" descr="一張含有 螢幕擷取畫面, 黑與白, 人的臉孔, 人員 的圖片&#10;&#10;自動產生的描述">
            <a:extLst>
              <a:ext uri="{FF2B5EF4-FFF2-40B4-BE49-F238E27FC236}">
                <a16:creationId xmlns:a16="http://schemas.microsoft.com/office/drawing/2014/main" id="{920D48F3-CD55-2CA6-A298-5E166142A7A6}"/>
              </a:ext>
            </a:extLst>
          </p:cNvPr>
          <p:cNvPicPr>
            <a:picLocks noChangeAspect="1"/>
          </p:cNvPicPr>
          <p:nvPr/>
        </p:nvPicPr>
        <p:blipFill>
          <a:blip r:embed="rId2">
            <a:extLst>
              <a:ext uri="{28A0092B-C50C-407E-A947-70E740481C1C}">
                <a14:useLocalDpi xmlns:a14="http://schemas.microsoft.com/office/drawing/2010/main" val="0"/>
              </a:ext>
            </a:extLst>
          </a:blip>
          <a:srcRect l="27431" t="5788" r="24479" b="7175"/>
          <a:stretch/>
        </p:blipFill>
        <p:spPr>
          <a:xfrm>
            <a:off x="8625840" y="1777999"/>
            <a:ext cx="2814320" cy="3820161"/>
          </a:xfrm>
          <a:prstGeom prst="rect">
            <a:avLst/>
          </a:prstGeom>
        </p:spPr>
      </p:pic>
    </p:spTree>
    <p:extLst>
      <p:ext uri="{BB962C8B-B14F-4D97-AF65-F5344CB8AC3E}">
        <p14:creationId xmlns:p14="http://schemas.microsoft.com/office/powerpoint/2010/main" val="8098064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B5EF3AF-8531-8612-10B8-7C84741B3C62}"/>
              </a:ext>
            </a:extLst>
          </p:cNvPr>
          <p:cNvSpPr>
            <a:spLocks noGrp="1"/>
          </p:cNvSpPr>
          <p:nvPr>
            <p:ph type="title"/>
          </p:nvPr>
        </p:nvSpPr>
        <p:spPr>
          <a:xfrm>
            <a:off x="913775" y="0"/>
            <a:ext cx="10364451" cy="1596177"/>
          </a:xfrm>
        </p:spPr>
        <p:txBody>
          <a:bodyPr/>
          <a:lstStyle/>
          <a:p>
            <a:r>
              <a:rPr lang="en-US" altLang="zh-TW" cap="none" dirty="0">
                <a:latin typeface="Calibri" panose="020F0502020204030204" pitchFamily="34" charset="0"/>
                <a:ea typeface="Calibri" panose="020F0502020204030204" pitchFamily="34" charset="0"/>
                <a:cs typeface="Calibri" panose="020F0502020204030204" pitchFamily="34" charset="0"/>
              </a:rPr>
              <a:t>Introduction to Self-guided Filter</a:t>
            </a:r>
            <a:endParaRPr lang="zh-TW" altLang="en-US" cap="none" dirty="0">
              <a:latin typeface="Calibri" panose="020F0502020204030204" pitchFamily="34" charset="0"/>
              <a:cs typeface="Calibri" panose="020F0502020204030204" pitchFamily="34" charset="0"/>
            </a:endParaRPr>
          </a:p>
        </p:txBody>
      </p:sp>
      <p:pic>
        <p:nvPicPr>
          <p:cNvPr id="10" name="圖片 9">
            <a:extLst>
              <a:ext uri="{FF2B5EF4-FFF2-40B4-BE49-F238E27FC236}">
                <a16:creationId xmlns:a16="http://schemas.microsoft.com/office/drawing/2014/main" id="{CC180A7F-8E8E-35AD-D566-99D77FDDD452}"/>
              </a:ext>
            </a:extLst>
          </p:cNvPr>
          <p:cNvPicPr>
            <a:picLocks noChangeAspect="1"/>
          </p:cNvPicPr>
          <p:nvPr/>
        </p:nvPicPr>
        <p:blipFill>
          <a:blip r:embed="rId2"/>
          <a:stretch>
            <a:fillRect/>
          </a:stretch>
        </p:blipFill>
        <p:spPr>
          <a:xfrm>
            <a:off x="478173" y="698937"/>
            <a:ext cx="3728721" cy="2730063"/>
          </a:xfrm>
          <a:prstGeom prst="rect">
            <a:avLst/>
          </a:prstGeom>
        </p:spPr>
      </p:pic>
      <p:pic>
        <p:nvPicPr>
          <p:cNvPr id="12" name="圖片 11">
            <a:extLst>
              <a:ext uri="{FF2B5EF4-FFF2-40B4-BE49-F238E27FC236}">
                <a16:creationId xmlns:a16="http://schemas.microsoft.com/office/drawing/2014/main" id="{23C2BBC2-3350-ED2F-ABD6-D210200B773F}"/>
              </a:ext>
            </a:extLst>
          </p:cNvPr>
          <p:cNvPicPr>
            <a:picLocks noChangeAspect="1"/>
          </p:cNvPicPr>
          <p:nvPr/>
        </p:nvPicPr>
        <p:blipFill>
          <a:blip r:embed="rId3"/>
          <a:stretch>
            <a:fillRect/>
          </a:stretch>
        </p:blipFill>
        <p:spPr>
          <a:xfrm>
            <a:off x="565363" y="4020266"/>
            <a:ext cx="3783771" cy="2730063"/>
          </a:xfrm>
          <a:prstGeom prst="rect">
            <a:avLst/>
          </a:prstGeom>
        </p:spPr>
      </p:pic>
      <p:pic>
        <p:nvPicPr>
          <p:cNvPr id="14" name="圖片 13">
            <a:extLst>
              <a:ext uri="{FF2B5EF4-FFF2-40B4-BE49-F238E27FC236}">
                <a16:creationId xmlns:a16="http://schemas.microsoft.com/office/drawing/2014/main" id="{16CFA378-9A96-EE04-440F-6D5827913A31}"/>
              </a:ext>
            </a:extLst>
          </p:cNvPr>
          <p:cNvPicPr>
            <a:picLocks noChangeAspect="1"/>
          </p:cNvPicPr>
          <p:nvPr/>
        </p:nvPicPr>
        <p:blipFill>
          <a:blip r:embed="rId4"/>
          <a:stretch>
            <a:fillRect/>
          </a:stretch>
        </p:blipFill>
        <p:spPr>
          <a:xfrm>
            <a:off x="4431263" y="3989867"/>
            <a:ext cx="3565311" cy="2760462"/>
          </a:xfrm>
          <a:prstGeom prst="rect">
            <a:avLst/>
          </a:prstGeom>
        </p:spPr>
      </p:pic>
      <p:sp>
        <p:nvSpPr>
          <p:cNvPr id="15" name="文字方塊 14">
            <a:extLst>
              <a:ext uri="{FF2B5EF4-FFF2-40B4-BE49-F238E27FC236}">
                <a16:creationId xmlns:a16="http://schemas.microsoft.com/office/drawing/2014/main" id="{2653782F-2CC0-07AB-DD6D-FF7D33176DBA}"/>
              </a:ext>
            </a:extLst>
          </p:cNvPr>
          <p:cNvSpPr txBox="1"/>
          <p:nvPr/>
        </p:nvSpPr>
        <p:spPr>
          <a:xfrm>
            <a:off x="4349134" y="1204110"/>
            <a:ext cx="7213600" cy="2677656"/>
          </a:xfrm>
          <a:prstGeom prst="rect">
            <a:avLst/>
          </a:prstGeom>
          <a:noFill/>
        </p:spPr>
        <p:txBody>
          <a:bodyPr wrap="square" rtlCol="0">
            <a:spAutoFit/>
          </a:bodyPr>
          <a:lstStyle/>
          <a:p>
            <a:r>
              <a:rPr lang="en-US" altLang="zh-TW" sz="1600" i="1" dirty="0"/>
              <a:t>G. Deng, F. </a:t>
            </a:r>
            <a:r>
              <a:rPr lang="en-US" altLang="zh-TW" sz="1600" i="1" dirty="0" err="1"/>
              <a:t>Galetto</a:t>
            </a:r>
            <a:r>
              <a:rPr lang="en-US" altLang="zh-TW" sz="1600" i="1" dirty="0"/>
              <a:t>, M. Al–</a:t>
            </a:r>
            <a:r>
              <a:rPr lang="en-US" altLang="zh-TW" sz="1600" i="1" dirty="0" err="1"/>
              <a:t>nasrawi</a:t>
            </a:r>
            <a:r>
              <a:rPr lang="en-US" altLang="zh-TW" sz="1600" i="1" dirty="0"/>
              <a:t> and W. Waheed, "A Guided Edge-Aware Smoothing-Sharpening Filter Based on Patch Interpolation Model and Generalized Gamma Distribution," in IEEE</a:t>
            </a:r>
          </a:p>
          <a:p>
            <a:endParaRPr lang="en-US" altLang="zh-TW" sz="2000" dirty="0"/>
          </a:p>
          <a:p>
            <a:pPr marL="342900" indent="-342900">
              <a:buFont typeface="Arial" panose="020B0604020202020204" pitchFamily="34" charset="0"/>
              <a:buChar char="•"/>
            </a:pPr>
            <a:r>
              <a:rPr lang="en-US" altLang="zh-TW" sz="2000" dirty="0"/>
              <a:t>Original self-guided filter:</a:t>
            </a:r>
          </a:p>
          <a:p>
            <a:r>
              <a:rPr lang="en-US" altLang="zh-TW" sz="2000" dirty="0"/>
              <a:t>Edge preserving smoothing filter</a:t>
            </a:r>
          </a:p>
          <a:p>
            <a:endParaRPr lang="en-US" altLang="zh-TW" sz="2000" dirty="0"/>
          </a:p>
          <a:p>
            <a:pPr marL="342900" indent="-342900">
              <a:buFont typeface="Arial" panose="020B0604020202020204" pitchFamily="34" charset="0"/>
              <a:buChar char="•"/>
            </a:pPr>
            <a:r>
              <a:rPr lang="en-US" altLang="zh-TW" sz="2000" dirty="0"/>
              <a:t>Proposed smoothing-sharpening filter:</a:t>
            </a:r>
          </a:p>
          <a:p>
            <a:r>
              <a:rPr lang="en-US" altLang="zh-TW" sz="2000" dirty="0"/>
              <a:t>Edge preserving smoothing-sharpening filter, controlled by parameter</a:t>
            </a:r>
            <a:endParaRPr lang="zh-TW" altLang="en-US" sz="2000" dirty="0"/>
          </a:p>
        </p:txBody>
      </p:sp>
      <p:sp>
        <p:nvSpPr>
          <p:cNvPr id="16" name="文字方塊 15">
            <a:extLst>
              <a:ext uri="{FF2B5EF4-FFF2-40B4-BE49-F238E27FC236}">
                <a16:creationId xmlns:a16="http://schemas.microsoft.com/office/drawing/2014/main" id="{81CFE2E1-5691-2A06-9F34-A0C64369B6C7}"/>
              </a:ext>
            </a:extLst>
          </p:cNvPr>
          <p:cNvSpPr txBox="1"/>
          <p:nvPr/>
        </p:nvSpPr>
        <p:spPr>
          <a:xfrm>
            <a:off x="1544348" y="3881766"/>
            <a:ext cx="2703186" cy="276999"/>
          </a:xfrm>
          <a:prstGeom prst="rect">
            <a:avLst/>
          </a:prstGeom>
          <a:noFill/>
        </p:spPr>
        <p:txBody>
          <a:bodyPr wrap="square" rtlCol="0">
            <a:spAutoFit/>
          </a:bodyPr>
          <a:lstStyle/>
          <a:p>
            <a:r>
              <a:rPr lang="en-US" altLang="zh-TW" sz="1200" dirty="0"/>
              <a:t>Original self-guided filter</a:t>
            </a:r>
            <a:endParaRPr lang="zh-TW" altLang="en-US" sz="1200" dirty="0"/>
          </a:p>
        </p:txBody>
      </p:sp>
      <p:sp>
        <p:nvSpPr>
          <p:cNvPr id="17" name="文字方塊 16">
            <a:extLst>
              <a:ext uri="{FF2B5EF4-FFF2-40B4-BE49-F238E27FC236}">
                <a16:creationId xmlns:a16="http://schemas.microsoft.com/office/drawing/2014/main" id="{F6D4B059-F44E-4299-75B4-74EEE939F249}"/>
              </a:ext>
            </a:extLst>
          </p:cNvPr>
          <p:cNvSpPr txBox="1"/>
          <p:nvPr/>
        </p:nvSpPr>
        <p:spPr>
          <a:xfrm>
            <a:off x="5334343" y="3858118"/>
            <a:ext cx="2703186" cy="276999"/>
          </a:xfrm>
          <a:prstGeom prst="rect">
            <a:avLst/>
          </a:prstGeom>
          <a:noFill/>
        </p:spPr>
        <p:txBody>
          <a:bodyPr wrap="square" rtlCol="0">
            <a:spAutoFit/>
          </a:bodyPr>
          <a:lstStyle/>
          <a:p>
            <a:r>
              <a:rPr lang="en-US" altLang="zh-TW" sz="1200" dirty="0"/>
              <a:t>Proposed self-guided filter</a:t>
            </a:r>
            <a:endParaRPr lang="zh-TW" altLang="en-US" sz="1200" dirty="0"/>
          </a:p>
        </p:txBody>
      </p:sp>
      <mc:AlternateContent xmlns:mc="http://schemas.openxmlformats.org/markup-compatibility/2006" xmlns:a14="http://schemas.microsoft.com/office/drawing/2010/main">
        <mc:Choice Requires="a14">
          <p:sp>
            <p:nvSpPr>
              <p:cNvPr id="18" name="文字方塊 17">
                <a:extLst>
                  <a:ext uri="{FF2B5EF4-FFF2-40B4-BE49-F238E27FC236}">
                    <a16:creationId xmlns:a16="http://schemas.microsoft.com/office/drawing/2014/main" id="{193566FC-3C1B-D189-E1F5-40EBFA67D5F7}"/>
                  </a:ext>
                </a:extLst>
              </p:cNvPr>
              <p:cNvSpPr txBox="1"/>
              <p:nvPr/>
            </p:nvSpPr>
            <p:spPr>
              <a:xfrm>
                <a:off x="8383502" y="4239991"/>
                <a:ext cx="3405373"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𝐽</m:t>
                      </m:r>
                      <m:d>
                        <m:dPr>
                          <m:ctrlPr>
                            <a:rPr lang="en-US" altLang="zh-TW" b="0" i="1" smtClean="0">
                              <a:latin typeface="Cambria Math" panose="02040503050406030204" pitchFamily="18" charset="0"/>
                            </a:rPr>
                          </m:ctrlPr>
                        </m:dPr>
                        <m:e>
                          <m:r>
                            <a:rPr lang="en-US" altLang="zh-TW" b="0" i="1" smtClean="0">
                              <a:latin typeface="Cambria Math" panose="02040503050406030204" pitchFamily="18" charset="0"/>
                            </a:rPr>
                            <m:t>𝑥</m:t>
                          </m:r>
                        </m:e>
                      </m:d>
                      <m:r>
                        <a:rPr lang="en-US" altLang="zh-TW" b="0" i="1" smtClean="0">
                          <a:latin typeface="Cambria Math" panose="02040503050406030204" pitchFamily="18" charset="0"/>
                        </a:rPr>
                        <m:t>= </m:t>
                      </m:r>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𝑎</m:t>
                          </m:r>
                        </m:e>
                        <m:sub>
                          <m:r>
                            <a:rPr lang="en-US" altLang="zh-TW" b="0" i="1" smtClean="0">
                              <a:latin typeface="Cambria Math" panose="02040503050406030204" pitchFamily="18" charset="0"/>
                            </a:rPr>
                            <m:t>𝑘</m:t>
                          </m:r>
                        </m:sub>
                      </m:sSub>
                      <m:r>
                        <a:rPr lang="en-US" altLang="zh-TW" b="0" i="1" smtClean="0">
                          <a:latin typeface="Cambria Math" panose="02040503050406030204" pitchFamily="18" charset="0"/>
                        </a:rPr>
                        <m:t>𝐼</m:t>
                      </m:r>
                      <m:d>
                        <m:dPr>
                          <m:ctrlPr>
                            <a:rPr lang="en-US" altLang="zh-TW" b="0" i="1" smtClean="0">
                              <a:latin typeface="Cambria Math" panose="02040503050406030204" pitchFamily="18" charset="0"/>
                            </a:rPr>
                          </m:ctrlPr>
                        </m:dPr>
                        <m:e>
                          <m:r>
                            <a:rPr lang="en-US" altLang="zh-TW" b="0" i="1" smtClean="0">
                              <a:latin typeface="Cambria Math" panose="02040503050406030204" pitchFamily="18" charset="0"/>
                            </a:rPr>
                            <m:t>𝑥</m:t>
                          </m:r>
                        </m:e>
                      </m:d>
                      <m:r>
                        <a:rPr lang="en-US" altLang="zh-TW" b="0" i="1" smtClean="0">
                          <a:latin typeface="Cambria Math" panose="02040503050406030204" pitchFamily="18" charset="0"/>
                        </a:rPr>
                        <m:t>+(1 − </m:t>
                      </m:r>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𝑎</m:t>
                          </m:r>
                        </m:e>
                        <m:sub>
                          <m:r>
                            <a:rPr lang="en-US" altLang="zh-TW" b="0" i="1" smtClean="0">
                              <a:latin typeface="Cambria Math" panose="02040503050406030204" pitchFamily="18" charset="0"/>
                            </a:rPr>
                            <m:t>𝑘</m:t>
                          </m:r>
                        </m:sub>
                      </m:sSub>
                      <m:r>
                        <a:rPr lang="en-US" altLang="zh-TW" b="0" i="1" smtClean="0">
                          <a:latin typeface="Cambria Math" panose="02040503050406030204" pitchFamily="18" charset="0"/>
                        </a:rPr>
                        <m:t>)</m:t>
                      </m:r>
                      <m:sSub>
                        <m:sSubPr>
                          <m:ctrlPr>
                            <a:rPr lang="en-US" altLang="zh-TW" b="0" i="1" smtClean="0">
                              <a:latin typeface="Cambria Math" panose="02040503050406030204" pitchFamily="18" charset="0"/>
                            </a:rPr>
                          </m:ctrlPr>
                        </m:sSubPr>
                        <m:e>
                          <m:r>
                            <a:rPr lang="zh-TW" altLang="en-US" b="0" i="1" smtClean="0">
                              <a:latin typeface="Cambria Math" panose="02040503050406030204" pitchFamily="18" charset="0"/>
                            </a:rPr>
                            <m:t>𝜇</m:t>
                          </m:r>
                        </m:e>
                        <m:sub>
                          <m:r>
                            <a:rPr lang="en-US" altLang="zh-TW" b="0" i="1" smtClean="0">
                              <a:latin typeface="Cambria Math" panose="02040503050406030204" pitchFamily="18" charset="0"/>
                            </a:rPr>
                            <m:t>𝑘</m:t>
                          </m:r>
                        </m:sub>
                      </m:sSub>
                    </m:oMath>
                  </m:oMathPara>
                </a14:m>
                <a:endParaRPr lang="zh-TW" altLang="en-US" dirty="0"/>
              </a:p>
            </p:txBody>
          </p:sp>
        </mc:Choice>
        <mc:Fallback xmlns="">
          <p:sp>
            <p:nvSpPr>
              <p:cNvPr id="18" name="文字方塊 17">
                <a:extLst>
                  <a:ext uri="{FF2B5EF4-FFF2-40B4-BE49-F238E27FC236}">
                    <a16:creationId xmlns:a16="http://schemas.microsoft.com/office/drawing/2014/main" id="{193566FC-3C1B-D189-E1F5-40EBFA67D5F7}"/>
                  </a:ext>
                </a:extLst>
              </p:cNvPr>
              <p:cNvSpPr txBox="1">
                <a:spLocks noRot="1" noChangeAspect="1" noMove="1" noResize="1" noEditPoints="1" noAdjustHandles="1" noChangeArrowheads="1" noChangeShapeType="1" noTextEdit="1"/>
              </p:cNvSpPr>
              <p:nvPr/>
            </p:nvSpPr>
            <p:spPr>
              <a:xfrm>
                <a:off x="8383502" y="4239991"/>
                <a:ext cx="3405373" cy="369332"/>
              </a:xfrm>
              <a:prstGeom prst="rect">
                <a:avLst/>
              </a:prstGeom>
              <a:blipFill>
                <a:blip r:embed="rId5"/>
                <a:stretch>
                  <a:fillRect b="-13333"/>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9" name="文字方塊 18">
                <a:extLst>
                  <a:ext uri="{FF2B5EF4-FFF2-40B4-BE49-F238E27FC236}">
                    <a16:creationId xmlns:a16="http://schemas.microsoft.com/office/drawing/2014/main" id="{D6C2C257-DDC6-68AB-CCBC-BAC4E6E31682}"/>
                  </a:ext>
                </a:extLst>
              </p:cNvPr>
              <p:cNvSpPr txBox="1"/>
              <p:nvPr/>
            </p:nvSpPr>
            <p:spPr>
              <a:xfrm>
                <a:off x="9052096" y="4811956"/>
                <a:ext cx="1681999" cy="63402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i="1" smtClean="0">
                              <a:latin typeface="Cambria Math" panose="02040503050406030204" pitchFamily="18" charset="0"/>
                            </a:rPr>
                          </m:ctrlPr>
                        </m:sSubPr>
                        <m:e>
                          <m:r>
                            <a:rPr lang="en-US" altLang="zh-TW" b="0" i="1" smtClean="0">
                              <a:latin typeface="Cambria Math" panose="02040503050406030204" pitchFamily="18" charset="0"/>
                            </a:rPr>
                            <m:t>𝑎</m:t>
                          </m:r>
                        </m:e>
                        <m:sub>
                          <m:r>
                            <a:rPr lang="en-US" altLang="zh-TW" b="0" i="1" smtClean="0">
                              <a:latin typeface="Cambria Math" panose="02040503050406030204" pitchFamily="18" charset="0"/>
                            </a:rPr>
                            <m:t>𝑘</m:t>
                          </m:r>
                        </m:sub>
                      </m:sSub>
                      <m:r>
                        <a:rPr lang="en-US" altLang="zh-TW" b="0" i="1" smtClean="0">
                          <a:latin typeface="Cambria Math" panose="02040503050406030204" pitchFamily="18" charset="0"/>
                        </a:rPr>
                        <m:t>= </m:t>
                      </m:r>
                      <m:f>
                        <m:fPr>
                          <m:ctrlPr>
                            <a:rPr lang="en-US" altLang="zh-TW" b="0" i="1" smtClean="0">
                              <a:latin typeface="Cambria Math" panose="02040503050406030204" pitchFamily="18" charset="0"/>
                            </a:rPr>
                          </m:ctrlPr>
                        </m:fPr>
                        <m:num>
                          <m:sSubSup>
                            <m:sSubSupPr>
                              <m:ctrlPr>
                                <a:rPr lang="en-US" altLang="zh-TW" b="0" i="1" smtClean="0">
                                  <a:latin typeface="Cambria Math" panose="02040503050406030204" pitchFamily="18" charset="0"/>
                                </a:rPr>
                              </m:ctrlPr>
                            </m:sSubSupPr>
                            <m:e>
                              <m:r>
                                <a:rPr lang="zh-TW" altLang="en-US" b="0" i="1" smtClean="0">
                                  <a:latin typeface="Cambria Math" panose="02040503050406030204" pitchFamily="18" charset="0"/>
                                </a:rPr>
                                <m:t>𝜎</m:t>
                              </m:r>
                            </m:e>
                            <m:sub>
                              <m:r>
                                <a:rPr lang="en-US" altLang="zh-TW" b="0" i="1" smtClean="0">
                                  <a:latin typeface="Cambria Math" panose="02040503050406030204" pitchFamily="18" charset="0"/>
                                </a:rPr>
                                <m:t>𝑘</m:t>
                              </m:r>
                            </m:sub>
                            <m:sup>
                              <m:r>
                                <a:rPr lang="en-US" altLang="zh-TW" b="0" i="1" smtClean="0">
                                  <a:latin typeface="Cambria Math" panose="02040503050406030204" pitchFamily="18" charset="0"/>
                                </a:rPr>
                                <m:t>2</m:t>
                              </m:r>
                            </m:sup>
                          </m:sSubSup>
                          <m:r>
                            <a:rPr lang="en-US" altLang="zh-TW" b="0" i="1" smtClean="0">
                              <a:latin typeface="Cambria Math" panose="02040503050406030204" pitchFamily="18" charset="0"/>
                            </a:rPr>
                            <m:t>(</m:t>
                          </m:r>
                          <m:r>
                            <a:rPr lang="en-US" altLang="zh-TW" b="0" i="1" smtClean="0">
                              <a:latin typeface="Cambria Math" panose="02040503050406030204" pitchFamily="18" charset="0"/>
                            </a:rPr>
                            <m:t>𝑝</m:t>
                          </m:r>
                          <m:r>
                            <a:rPr lang="en-US" altLang="zh-TW" b="0" i="1" smtClean="0">
                              <a:latin typeface="Cambria Math" panose="02040503050406030204" pitchFamily="18" charset="0"/>
                            </a:rPr>
                            <m:t>)</m:t>
                          </m:r>
                        </m:num>
                        <m:den>
                          <m:sSubSup>
                            <m:sSubSupPr>
                              <m:ctrlPr>
                                <a:rPr lang="en-US" altLang="zh-TW" i="1">
                                  <a:latin typeface="Cambria Math" panose="02040503050406030204" pitchFamily="18" charset="0"/>
                                </a:rPr>
                              </m:ctrlPr>
                            </m:sSubSupPr>
                            <m:e>
                              <m:r>
                                <a:rPr lang="zh-TW" altLang="en-US" i="1">
                                  <a:latin typeface="Cambria Math" panose="02040503050406030204" pitchFamily="18" charset="0"/>
                                </a:rPr>
                                <m:t>𝜎</m:t>
                              </m:r>
                            </m:e>
                            <m:sub>
                              <m:r>
                                <a:rPr lang="en-US" altLang="zh-TW" i="1">
                                  <a:latin typeface="Cambria Math" panose="02040503050406030204" pitchFamily="18" charset="0"/>
                                </a:rPr>
                                <m:t>𝑘</m:t>
                              </m:r>
                            </m:sub>
                            <m:sup>
                              <m:r>
                                <a:rPr lang="en-US" altLang="zh-TW" i="1">
                                  <a:latin typeface="Cambria Math" panose="02040503050406030204" pitchFamily="18" charset="0"/>
                                </a:rPr>
                                <m:t>2</m:t>
                              </m:r>
                            </m:sup>
                          </m:sSubSup>
                          <m:d>
                            <m:dPr>
                              <m:ctrlPr>
                                <a:rPr lang="en-US" altLang="zh-TW" i="1">
                                  <a:latin typeface="Cambria Math" panose="02040503050406030204" pitchFamily="18" charset="0"/>
                                </a:rPr>
                              </m:ctrlPr>
                            </m:dPr>
                            <m:e>
                              <m:r>
                                <a:rPr lang="en-US" altLang="zh-TW" i="1">
                                  <a:latin typeface="Cambria Math" panose="02040503050406030204" pitchFamily="18" charset="0"/>
                                </a:rPr>
                                <m:t>𝑝</m:t>
                              </m:r>
                            </m:e>
                          </m:d>
                          <m:r>
                            <a:rPr lang="en-US" altLang="zh-TW" b="0" i="1" smtClean="0">
                              <a:latin typeface="Cambria Math" panose="02040503050406030204" pitchFamily="18" charset="0"/>
                            </a:rPr>
                            <m:t>+ </m:t>
                          </m:r>
                          <m:r>
                            <a:rPr lang="zh-TW" altLang="en-US" b="0" i="1" smtClean="0">
                              <a:latin typeface="Cambria Math" panose="02040503050406030204" pitchFamily="18" charset="0"/>
                            </a:rPr>
                            <m:t>𝜖</m:t>
                          </m:r>
                        </m:den>
                      </m:f>
                    </m:oMath>
                  </m:oMathPara>
                </a14:m>
                <a:endParaRPr lang="zh-TW" altLang="en-US" dirty="0"/>
              </a:p>
            </p:txBody>
          </p:sp>
        </mc:Choice>
        <mc:Fallback xmlns="">
          <p:sp>
            <p:nvSpPr>
              <p:cNvPr id="19" name="文字方塊 18">
                <a:extLst>
                  <a:ext uri="{FF2B5EF4-FFF2-40B4-BE49-F238E27FC236}">
                    <a16:creationId xmlns:a16="http://schemas.microsoft.com/office/drawing/2014/main" id="{D6C2C257-DDC6-68AB-CCBC-BAC4E6E31682}"/>
                  </a:ext>
                </a:extLst>
              </p:cNvPr>
              <p:cNvSpPr txBox="1">
                <a:spLocks noRot="1" noChangeAspect="1" noMove="1" noResize="1" noEditPoints="1" noAdjustHandles="1" noChangeArrowheads="1" noChangeShapeType="1" noTextEdit="1"/>
              </p:cNvSpPr>
              <p:nvPr/>
            </p:nvSpPr>
            <p:spPr>
              <a:xfrm>
                <a:off x="9052096" y="4811956"/>
                <a:ext cx="1681999" cy="634020"/>
              </a:xfrm>
              <a:prstGeom prst="rect">
                <a:avLst/>
              </a:prstGeom>
              <a:blipFill>
                <a:blip r:embed="rId6"/>
                <a:stretch>
                  <a:fillRect/>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288969052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D810528-0E75-ED9D-06D0-EA16137A9D16}"/>
              </a:ext>
            </a:extLst>
          </p:cNvPr>
          <p:cNvSpPr>
            <a:spLocks noGrp="1"/>
          </p:cNvSpPr>
          <p:nvPr>
            <p:ph type="title"/>
          </p:nvPr>
        </p:nvSpPr>
        <p:spPr>
          <a:xfrm>
            <a:off x="643387" y="353049"/>
            <a:ext cx="10904599" cy="1596177"/>
          </a:xfrm>
        </p:spPr>
        <p:txBody>
          <a:bodyPr/>
          <a:lstStyle/>
          <a:p>
            <a:r>
              <a:rPr lang="en-US" altLang="zh-TW" cap="none" dirty="0">
                <a:latin typeface="Calibri" panose="020F0502020204030204" pitchFamily="34" charset="0"/>
                <a:ea typeface="Calibri" panose="020F0502020204030204" pitchFamily="34" charset="0"/>
                <a:cs typeface="Calibri" panose="020F0502020204030204" pitchFamily="34" charset="0"/>
              </a:rPr>
              <a:t>Edge-Preserving Smoothing-Sharpening Self-Guided Filter</a:t>
            </a:r>
            <a:endParaRPr lang="zh-TW" altLang="en-US" cap="none" dirty="0">
              <a:latin typeface="Calibri" panose="020F0502020204030204" pitchFamily="34" charset="0"/>
              <a:cs typeface="Calibri" panose="020F0502020204030204" pitchFamily="34" charset="0"/>
            </a:endParaRPr>
          </a:p>
        </p:txBody>
      </p:sp>
      <p:sp>
        <p:nvSpPr>
          <p:cNvPr id="3" name="內容版面配置區 2">
            <a:extLst>
              <a:ext uri="{FF2B5EF4-FFF2-40B4-BE49-F238E27FC236}">
                <a16:creationId xmlns:a16="http://schemas.microsoft.com/office/drawing/2014/main" id="{7D1D7D63-EA83-98A5-794D-E87AA5DADB82}"/>
              </a:ext>
            </a:extLst>
          </p:cNvPr>
          <p:cNvSpPr>
            <a:spLocks noGrp="1"/>
          </p:cNvSpPr>
          <p:nvPr>
            <p:ph sz="quarter" idx="13"/>
          </p:nvPr>
        </p:nvSpPr>
        <p:spPr>
          <a:xfrm>
            <a:off x="756456" y="1836150"/>
            <a:ext cx="10363826" cy="3424107"/>
          </a:xfrm>
        </p:spPr>
        <p:txBody>
          <a:bodyPr/>
          <a:lstStyle/>
          <a:p>
            <a:r>
              <a:rPr lang="en-US" altLang="zh-TW" cap="none" dirty="0"/>
              <a:t>For every filter, there are four parameters to decide: </a:t>
            </a:r>
            <a:r>
              <a:rPr lang="en-US" altLang="zh-TW" u="sng" cap="none" dirty="0"/>
              <a:t>patch radius, kappa, epsilon, and scale</a:t>
            </a:r>
          </a:p>
          <a:p>
            <a:pPr marL="0" indent="0">
              <a:buNone/>
            </a:pPr>
            <a:endParaRPr lang="en-US" altLang="zh-TW" u="sng" cap="none" dirty="0"/>
          </a:p>
          <a:p>
            <a:pPr marL="0" indent="0">
              <a:buNone/>
            </a:pPr>
            <a:endParaRPr lang="zh-TW" altLang="en-US" cap="none" dirty="0"/>
          </a:p>
        </p:txBody>
      </p:sp>
      <mc:AlternateContent xmlns:mc="http://schemas.openxmlformats.org/markup-compatibility/2006" xmlns:a14="http://schemas.microsoft.com/office/drawing/2010/main">
        <mc:Choice Requires="a14">
          <p:sp>
            <p:nvSpPr>
              <p:cNvPr id="4" name="文字方塊 3">
                <a:extLst>
                  <a:ext uri="{FF2B5EF4-FFF2-40B4-BE49-F238E27FC236}">
                    <a16:creationId xmlns:a16="http://schemas.microsoft.com/office/drawing/2014/main" id="{C5D0CE01-500A-E89F-12D1-4A35BC56B400}"/>
                  </a:ext>
                </a:extLst>
              </p:cNvPr>
              <p:cNvSpPr txBox="1"/>
              <p:nvPr/>
            </p:nvSpPr>
            <p:spPr>
              <a:xfrm>
                <a:off x="756456" y="2485599"/>
                <a:ext cx="4254691" cy="77886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rPr>
                        <m:t>𝐽</m:t>
                      </m:r>
                      <m:d>
                        <m:dPr>
                          <m:ctrlPr>
                            <a:rPr lang="en-US" altLang="zh-TW" b="0" i="1" smtClean="0">
                              <a:latin typeface="Cambria Math" panose="02040503050406030204" pitchFamily="18" charset="0"/>
                            </a:rPr>
                          </m:ctrlPr>
                        </m:dPr>
                        <m:e>
                          <m:r>
                            <a:rPr lang="en-US" altLang="zh-TW" b="0" i="1" smtClean="0">
                              <a:latin typeface="Cambria Math" panose="02040503050406030204" pitchFamily="18" charset="0"/>
                            </a:rPr>
                            <m:t>𝑝</m:t>
                          </m:r>
                        </m:e>
                      </m:d>
                      <m:r>
                        <a:rPr lang="en-US" altLang="zh-TW" b="0" i="1" smtClean="0">
                          <a:latin typeface="Cambria Math" panose="02040503050406030204" pitchFamily="18" charset="0"/>
                        </a:rPr>
                        <m:t>=</m:t>
                      </m:r>
                      <m:r>
                        <a:rPr lang="en-US" altLang="zh-TW" b="0" i="1" smtClean="0">
                          <a:latin typeface="Cambria Math" panose="02040503050406030204" pitchFamily="18" charset="0"/>
                        </a:rPr>
                        <m:t>𝐼</m:t>
                      </m:r>
                      <m:d>
                        <m:dPr>
                          <m:ctrlPr>
                            <a:rPr lang="en-US" altLang="zh-TW" b="0" i="1" smtClean="0">
                              <a:latin typeface="Cambria Math" panose="02040503050406030204" pitchFamily="18" charset="0"/>
                            </a:rPr>
                          </m:ctrlPr>
                        </m:dPr>
                        <m:e>
                          <m:r>
                            <a:rPr lang="en-US" altLang="zh-TW" b="0" i="1" smtClean="0">
                              <a:latin typeface="Cambria Math" panose="02040503050406030204" pitchFamily="18" charset="0"/>
                            </a:rPr>
                            <m:t>𝑝</m:t>
                          </m:r>
                        </m:e>
                      </m:d>
                      <m:nary>
                        <m:naryPr>
                          <m:chr m:val="∑"/>
                          <m:ctrlPr>
                            <a:rPr lang="en-US" altLang="zh-TW" b="0" i="1" smtClean="0">
                              <a:latin typeface="Cambria Math" panose="02040503050406030204" pitchFamily="18" charset="0"/>
                            </a:rPr>
                          </m:ctrlPr>
                        </m:naryPr>
                        <m:sub>
                          <m:r>
                            <m:rPr>
                              <m:brk m:alnAt="23"/>
                            </m:rPr>
                            <a:rPr lang="en-US" altLang="zh-TW" b="0" i="1" smtClean="0">
                              <a:latin typeface="Cambria Math" panose="02040503050406030204" pitchFamily="18" charset="0"/>
                            </a:rPr>
                            <m:t>𝑘</m:t>
                          </m:r>
                          <m:r>
                            <a:rPr lang="en-US" altLang="zh-TW" b="0" i="1" smtClean="0">
                              <a:latin typeface="Cambria Math" panose="02040503050406030204" pitchFamily="18" charset="0"/>
                            </a:rPr>
                            <m:t>=1</m:t>
                          </m:r>
                        </m:sub>
                        <m:sup>
                          <m:r>
                            <a:rPr lang="en-US" altLang="zh-TW" b="0" i="1" smtClean="0">
                              <a:latin typeface="Cambria Math" panose="02040503050406030204" pitchFamily="18" charset="0"/>
                            </a:rPr>
                            <m:t>𝑁</m:t>
                          </m:r>
                        </m:sup>
                        <m:e>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𝑤</m:t>
                              </m:r>
                            </m:e>
                            <m:sub>
                              <m:r>
                                <a:rPr lang="en-US" altLang="zh-TW" b="0" i="1" smtClean="0">
                                  <a:latin typeface="Cambria Math" panose="02040503050406030204" pitchFamily="18" charset="0"/>
                                </a:rPr>
                                <m:t>𝑘</m:t>
                              </m:r>
                            </m:sub>
                          </m:sSub>
                          <m:sSub>
                            <m:sSubPr>
                              <m:ctrlPr>
                                <a:rPr lang="en-US" altLang="zh-TW" b="0" i="1" smtClean="0">
                                  <a:latin typeface="Cambria Math" panose="02040503050406030204" pitchFamily="18" charset="0"/>
                                </a:rPr>
                              </m:ctrlPr>
                            </m:sSubPr>
                            <m:e>
                              <m:r>
                                <a:rPr lang="zh-TW" altLang="en-US" b="0" i="1" smtClean="0">
                                  <a:latin typeface="Cambria Math" panose="02040503050406030204" pitchFamily="18" charset="0"/>
                                </a:rPr>
                                <m:t>𝛼</m:t>
                              </m:r>
                            </m:e>
                            <m:sub>
                              <m:r>
                                <a:rPr lang="en-US" altLang="zh-TW" b="0" i="1" smtClean="0">
                                  <a:latin typeface="Cambria Math" panose="02040503050406030204" pitchFamily="18" charset="0"/>
                                </a:rPr>
                                <m:t>𝑘</m:t>
                              </m:r>
                            </m:sub>
                          </m:sSub>
                          <m:r>
                            <a:rPr lang="en-US" altLang="zh-TW" b="0" i="1" smtClean="0">
                              <a:latin typeface="Cambria Math" panose="02040503050406030204" pitchFamily="18" charset="0"/>
                            </a:rPr>
                            <m:t>+</m:t>
                          </m:r>
                          <m:nary>
                            <m:naryPr>
                              <m:chr m:val="∑"/>
                              <m:ctrlPr>
                                <a:rPr lang="en-US" altLang="zh-TW" i="1">
                                  <a:latin typeface="Cambria Math" panose="02040503050406030204" pitchFamily="18" charset="0"/>
                                </a:rPr>
                              </m:ctrlPr>
                            </m:naryPr>
                            <m:sub>
                              <m:r>
                                <m:rPr>
                                  <m:brk m:alnAt="23"/>
                                </m:rPr>
                                <a:rPr lang="en-US" altLang="zh-TW" i="1">
                                  <a:latin typeface="Cambria Math" panose="02040503050406030204" pitchFamily="18" charset="0"/>
                                </a:rPr>
                                <m:t>𝑘</m:t>
                              </m:r>
                              <m:r>
                                <a:rPr lang="en-US" altLang="zh-TW" i="1">
                                  <a:latin typeface="Cambria Math" panose="02040503050406030204" pitchFamily="18" charset="0"/>
                                </a:rPr>
                                <m:t>=1</m:t>
                              </m:r>
                            </m:sub>
                            <m:sup>
                              <m:r>
                                <a:rPr lang="en-US" altLang="zh-TW" i="1">
                                  <a:latin typeface="Cambria Math" panose="02040503050406030204" pitchFamily="18" charset="0"/>
                                </a:rPr>
                                <m:t>𝑁</m:t>
                              </m:r>
                            </m:sup>
                            <m:e>
                              <m:sSub>
                                <m:sSubPr>
                                  <m:ctrlPr>
                                    <a:rPr lang="en-US" altLang="zh-TW" i="1">
                                      <a:latin typeface="Cambria Math" panose="02040503050406030204" pitchFamily="18" charset="0"/>
                                    </a:rPr>
                                  </m:ctrlPr>
                                </m:sSubPr>
                                <m:e>
                                  <m:r>
                                    <a:rPr lang="en-US" altLang="zh-TW" i="1">
                                      <a:latin typeface="Cambria Math" panose="02040503050406030204" pitchFamily="18" charset="0"/>
                                    </a:rPr>
                                    <m:t>𝑤</m:t>
                                  </m:r>
                                </m:e>
                                <m:sub>
                                  <m:r>
                                    <a:rPr lang="en-US" altLang="zh-TW" i="1">
                                      <a:latin typeface="Cambria Math" panose="02040503050406030204" pitchFamily="18" charset="0"/>
                                    </a:rPr>
                                    <m:t>𝑘</m:t>
                                  </m:r>
                                </m:sub>
                              </m:sSub>
                              <m:d>
                                <m:dPr>
                                  <m:ctrlPr>
                                    <a:rPr lang="en-US" altLang="zh-TW" b="0" i="1" smtClean="0">
                                      <a:latin typeface="Cambria Math" panose="02040503050406030204" pitchFamily="18" charset="0"/>
                                    </a:rPr>
                                  </m:ctrlPr>
                                </m:dPr>
                                <m:e>
                                  <m:sSub>
                                    <m:sSubPr>
                                      <m:ctrlPr>
                                        <a:rPr lang="en-US" altLang="zh-TW" i="1">
                                          <a:latin typeface="Cambria Math" panose="02040503050406030204" pitchFamily="18" charset="0"/>
                                        </a:rPr>
                                      </m:ctrlPr>
                                    </m:sSubPr>
                                    <m:e>
                                      <m:r>
                                        <a:rPr lang="en-US" altLang="zh-TW" b="0" i="1" smtClean="0">
                                          <a:latin typeface="Cambria Math" panose="02040503050406030204" pitchFamily="18" charset="0"/>
                                        </a:rPr>
                                        <m:t>1 − </m:t>
                                      </m:r>
                                      <m:r>
                                        <a:rPr lang="zh-TW" altLang="en-US" i="1">
                                          <a:latin typeface="Cambria Math" panose="02040503050406030204" pitchFamily="18" charset="0"/>
                                        </a:rPr>
                                        <m:t>𝛼</m:t>
                                      </m:r>
                                    </m:e>
                                    <m:sub>
                                      <m:r>
                                        <a:rPr lang="en-US" altLang="zh-TW" i="1">
                                          <a:latin typeface="Cambria Math" panose="02040503050406030204" pitchFamily="18" charset="0"/>
                                        </a:rPr>
                                        <m:t>𝑘</m:t>
                                      </m:r>
                                    </m:sub>
                                  </m:sSub>
                                </m:e>
                              </m:d>
                              <m:sSub>
                                <m:sSubPr>
                                  <m:ctrlPr>
                                    <a:rPr lang="en-US" altLang="zh-TW" b="0" i="1" smtClean="0">
                                      <a:latin typeface="Cambria Math" panose="02040503050406030204" pitchFamily="18" charset="0"/>
                                    </a:rPr>
                                  </m:ctrlPr>
                                </m:sSubPr>
                                <m:e>
                                  <m:r>
                                    <a:rPr lang="zh-TW" altLang="en-US" b="0" i="1" smtClean="0">
                                      <a:latin typeface="Cambria Math" panose="02040503050406030204" pitchFamily="18" charset="0"/>
                                    </a:rPr>
                                    <m:t>𝜇</m:t>
                                  </m:r>
                                </m:e>
                                <m:sub>
                                  <m:r>
                                    <a:rPr lang="en-US" altLang="zh-TW" b="0" i="1" smtClean="0">
                                      <a:latin typeface="Cambria Math" panose="02040503050406030204" pitchFamily="18" charset="0"/>
                                    </a:rPr>
                                    <m:t>𝑘</m:t>
                                  </m:r>
                                </m:sub>
                              </m:sSub>
                            </m:e>
                          </m:nary>
                        </m:e>
                      </m:nary>
                    </m:oMath>
                  </m:oMathPara>
                </a14:m>
                <a:endParaRPr lang="en-US" altLang="zh-TW" b="0" dirty="0"/>
              </a:p>
            </p:txBody>
          </p:sp>
        </mc:Choice>
        <mc:Fallback xmlns="">
          <p:sp>
            <p:nvSpPr>
              <p:cNvPr id="4" name="文字方塊 3">
                <a:extLst>
                  <a:ext uri="{FF2B5EF4-FFF2-40B4-BE49-F238E27FC236}">
                    <a16:creationId xmlns:a16="http://schemas.microsoft.com/office/drawing/2014/main" id="{C5D0CE01-500A-E89F-12D1-4A35BC56B400}"/>
                  </a:ext>
                </a:extLst>
              </p:cNvPr>
              <p:cNvSpPr txBox="1">
                <a:spLocks noRot="1" noChangeAspect="1" noMove="1" noResize="1" noEditPoints="1" noAdjustHandles="1" noChangeArrowheads="1" noChangeShapeType="1" noTextEdit="1"/>
              </p:cNvSpPr>
              <p:nvPr/>
            </p:nvSpPr>
            <p:spPr>
              <a:xfrm>
                <a:off x="756456" y="2485599"/>
                <a:ext cx="4254691" cy="778868"/>
              </a:xfrm>
              <a:prstGeom prst="rect">
                <a:avLst/>
              </a:prstGeom>
              <a:blipFill>
                <a:blip r:embed="rId2"/>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5" name="文字方塊 4">
                <a:extLst>
                  <a:ext uri="{FF2B5EF4-FFF2-40B4-BE49-F238E27FC236}">
                    <a16:creationId xmlns:a16="http://schemas.microsoft.com/office/drawing/2014/main" id="{38252D0A-1052-35AF-E668-A5AE67FF45E1}"/>
                  </a:ext>
                </a:extLst>
              </p:cNvPr>
              <p:cNvSpPr txBox="1"/>
              <p:nvPr/>
            </p:nvSpPr>
            <p:spPr>
              <a:xfrm>
                <a:off x="5415992" y="2613398"/>
                <a:ext cx="2685789" cy="86036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altLang="zh-TW" i="1" cap="none" smtClean="0">
                              <a:latin typeface="Cambria Math" panose="02040503050406030204" pitchFamily="18" charset="0"/>
                            </a:rPr>
                          </m:ctrlPr>
                        </m:sSubPr>
                        <m:e>
                          <m:r>
                            <a:rPr lang="en-US" altLang="zh-TW" b="0" i="1" cap="none" smtClean="0">
                              <a:latin typeface="Cambria Math" panose="02040503050406030204" pitchFamily="18" charset="0"/>
                            </a:rPr>
                            <m:t>𝑤</m:t>
                          </m:r>
                        </m:e>
                        <m:sub>
                          <m:r>
                            <a:rPr lang="en-US" altLang="zh-TW" b="0" i="1" cap="none" smtClean="0">
                              <a:latin typeface="Cambria Math" panose="02040503050406030204" pitchFamily="18" charset="0"/>
                            </a:rPr>
                            <m:t>𝑘</m:t>
                          </m:r>
                        </m:sub>
                      </m:sSub>
                      <m:r>
                        <a:rPr lang="en-US" altLang="zh-TW" b="0" i="1" cap="none" smtClean="0">
                          <a:latin typeface="Cambria Math" panose="02040503050406030204" pitchFamily="18" charset="0"/>
                        </a:rPr>
                        <m:t>= </m:t>
                      </m:r>
                      <m:f>
                        <m:fPr>
                          <m:ctrlPr>
                            <a:rPr lang="en-US" altLang="zh-TW" b="0" i="1" cap="none" smtClean="0">
                              <a:latin typeface="Cambria Math" panose="02040503050406030204" pitchFamily="18" charset="0"/>
                            </a:rPr>
                          </m:ctrlPr>
                        </m:fPr>
                        <m:num>
                          <m:sSub>
                            <m:sSubPr>
                              <m:ctrlPr>
                                <a:rPr lang="en-US" altLang="zh-TW" b="0" i="1" cap="none" smtClean="0">
                                  <a:latin typeface="Cambria Math" panose="02040503050406030204" pitchFamily="18" charset="0"/>
                                </a:rPr>
                              </m:ctrlPr>
                            </m:sSubPr>
                            <m:e>
                              <m:r>
                                <a:rPr lang="en-US" altLang="zh-TW" b="0" i="1" cap="none" smtClean="0">
                                  <a:latin typeface="Cambria Math" panose="02040503050406030204" pitchFamily="18" charset="0"/>
                                </a:rPr>
                                <m:t>𝑐</m:t>
                              </m:r>
                            </m:e>
                            <m:sub>
                              <m:r>
                                <a:rPr lang="en-US" altLang="zh-TW" b="0" i="1" cap="none" smtClean="0">
                                  <a:latin typeface="Cambria Math" panose="02040503050406030204" pitchFamily="18" charset="0"/>
                                </a:rPr>
                                <m:t>𝑘</m:t>
                              </m:r>
                            </m:sub>
                          </m:sSub>
                        </m:num>
                        <m:den>
                          <m:r>
                            <a:rPr lang="en-US" altLang="zh-TW" b="0" i="1" cap="none" smtClean="0">
                              <a:latin typeface="Cambria Math" panose="02040503050406030204" pitchFamily="18" charset="0"/>
                            </a:rPr>
                            <m:t>1+</m:t>
                          </m:r>
                          <m:f>
                            <m:fPr>
                              <m:ctrlPr>
                                <a:rPr lang="en-US" altLang="zh-TW" b="0" i="1" cap="none" smtClean="0">
                                  <a:latin typeface="Cambria Math" panose="02040503050406030204" pitchFamily="18" charset="0"/>
                                </a:rPr>
                              </m:ctrlPr>
                            </m:fPr>
                            <m:num>
                              <m:sSubSup>
                                <m:sSubSupPr>
                                  <m:ctrlPr>
                                    <a:rPr lang="en-US" altLang="zh-TW" b="0" i="1" cap="none" smtClean="0">
                                      <a:latin typeface="Cambria Math" panose="02040503050406030204" pitchFamily="18" charset="0"/>
                                    </a:rPr>
                                  </m:ctrlPr>
                                </m:sSubSupPr>
                                <m:e>
                                  <m:r>
                                    <a:rPr lang="zh-TW" altLang="en-US" b="0" i="1" cap="none" smtClean="0">
                                      <a:latin typeface="Cambria Math" panose="02040503050406030204" pitchFamily="18" charset="0"/>
                                    </a:rPr>
                                    <m:t>𝜎</m:t>
                                  </m:r>
                                </m:e>
                                <m:sub>
                                  <m:r>
                                    <a:rPr lang="en-US" altLang="zh-TW" b="0" i="1" cap="none" smtClean="0">
                                      <a:latin typeface="Cambria Math" panose="02040503050406030204" pitchFamily="18" charset="0"/>
                                    </a:rPr>
                                    <m:t>𝑘</m:t>
                                  </m:r>
                                </m:sub>
                                <m:sup>
                                  <m:r>
                                    <a:rPr lang="en-US" altLang="zh-TW" b="0" i="1" cap="none" smtClean="0">
                                      <a:latin typeface="Cambria Math" panose="02040503050406030204" pitchFamily="18" charset="0"/>
                                    </a:rPr>
                                    <m:t>2</m:t>
                                  </m:r>
                                </m:sup>
                              </m:sSubSup>
                            </m:num>
                            <m:den>
                              <m:r>
                                <a:rPr lang="en-US" altLang="zh-TW" b="0" i="1" cap="none" smtClean="0">
                                  <a:latin typeface="Cambria Math" panose="02040503050406030204" pitchFamily="18" charset="0"/>
                                </a:rPr>
                                <m:t>𝑠𝑐𝑎𝑙𝑒</m:t>
                              </m:r>
                              <m:r>
                                <a:rPr lang="en-US" altLang="zh-TW" b="0" i="1" cap="none" smtClean="0">
                                  <a:latin typeface="Cambria Math" panose="02040503050406030204" pitchFamily="18" charset="0"/>
                                </a:rPr>
                                <m:t> ∗</m:t>
                              </m:r>
                              <m:sSup>
                                <m:sSupPr>
                                  <m:ctrlPr>
                                    <a:rPr lang="en-US" altLang="zh-TW" b="0" i="1" cap="none" smtClean="0">
                                      <a:latin typeface="Cambria Math" panose="02040503050406030204" pitchFamily="18" charset="0"/>
                                    </a:rPr>
                                  </m:ctrlPr>
                                </m:sSupPr>
                                <m:e>
                                  <m:acc>
                                    <m:accPr>
                                      <m:chr m:val="̅"/>
                                      <m:ctrlPr>
                                        <a:rPr lang="en-US" altLang="zh-TW" b="0" i="1" cap="none" smtClean="0">
                                          <a:latin typeface="Cambria Math" panose="02040503050406030204" pitchFamily="18" charset="0"/>
                                        </a:rPr>
                                      </m:ctrlPr>
                                    </m:accPr>
                                    <m:e>
                                      <m:r>
                                        <a:rPr lang="zh-TW" altLang="en-US" b="0" i="1" cap="none" smtClean="0">
                                          <a:latin typeface="Cambria Math" panose="02040503050406030204" pitchFamily="18" charset="0"/>
                                        </a:rPr>
                                        <m:t>𝜎</m:t>
                                      </m:r>
                                    </m:e>
                                  </m:acc>
                                </m:e>
                                <m:sup>
                                  <m:r>
                                    <a:rPr lang="en-US" altLang="zh-TW" b="0" i="1" cap="none" smtClean="0">
                                      <a:latin typeface="Cambria Math" panose="02040503050406030204" pitchFamily="18" charset="0"/>
                                    </a:rPr>
                                    <m:t>2</m:t>
                                  </m:r>
                                </m:sup>
                              </m:sSup>
                            </m:den>
                          </m:f>
                        </m:den>
                      </m:f>
                    </m:oMath>
                  </m:oMathPara>
                </a14:m>
                <a:endParaRPr lang="zh-TW" altLang="en-US" dirty="0"/>
              </a:p>
            </p:txBody>
          </p:sp>
        </mc:Choice>
        <mc:Fallback xmlns="">
          <p:sp>
            <p:nvSpPr>
              <p:cNvPr id="5" name="文字方塊 4">
                <a:extLst>
                  <a:ext uri="{FF2B5EF4-FFF2-40B4-BE49-F238E27FC236}">
                    <a16:creationId xmlns:a16="http://schemas.microsoft.com/office/drawing/2014/main" id="{38252D0A-1052-35AF-E668-A5AE67FF45E1}"/>
                  </a:ext>
                </a:extLst>
              </p:cNvPr>
              <p:cNvSpPr txBox="1">
                <a:spLocks noRot="1" noChangeAspect="1" noMove="1" noResize="1" noEditPoints="1" noAdjustHandles="1" noChangeArrowheads="1" noChangeShapeType="1" noTextEdit="1"/>
              </p:cNvSpPr>
              <p:nvPr/>
            </p:nvSpPr>
            <p:spPr>
              <a:xfrm>
                <a:off x="5415992" y="2613398"/>
                <a:ext cx="2685789" cy="860364"/>
              </a:xfrm>
              <a:prstGeom prst="rect">
                <a:avLst/>
              </a:prstGeom>
              <a:blipFill>
                <a:blip r:embed="rId3"/>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6" name="文字方塊 5">
                <a:extLst>
                  <a:ext uri="{FF2B5EF4-FFF2-40B4-BE49-F238E27FC236}">
                    <a16:creationId xmlns:a16="http://schemas.microsoft.com/office/drawing/2014/main" id="{279132D0-FDF9-8F18-AF8C-4F4D9B5242FF}"/>
                  </a:ext>
                </a:extLst>
              </p:cNvPr>
              <p:cNvSpPr txBox="1"/>
              <p:nvPr/>
            </p:nvSpPr>
            <p:spPr>
              <a:xfrm>
                <a:off x="8917148" y="2649111"/>
                <a:ext cx="1771389" cy="610936"/>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altLang="zh-TW" i="1" cap="none" smtClean="0">
                              <a:solidFill>
                                <a:srgbClr val="002060"/>
                              </a:solidFill>
                              <a:latin typeface="Cambria Math" panose="02040503050406030204" pitchFamily="18" charset="0"/>
                            </a:rPr>
                          </m:ctrlPr>
                        </m:sSubPr>
                        <m:e>
                          <m:r>
                            <a:rPr lang="en-US" altLang="zh-TW" b="0" i="1" cap="none" smtClean="0">
                              <a:solidFill>
                                <a:srgbClr val="002060"/>
                              </a:solidFill>
                              <a:latin typeface="Cambria Math" panose="02040503050406030204" pitchFamily="18" charset="0"/>
                            </a:rPr>
                            <m:t>𝑤</m:t>
                          </m:r>
                        </m:e>
                        <m:sub>
                          <m:r>
                            <a:rPr lang="en-US" altLang="zh-TW" b="0" i="1" cap="none" smtClean="0">
                              <a:solidFill>
                                <a:srgbClr val="002060"/>
                              </a:solidFill>
                              <a:latin typeface="Cambria Math" panose="02040503050406030204" pitchFamily="18" charset="0"/>
                            </a:rPr>
                            <m:t>𝑘</m:t>
                          </m:r>
                        </m:sub>
                      </m:sSub>
                      <m:r>
                        <a:rPr lang="en-US" altLang="zh-TW" b="0" i="1" cap="none" smtClean="0">
                          <a:solidFill>
                            <a:srgbClr val="002060"/>
                          </a:solidFill>
                          <a:latin typeface="Cambria Math" panose="02040503050406030204" pitchFamily="18" charset="0"/>
                        </a:rPr>
                        <m:t>=</m:t>
                      </m:r>
                      <m:f>
                        <m:fPr>
                          <m:ctrlPr>
                            <a:rPr lang="en-US" altLang="zh-TW" b="0" i="1" cap="none" smtClean="0">
                              <a:solidFill>
                                <a:srgbClr val="002060"/>
                              </a:solidFill>
                              <a:latin typeface="Cambria Math" panose="02040503050406030204" pitchFamily="18" charset="0"/>
                            </a:rPr>
                          </m:ctrlPr>
                        </m:fPr>
                        <m:num>
                          <m:r>
                            <a:rPr lang="en-US" altLang="zh-TW" b="0" i="1" cap="none" smtClean="0">
                              <a:solidFill>
                                <a:srgbClr val="002060"/>
                              </a:solidFill>
                              <a:latin typeface="Cambria Math" panose="02040503050406030204" pitchFamily="18" charset="0"/>
                            </a:rPr>
                            <m:t>1</m:t>
                          </m:r>
                        </m:num>
                        <m:den>
                          <m:r>
                            <a:rPr lang="en-US" altLang="zh-TW" b="0" i="1" cap="none" smtClean="0">
                              <a:solidFill>
                                <a:srgbClr val="002060"/>
                              </a:solidFill>
                              <a:latin typeface="Cambria Math" panose="02040503050406030204" pitchFamily="18" charset="0"/>
                            </a:rPr>
                            <m:t>𝑁</m:t>
                          </m:r>
                        </m:den>
                      </m:f>
                    </m:oMath>
                  </m:oMathPara>
                </a14:m>
                <a:endParaRPr lang="zh-TW" altLang="en-US" dirty="0"/>
              </a:p>
            </p:txBody>
          </p:sp>
        </mc:Choice>
        <mc:Fallback xmlns="">
          <p:sp>
            <p:nvSpPr>
              <p:cNvPr id="6" name="文字方塊 5">
                <a:extLst>
                  <a:ext uri="{FF2B5EF4-FFF2-40B4-BE49-F238E27FC236}">
                    <a16:creationId xmlns:a16="http://schemas.microsoft.com/office/drawing/2014/main" id="{279132D0-FDF9-8F18-AF8C-4F4D9B5242FF}"/>
                  </a:ext>
                </a:extLst>
              </p:cNvPr>
              <p:cNvSpPr txBox="1">
                <a:spLocks noRot="1" noChangeAspect="1" noMove="1" noResize="1" noEditPoints="1" noAdjustHandles="1" noChangeArrowheads="1" noChangeShapeType="1" noTextEdit="1"/>
              </p:cNvSpPr>
              <p:nvPr/>
            </p:nvSpPr>
            <p:spPr>
              <a:xfrm>
                <a:off x="8917148" y="2649111"/>
                <a:ext cx="1771389" cy="610936"/>
              </a:xfrm>
              <a:prstGeom prst="rect">
                <a:avLst/>
              </a:prstGeom>
              <a:blipFill>
                <a:blip r:embed="rId4"/>
                <a:stretch>
                  <a:fillRect/>
                </a:stretch>
              </a:blipFill>
            </p:spPr>
            <p:txBody>
              <a:bodyPr/>
              <a:lstStyle/>
              <a:p>
                <a:r>
                  <a:rPr lang="zh-TW" altLang="en-US">
                    <a:noFill/>
                  </a:rPr>
                  <a:t> </a:t>
                </a:r>
              </a:p>
            </p:txBody>
          </p:sp>
        </mc:Fallback>
      </mc:AlternateContent>
      <p:cxnSp>
        <p:nvCxnSpPr>
          <p:cNvPr id="8" name="直線單箭頭接點 7">
            <a:extLst>
              <a:ext uri="{FF2B5EF4-FFF2-40B4-BE49-F238E27FC236}">
                <a16:creationId xmlns:a16="http://schemas.microsoft.com/office/drawing/2014/main" id="{6B48B8E4-8FC9-2B10-12A4-9DCCADB91217}"/>
              </a:ext>
            </a:extLst>
          </p:cNvPr>
          <p:cNvCxnSpPr/>
          <p:nvPr/>
        </p:nvCxnSpPr>
        <p:spPr>
          <a:xfrm>
            <a:off x="8101781" y="3031940"/>
            <a:ext cx="1061884"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9" name="文字方塊 8">
                <a:extLst>
                  <a:ext uri="{FF2B5EF4-FFF2-40B4-BE49-F238E27FC236}">
                    <a16:creationId xmlns:a16="http://schemas.microsoft.com/office/drawing/2014/main" id="{9A8CE10F-85CD-FC03-98DD-82549B4796E2}"/>
                  </a:ext>
                </a:extLst>
              </p:cNvPr>
              <p:cNvSpPr txBox="1"/>
              <p:nvPr/>
            </p:nvSpPr>
            <p:spPr>
              <a:xfrm>
                <a:off x="0" y="3436018"/>
                <a:ext cx="5751872" cy="114819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TW" b="1" i="1" smtClean="0">
                          <a:latin typeface="Cambria Math" panose="02040503050406030204" pitchFamily="18" charset="0"/>
                        </a:rPr>
                        <m:t>𝑱</m:t>
                      </m:r>
                      <m:d>
                        <m:dPr>
                          <m:ctrlPr>
                            <a:rPr lang="en-US" altLang="zh-TW" b="1" i="1" smtClean="0">
                              <a:latin typeface="Cambria Math" panose="02040503050406030204" pitchFamily="18" charset="0"/>
                            </a:rPr>
                          </m:ctrlPr>
                        </m:dPr>
                        <m:e>
                          <m:r>
                            <a:rPr lang="en-US" altLang="zh-TW" b="1" i="1" smtClean="0">
                              <a:latin typeface="Cambria Math" panose="02040503050406030204" pitchFamily="18" charset="0"/>
                            </a:rPr>
                            <m:t>𝒑</m:t>
                          </m:r>
                        </m:e>
                      </m:d>
                      <m:r>
                        <a:rPr lang="en-US" altLang="zh-TW" b="1" i="1" smtClean="0">
                          <a:latin typeface="Cambria Math" panose="02040503050406030204" pitchFamily="18" charset="0"/>
                        </a:rPr>
                        <m:t>= </m:t>
                      </m:r>
                      <m:r>
                        <a:rPr lang="en-US" altLang="zh-TW" b="1" i="1" smtClean="0">
                          <a:latin typeface="Cambria Math" panose="02040503050406030204" pitchFamily="18" charset="0"/>
                        </a:rPr>
                        <m:t>𝑰</m:t>
                      </m:r>
                      <m:d>
                        <m:dPr>
                          <m:ctrlPr>
                            <a:rPr lang="en-US" altLang="zh-TW" b="1" i="1" smtClean="0">
                              <a:latin typeface="Cambria Math" panose="02040503050406030204" pitchFamily="18" charset="0"/>
                            </a:rPr>
                          </m:ctrlPr>
                        </m:dPr>
                        <m:e>
                          <m:r>
                            <a:rPr lang="en-US" altLang="zh-TW" b="1" i="1" smtClean="0">
                              <a:latin typeface="Cambria Math" panose="02040503050406030204" pitchFamily="18" charset="0"/>
                            </a:rPr>
                            <m:t>𝒑</m:t>
                          </m:r>
                        </m:e>
                      </m:d>
                      <m:f>
                        <m:fPr>
                          <m:ctrlPr>
                            <a:rPr lang="en-US" altLang="zh-TW" b="1" i="1">
                              <a:latin typeface="Cambria Math" panose="02040503050406030204" pitchFamily="18" charset="0"/>
                            </a:rPr>
                          </m:ctrlPr>
                        </m:fPr>
                        <m:num>
                          <m:r>
                            <a:rPr lang="en-US" altLang="zh-TW" b="1" i="1">
                              <a:latin typeface="Cambria Math" panose="02040503050406030204" pitchFamily="18" charset="0"/>
                            </a:rPr>
                            <m:t>𝟏</m:t>
                          </m:r>
                        </m:num>
                        <m:den>
                          <m:r>
                            <a:rPr lang="en-US" altLang="zh-TW" b="1" i="1">
                              <a:latin typeface="Cambria Math" panose="02040503050406030204" pitchFamily="18" charset="0"/>
                            </a:rPr>
                            <m:t>𝑵</m:t>
                          </m:r>
                        </m:den>
                      </m:f>
                      <m:nary>
                        <m:naryPr>
                          <m:chr m:val="∑"/>
                          <m:ctrlPr>
                            <a:rPr lang="en-US" altLang="zh-TW" b="1" i="1" smtClean="0">
                              <a:latin typeface="Cambria Math" panose="02040503050406030204" pitchFamily="18" charset="0"/>
                            </a:rPr>
                          </m:ctrlPr>
                        </m:naryPr>
                        <m:sub>
                          <m:r>
                            <m:rPr>
                              <m:brk m:alnAt="23"/>
                            </m:rPr>
                            <a:rPr lang="en-US" altLang="zh-TW" b="1" i="1" smtClean="0">
                              <a:latin typeface="Cambria Math" panose="02040503050406030204" pitchFamily="18" charset="0"/>
                            </a:rPr>
                            <m:t>𝒌</m:t>
                          </m:r>
                          <m:r>
                            <a:rPr lang="en-US" altLang="zh-TW" b="1" i="1" smtClean="0">
                              <a:latin typeface="Cambria Math" panose="02040503050406030204" pitchFamily="18" charset="0"/>
                            </a:rPr>
                            <m:t>=</m:t>
                          </m:r>
                          <m:r>
                            <a:rPr lang="en-US" altLang="zh-TW" b="1" i="1" smtClean="0">
                              <a:latin typeface="Cambria Math" panose="02040503050406030204" pitchFamily="18" charset="0"/>
                            </a:rPr>
                            <m:t>𝟏</m:t>
                          </m:r>
                        </m:sub>
                        <m:sup>
                          <m:r>
                            <a:rPr lang="en-US" altLang="zh-TW" b="1" i="1" smtClean="0">
                              <a:latin typeface="Cambria Math" panose="02040503050406030204" pitchFamily="18" charset="0"/>
                            </a:rPr>
                            <m:t>𝑵</m:t>
                          </m:r>
                        </m:sup>
                        <m:e>
                          <m:sSub>
                            <m:sSubPr>
                              <m:ctrlPr>
                                <a:rPr lang="en-US" altLang="zh-TW" b="1" i="1" smtClean="0">
                                  <a:latin typeface="Cambria Math" panose="02040503050406030204" pitchFamily="18" charset="0"/>
                                </a:rPr>
                              </m:ctrlPr>
                            </m:sSubPr>
                            <m:e>
                              <m:r>
                                <a:rPr lang="zh-TW" altLang="en-US" b="1" i="1" smtClean="0">
                                  <a:latin typeface="Cambria Math" panose="02040503050406030204" pitchFamily="18" charset="0"/>
                                </a:rPr>
                                <m:t>𝜶</m:t>
                              </m:r>
                            </m:e>
                            <m:sub>
                              <m:r>
                                <a:rPr lang="en-US" altLang="zh-TW" b="1" i="1" smtClean="0">
                                  <a:latin typeface="Cambria Math" panose="02040503050406030204" pitchFamily="18" charset="0"/>
                                </a:rPr>
                                <m:t>𝒌</m:t>
                              </m:r>
                            </m:sub>
                          </m:sSub>
                        </m:e>
                      </m:nary>
                      <m:r>
                        <a:rPr lang="en-US" altLang="zh-TW" b="1" i="1" smtClean="0">
                          <a:latin typeface="Cambria Math" panose="02040503050406030204" pitchFamily="18" charset="0"/>
                        </a:rPr>
                        <m:t>+</m:t>
                      </m:r>
                      <m:sSub>
                        <m:sSubPr>
                          <m:ctrlPr>
                            <a:rPr lang="en-US" altLang="zh-TW" b="1" i="1">
                              <a:latin typeface="Cambria Math" panose="02040503050406030204" pitchFamily="18" charset="0"/>
                            </a:rPr>
                          </m:ctrlPr>
                        </m:sSubPr>
                        <m:e>
                          <m:r>
                            <a:rPr lang="zh-TW" altLang="en-US" b="1" i="1">
                              <a:latin typeface="Cambria Math" panose="02040503050406030204" pitchFamily="18" charset="0"/>
                            </a:rPr>
                            <m:t>𝝁</m:t>
                          </m:r>
                        </m:e>
                        <m:sub>
                          <m:r>
                            <a:rPr lang="en-US" altLang="zh-TW" b="1" i="1">
                              <a:latin typeface="Cambria Math" panose="02040503050406030204" pitchFamily="18" charset="0"/>
                            </a:rPr>
                            <m:t>𝒌</m:t>
                          </m:r>
                        </m:sub>
                      </m:sSub>
                      <m:f>
                        <m:fPr>
                          <m:ctrlPr>
                            <a:rPr lang="en-US" altLang="zh-TW" b="1" i="1">
                              <a:latin typeface="Cambria Math" panose="02040503050406030204" pitchFamily="18" charset="0"/>
                            </a:rPr>
                          </m:ctrlPr>
                        </m:fPr>
                        <m:num>
                          <m:r>
                            <a:rPr lang="en-US" altLang="zh-TW" b="1" i="1">
                              <a:latin typeface="Cambria Math" panose="02040503050406030204" pitchFamily="18" charset="0"/>
                            </a:rPr>
                            <m:t>𝟏</m:t>
                          </m:r>
                        </m:num>
                        <m:den>
                          <m:r>
                            <a:rPr lang="en-US" altLang="zh-TW" b="1" i="1">
                              <a:latin typeface="Cambria Math" panose="02040503050406030204" pitchFamily="18" charset="0"/>
                            </a:rPr>
                            <m:t>𝑵</m:t>
                          </m:r>
                        </m:den>
                      </m:f>
                      <m:nary>
                        <m:naryPr>
                          <m:chr m:val="∑"/>
                          <m:ctrlPr>
                            <a:rPr lang="en-US" altLang="zh-TW" b="1" i="1">
                              <a:latin typeface="Cambria Math" panose="02040503050406030204" pitchFamily="18" charset="0"/>
                            </a:rPr>
                          </m:ctrlPr>
                        </m:naryPr>
                        <m:sub>
                          <m:r>
                            <m:rPr>
                              <m:brk m:alnAt="23"/>
                            </m:rPr>
                            <a:rPr lang="en-US" altLang="zh-TW" b="1" i="1">
                              <a:latin typeface="Cambria Math" panose="02040503050406030204" pitchFamily="18" charset="0"/>
                            </a:rPr>
                            <m:t>𝒌</m:t>
                          </m:r>
                          <m:r>
                            <a:rPr lang="en-US" altLang="zh-TW" b="1" i="1">
                              <a:latin typeface="Cambria Math" panose="02040503050406030204" pitchFamily="18" charset="0"/>
                            </a:rPr>
                            <m:t>=</m:t>
                          </m:r>
                          <m:r>
                            <a:rPr lang="en-US" altLang="zh-TW" b="1" i="1">
                              <a:latin typeface="Cambria Math" panose="02040503050406030204" pitchFamily="18" charset="0"/>
                            </a:rPr>
                            <m:t>𝟏</m:t>
                          </m:r>
                        </m:sub>
                        <m:sup>
                          <m:r>
                            <a:rPr lang="en-US" altLang="zh-TW" b="1" i="1">
                              <a:latin typeface="Cambria Math" panose="02040503050406030204" pitchFamily="18" charset="0"/>
                            </a:rPr>
                            <m:t>𝑵</m:t>
                          </m:r>
                        </m:sup>
                        <m:e>
                          <m:sSub>
                            <m:sSubPr>
                              <m:ctrlPr>
                                <a:rPr lang="en-US" altLang="zh-TW" b="1" i="1">
                                  <a:latin typeface="Cambria Math" panose="02040503050406030204" pitchFamily="18" charset="0"/>
                                </a:rPr>
                              </m:ctrlPr>
                            </m:sSubPr>
                            <m:e>
                              <m:r>
                                <a:rPr lang="en-US" altLang="zh-TW" b="1" i="1" smtClean="0">
                                  <a:latin typeface="Cambria Math" panose="02040503050406030204" pitchFamily="18" charset="0"/>
                                </a:rPr>
                                <m:t>(</m:t>
                              </m:r>
                              <m:r>
                                <a:rPr lang="en-US" altLang="zh-TW" b="1" i="1" smtClean="0">
                                  <a:latin typeface="Cambria Math" panose="02040503050406030204" pitchFamily="18" charset="0"/>
                                </a:rPr>
                                <m:t>𝟏</m:t>
                              </m:r>
                              <m:r>
                                <a:rPr lang="en-US" altLang="zh-TW" b="1" i="1" smtClean="0">
                                  <a:latin typeface="Cambria Math" panose="02040503050406030204" pitchFamily="18" charset="0"/>
                                </a:rPr>
                                <m:t> − </m:t>
                              </m:r>
                              <m:r>
                                <a:rPr lang="zh-TW" altLang="en-US" b="1" i="1">
                                  <a:latin typeface="Cambria Math" panose="02040503050406030204" pitchFamily="18" charset="0"/>
                                </a:rPr>
                                <m:t>𝜶</m:t>
                              </m:r>
                            </m:e>
                            <m:sub>
                              <m:r>
                                <a:rPr lang="en-US" altLang="zh-TW" b="1" i="1">
                                  <a:latin typeface="Cambria Math" panose="02040503050406030204" pitchFamily="18" charset="0"/>
                                </a:rPr>
                                <m:t>𝒌</m:t>
                              </m:r>
                            </m:sub>
                          </m:sSub>
                          <m:r>
                            <a:rPr lang="en-US" altLang="zh-TW" b="1" i="1" smtClean="0">
                              <a:latin typeface="Cambria Math" panose="02040503050406030204" pitchFamily="18" charset="0"/>
                            </a:rPr>
                            <m:t>)</m:t>
                          </m:r>
                        </m:e>
                      </m:nary>
                    </m:oMath>
                  </m:oMathPara>
                </a14:m>
                <a:endParaRPr lang="zh-TW" altLang="en-US" b="1" dirty="0"/>
              </a:p>
              <a:p>
                <a:endParaRPr lang="zh-TW" altLang="en-US" dirty="0"/>
              </a:p>
            </p:txBody>
          </p:sp>
        </mc:Choice>
        <mc:Fallback xmlns="">
          <p:sp>
            <p:nvSpPr>
              <p:cNvPr id="9" name="文字方塊 8">
                <a:extLst>
                  <a:ext uri="{FF2B5EF4-FFF2-40B4-BE49-F238E27FC236}">
                    <a16:creationId xmlns:a16="http://schemas.microsoft.com/office/drawing/2014/main" id="{9A8CE10F-85CD-FC03-98DD-82549B4796E2}"/>
                  </a:ext>
                </a:extLst>
              </p:cNvPr>
              <p:cNvSpPr txBox="1">
                <a:spLocks noRot="1" noChangeAspect="1" noMove="1" noResize="1" noEditPoints="1" noAdjustHandles="1" noChangeArrowheads="1" noChangeShapeType="1" noTextEdit="1"/>
              </p:cNvSpPr>
              <p:nvPr/>
            </p:nvSpPr>
            <p:spPr>
              <a:xfrm>
                <a:off x="0" y="3436018"/>
                <a:ext cx="5751872" cy="1148199"/>
              </a:xfrm>
              <a:prstGeom prst="rect">
                <a:avLst/>
              </a:prstGeom>
              <a:blipFill>
                <a:blip r:embed="rId5"/>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1" name="文字方塊 10">
                <a:extLst>
                  <a:ext uri="{FF2B5EF4-FFF2-40B4-BE49-F238E27FC236}">
                    <a16:creationId xmlns:a16="http://schemas.microsoft.com/office/drawing/2014/main" id="{D06BED4B-56C2-459E-00D1-337CA07C7131}"/>
                  </a:ext>
                </a:extLst>
              </p:cNvPr>
              <p:cNvSpPr txBox="1"/>
              <p:nvPr/>
            </p:nvSpPr>
            <p:spPr>
              <a:xfrm>
                <a:off x="-335880" y="4505797"/>
                <a:ext cx="5751872" cy="93301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altLang="zh-TW" b="0" i="1" smtClean="0">
                              <a:latin typeface="Cambria Math" panose="02040503050406030204" pitchFamily="18" charset="0"/>
                            </a:rPr>
                          </m:ctrlPr>
                        </m:sSubPr>
                        <m:e>
                          <m:r>
                            <a:rPr lang="zh-TW" altLang="en-US" b="0" i="1" smtClean="0">
                              <a:latin typeface="Cambria Math" panose="02040503050406030204" pitchFamily="18" charset="0"/>
                            </a:rPr>
                            <m:t>𝛼</m:t>
                          </m:r>
                        </m:e>
                        <m:sub>
                          <m:r>
                            <a:rPr lang="en-US" altLang="zh-TW" b="0" i="1" smtClean="0">
                              <a:latin typeface="Cambria Math" panose="02040503050406030204" pitchFamily="18" charset="0"/>
                            </a:rPr>
                            <m:t>𝑘</m:t>
                          </m:r>
                        </m:sub>
                      </m:sSub>
                      <m:r>
                        <a:rPr lang="en-US" altLang="zh-TW" b="0" i="1" smtClean="0">
                          <a:latin typeface="Cambria Math" panose="02040503050406030204" pitchFamily="18" charset="0"/>
                        </a:rPr>
                        <m:t>= </m:t>
                      </m:r>
                      <m:f>
                        <m:fPr>
                          <m:ctrlPr>
                            <a:rPr lang="en-US" altLang="zh-TW" b="0" i="1" smtClean="0">
                              <a:latin typeface="Cambria Math" panose="02040503050406030204" pitchFamily="18" charset="0"/>
                            </a:rPr>
                          </m:ctrlPr>
                        </m:fPr>
                        <m:num>
                          <m:r>
                            <a:rPr lang="en-US" altLang="zh-TW" b="0" i="1" smtClean="0">
                              <a:latin typeface="Cambria Math" panose="02040503050406030204" pitchFamily="18" charset="0"/>
                            </a:rPr>
                            <m:t>1</m:t>
                          </m:r>
                        </m:num>
                        <m:den>
                          <m:r>
                            <a:rPr lang="en-US" altLang="zh-TW" b="0" i="1" smtClean="0">
                              <a:latin typeface="Cambria Math" panose="02040503050406030204" pitchFamily="18" charset="0"/>
                            </a:rPr>
                            <m:t>2</m:t>
                          </m:r>
                        </m:den>
                      </m:f>
                      <m:r>
                        <a:rPr lang="en-US" altLang="zh-TW" b="0" i="1" smtClean="0">
                          <a:latin typeface="Cambria Math" panose="02040503050406030204" pitchFamily="18" charset="0"/>
                        </a:rPr>
                        <m:t>(</m:t>
                      </m:r>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𝑎</m:t>
                          </m:r>
                        </m:e>
                        <m:sub>
                          <m:r>
                            <a:rPr lang="en-US" altLang="zh-TW" b="0" i="1" smtClean="0">
                              <a:latin typeface="Cambria Math" panose="02040503050406030204" pitchFamily="18" charset="0"/>
                            </a:rPr>
                            <m:t>𝑘</m:t>
                          </m:r>
                        </m:sub>
                      </m:sSub>
                      <m:r>
                        <a:rPr lang="en-US" altLang="zh-TW" b="0" i="1" smtClean="0">
                          <a:latin typeface="Cambria Math" panose="02040503050406030204" pitchFamily="18" charset="0"/>
                        </a:rPr>
                        <m:t>+ </m:t>
                      </m:r>
                      <m:rad>
                        <m:radPr>
                          <m:degHide m:val="on"/>
                          <m:ctrlPr>
                            <a:rPr lang="en-US" altLang="zh-TW" b="0" i="1" smtClean="0">
                              <a:latin typeface="Cambria Math" panose="02040503050406030204" pitchFamily="18" charset="0"/>
                            </a:rPr>
                          </m:ctrlPr>
                        </m:radPr>
                        <m:deg/>
                        <m:e>
                          <m:sSubSup>
                            <m:sSubSupPr>
                              <m:ctrlPr>
                                <a:rPr lang="en-US" altLang="zh-TW" b="0" i="1" smtClean="0">
                                  <a:latin typeface="Cambria Math" panose="02040503050406030204" pitchFamily="18" charset="0"/>
                                </a:rPr>
                              </m:ctrlPr>
                            </m:sSubSupPr>
                            <m:e>
                              <m:r>
                                <a:rPr lang="en-US" altLang="zh-TW" b="0" i="1" smtClean="0">
                                  <a:latin typeface="Cambria Math" panose="02040503050406030204" pitchFamily="18" charset="0"/>
                                </a:rPr>
                                <m:t>𝑎</m:t>
                              </m:r>
                            </m:e>
                            <m:sub>
                              <m:r>
                                <a:rPr lang="en-US" altLang="zh-TW" b="0" i="1" smtClean="0">
                                  <a:latin typeface="Cambria Math" panose="02040503050406030204" pitchFamily="18" charset="0"/>
                                </a:rPr>
                                <m:t>𝑘</m:t>
                              </m:r>
                            </m:sub>
                            <m:sup>
                              <m:r>
                                <a:rPr lang="en-US" altLang="zh-TW" b="0" i="1" smtClean="0">
                                  <a:latin typeface="Cambria Math" panose="02040503050406030204" pitchFamily="18" charset="0"/>
                                </a:rPr>
                                <m:t>2</m:t>
                              </m:r>
                            </m:sup>
                          </m:sSubSup>
                          <m:r>
                            <a:rPr lang="en-US" altLang="zh-TW" b="0" i="1" smtClean="0">
                              <a:latin typeface="Cambria Math" panose="02040503050406030204" pitchFamily="18" charset="0"/>
                            </a:rPr>
                            <m:t>+4</m:t>
                          </m:r>
                          <m:r>
                            <a:rPr lang="zh-TW" altLang="en-US" b="0" i="1" smtClean="0">
                              <a:latin typeface="Cambria Math" panose="02040503050406030204" pitchFamily="18" charset="0"/>
                            </a:rPr>
                            <m:t>𝜅</m:t>
                          </m:r>
                          <m:d>
                            <m:dPr>
                              <m:ctrlPr>
                                <a:rPr lang="en-US" altLang="zh-TW" b="0" i="1" smtClean="0">
                                  <a:latin typeface="Cambria Math" panose="02040503050406030204" pitchFamily="18" charset="0"/>
                                </a:rPr>
                              </m:ctrlPr>
                            </m:dPr>
                            <m:e>
                              <m:r>
                                <a:rPr lang="en-US" altLang="zh-TW" b="0" i="1" smtClean="0">
                                  <a:latin typeface="Cambria Math" panose="02040503050406030204" pitchFamily="18" charset="0"/>
                                </a:rPr>
                                <m:t>1 − </m:t>
                              </m:r>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𝑎</m:t>
                                  </m:r>
                                </m:e>
                                <m:sub>
                                  <m:r>
                                    <a:rPr lang="en-US" altLang="zh-TW" b="0" i="1" smtClean="0">
                                      <a:latin typeface="Cambria Math" panose="02040503050406030204" pitchFamily="18" charset="0"/>
                                    </a:rPr>
                                    <m:t>𝑘</m:t>
                                  </m:r>
                                </m:sub>
                              </m:sSub>
                            </m:e>
                          </m:d>
                        </m:e>
                      </m:rad>
                      <m:r>
                        <a:rPr lang="en-US" altLang="zh-TW" b="0" i="1" smtClean="0">
                          <a:latin typeface="Cambria Math" panose="02040503050406030204" pitchFamily="18" charset="0"/>
                        </a:rPr>
                        <m:t> )</m:t>
                      </m:r>
                    </m:oMath>
                  </m:oMathPara>
                </a14:m>
                <a:endParaRPr lang="zh-TW" altLang="en-US" dirty="0"/>
              </a:p>
              <a:p>
                <a:endParaRPr lang="zh-TW" altLang="en-US" dirty="0"/>
              </a:p>
            </p:txBody>
          </p:sp>
        </mc:Choice>
        <mc:Fallback xmlns="">
          <p:sp>
            <p:nvSpPr>
              <p:cNvPr id="11" name="文字方塊 10">
                <a:extLst>
                  <a:ext uri="{FF2B5EF4-FFF2-40B4-BE49-F238E27FC236}">
                    <a16:creationId xmlns:a16="http://schemas.microsoft.com/office/drawing/2014/main" id="{D06BED4B-56C2-459E-00D1-337CA07C7131}"/>
                  </a:ext>
                </a:extLst>
              </p:cNvPr>
              <p:cNvSpPr txBox="1">
                <a:spLocks noRot="1" noChangeAspect="1" noMove="1" noResize="1" noEditPoints="1" noAdjustHandles="1" noChangeArrowheads="1" noChangeShapeType="1" noTextEdit="1"/>
              </p:cNvSpPr>
              <p:nvPr/>
            </p:nvSpPr>
            <p:spPr>
              <a:xfrm>
                <a:off x="-335880" y="4505797"/>
                <a:ext cx="5751872" cy="933012"/>
              </a:xfrm>
              <a:prstGeom prst="rect">
                <a:avLst/>
              </a:prstGeom>
              <a:blipFill>
                <a:blip r:embed="rId6"/>
                <a:stretch>
                  <a:fillRect/>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2" name="文字方塊 11">
                <a:extLst>
                  <a:ext uri="{FF2B5EF4-FFF2-40B4-BE49-F238E27FC236}">
                    <a16:creationId xmlns:a16="http://schemas.microsoft.com/office/drawing/2014/main" id="{50C1C1C1-BBAE-6ACB-7449-CEFDC4312397}"/>
                  </a:ext>
                </a:extLst>
              </p:cNvPr>
              <p:cNvSpPr txBox="1"/>
              <p:nvPr/>
            </p:nvSpPr>
            <p:spPr>
              <a:xfrm>
                <a:off x="5622998" y="4497365"/>
                <a:ext cx="2271776" cy="63402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TW" i="1" smtClean="0">
                              <a:latin typeface="Cambria Math" panose="02040503050406030204" pitchFamily="18" charset="0"/>
                            </a:rPr>
                          </m:ctrlPr>
                        </m:sSubPr>
                        <m:e>
                          <m:r>
                            <a:rPr lang="en-US" altLang="zh-TW" b="0" i="1" smtClean="0">
                              <a:latin typeface="Cambria Math" panose="02040503050406030204" pitchFamily="18" charset="0"/>
                            </a:rPr>
                            <m:t>𝑎</m:t>
                          </m:r>
                        </m:e>
                        <m:sub>
                          <m:r>
                            <a:rPr lang="en-US" altLang="zh-TW" b="0" i="1" smtClean="0">
                              <a:latin typeface="Cambria Math" panose="02040503050406030204" pitchFamily="18" charset="0"/>
                            </a:rPr>
                            <m:t>𝑘</m:t>
                          </m:r>
                        </m:sub>
                      </m:sSub>
                      <m:r>
                        <a:rPr lang="en-US" altLang="zh-TW" b="0" i="1" smtClean="0">
                          <a:latin typeface="Cambria Math" panose="02040503050406030204" pitchFamily="18" charset="0"/>
                        </a:rPr>
                        <m:t>= </m:t>
                      </m:r>
                      <m:f>
                        <m:fPr>
                          <m:ctrlPr>
                            <a:rPr lang="en-US" altLang="zh-TW" b="0" i="1" smtClean="0">
                              <a:latin typeface="Cambria Math" panose="02040503050406030204" pitchFamily="18" charset="0"/>
                            </a:rPr>
                          </m:ctrlPr>
                        </m:fPr>
                        <m:num>
                          <m:sSubSup>
                            <m:sSubSupPr>
                              <m:ctrlPr>
                                <a:rPr lang="en-US" altLang="zh-TW" b="0" i="1" smtClean="0">
                                  <a:latin typeface="Cambria Math" panose="02040503050406030204" pitchFamily="18" charset="0"/>
                                </a:rPr>
                              </m:ctrlPr>
                            </m:sSubSupPr>
                            <m:e>
                              <m:r>
                                <a:rPr lang="zh-TW" altLang="en-US" b="0" i="1" smtClean="0">
                                  <a:latin typeface="Cambria Math" panose="02040503050406030204" pitchFamily="18" charset="0"/>
                                </a:rPr>
                                <m:t>𝜎</m:t>
                              </m:r>
                            </m:e>
                            <m:sub>
                              <m:r>
                                <a:rPr lang="en-US" altLang="zh-TW" b="0" i="1" smtClean="0">
                                  <a:latin typeface="Cambria Math" panose="02040503050406030204" pitchFamily="18" charset="0"/>
                                </a:rPr>
                                <m:t>𝑘</m:t>
                              </m:r>
                            </m:sub>
                            <m:sup>
                              <m:r>
                                <a:rPr lang="en-US" altLang="zh-TW" b="0" i="1" smtClean="0">
                                  <a:latin typeface="Cambria Math" panose="02040503050406030204" pitchFamily="18" charset="0"/>
                                </a:rPr>
                                <m:t>2</m:t>
                              </m:r>
                            </m:sup>
                          </m:sSubSup>
                          <m:r>
                            <a:rPr lang="en-US" altLang="zh-TW" b="0" i="1" smtClean="0">
                              <a:latin typeface="Cambria Math" panose="02040503050406030204" pitchFamily="18" charset="0"/>
                            </a:rPr>
                            <m:t>(</m:t>
                          </m:r>
                          <m:r>
                            <a:rPr lang="en-US" altLang="zh-TW" b="0" i="1" smtClean="0">
                              <a:latin typeface="Cambria Math" panose="02040503050406030204" pitchFamily="18" charset="0"/>
                            </a:rPr>
                            <m:t>𝑝</m:t>
                          </m:r>
                          <m:r>
                            <a:rPr lang="en-US" altLang="zh-TW" b="0" i="1" smtClean="0">
                              <a:latin typeface="Cambria Math" panose="02040503050406030204" pitchFamily="18" charset="0"/>
                            </a:rPr>
                            <m:t>)</m:t>
                          </m:r>
                        </m:num>
                        <m:den>
                          <m:sSubSup>
                            <m:sSubSupPr>
                              <m:ctrlPr>
                                <a:rPr lang="en-US" altLang="zh-TW" i="1">
                                  <a:latin typeface="Cambria Math" panose="02040503050406030204" pitchFamily="18" charset="0"/>
                                </a:rPr>
                              </m:ctrlPr>
                            </m:sSubSupPr>
                            <m:e>
                              <m:r>
                                <a:rPr lang="zh-TW" altLang="en-US" i="1">
                                  <a:latin typeface="Cambria Math" panose="02040503050406030204" pitchFamily="18" charset="0"/>
                                </a:rPr>
                                <m:t>𝜎</m:t>
                              </m:r>
                            </m:e>
                            <m:sub>
                              <m:r>
                                <a:rPr lang="en-US" altLang="zh-TW" i="1">
                                  <a:latin typeface="Cambria Math" panose="02040503050406030204" pitchFamily="18" charset="0"/>
                                </a:rPr>
                                <m:t>𝑘</m:t>
                              </m:r>
                            </m:sub>
                            <m:sup>
                              <m:r>
                                <a:rPr lang="en-US" altLang="zh-TW" i="1">
                                  <a:latin typeface="Cambria Math" panose="02040503050406030204" pitchFamily="18" charset="0"/>
                                </a:rPr>
                                <m:t>2</m:t>
                              </m:r>
                            </m:sup>
                          </m:sSubSup>
                          <m:d>
                            <m:dPr>
                              <m:ctrlPr>
                                <a:rPr lang="en-US" altLang="zh-TW" i="1">
                                  <a:latin typeface="Cambria Math" panose="02040503050406030204" pitchFamily="18" charset="0"/>
                                </a:rPr>
                              </m:ctrlPr>
                            </m:dPr>
                            <m:e>
                              <m:r>
                                <a:rPr lang="en-US" altLang="zh-TW" i="1">
                                  <a:latin typeface="Cambria Math" panose="02040503050406030204" pitchFamily="18" charset="0"/>
                                </a:rPr>
                                <m:t>𝑝</m:t>
                              </m:r>
                            </m:e>
                          </m:d>
                          <m:r>
                            <a:rPr lang="en-US" altLang="zh-TW" b="0" i="1" smtClean="0">
                              <a:latin typeface="Cambria Math" panose="02040503050406030204" pitchFamily="18" charset="0"/>
                            </a:rPr>
                            <m:t>+</m:t>
                          </m:r>
                          <m:r>
                            <a:rPr lang="en-US" altLang="zh-TW" b="0" i="1" smtClean="0">
                              <a:latin typeface="Cambria Math" panose="02040503050406030204" pitchFamily="18" charset="0"/>
                            </a:rPr>
                            <m:t>𝑒𝑝𝑠𝑖𝑙𝑜𝑛</m:t>
                          </m:r>
                        </m:den>
                      </m:f>
                    </m:oMath>
                  </m:oMathPara>
                </a14:m>
                <a:endParaRPr lang="zh-TW" altLang="en-US" dirty="0"/>
              </a:p>
            </p:txBody>
          </p:sp>
        </mc:Choice>
        <mc:Fallback xmlns="">
          <p:sp>
            <p:nvSpPr>
              <p:cNvPr id="12" name="文字方塊 11">
                <a:extLst>
                  <a:ext uri="{FF2B5EF4-FFF2-40B4-BE49-F238E27FC236}">
                    <a16:creationId xmlns:a16="http://schemas.microsoft.com/office/drawing/2014/main" id="{50C1C1C1-BBAE-6ACB-7449-CEFDC4312397}"/>
                  </a:ext>
                </a:extLst>
              </p:cNvPr>
              <p:cNvSpPr txBox="1">
                <a:spLocks noRot="1" noChangeAspect="1" noMove="1" noResize="1" noEditPoints="1" noAdjustHandles="1" noChangeArrowheads="1" noChangeShapeType="1" noTextEdit="1"/>
              </p:cNvSpPr>
              <p:nvPr/>
            </p:nvSpPr>
            <p:spPr>
              <a:xfrm>
                <a:off x="5622998" y="4497365"/>
                <a:ext cx="2271776" cy="634020"/>
              </a:xfrm>
              <a:prstGeom prst="rect">
                <a:avLst/>
              </a:prstGeom>
              <a:blipFill>
                <a:blip r:embed="rId7"/>
                <a:stretch>
                  <a:fillRect/>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15" name="文字方塊 14">
                <a:extLst>
                  <a:ext uri="{FF2B5EF4-FFF2-40B4-BE49-F238E27FC236}">
                    <a16:creationId xmlns:a16="http://schemas.microsoft.com/office/drawing/2014/main" id="{4FD364F3-08E0-17F8-E24E-AC6B1BF31E5F}"/>
                  </a:ext>
                </a:extLst>
              </p:cNvPr>
              <p:cNvSpPr txBox="1"/>
              <p:nvPr/>
            </p:nvSpPr>
            <p:spPr>
              <a:xfrm>
                <a:off x="112757" y="5652918"/>
                <a:ext cx="11965858" cy="46480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zh-TW" altLang="en-US" sz="2400" b="1" i="1" smtClean="0">
                          <a:latin typeface="Cambria Math" panose="02040503050406030204" pitchFamily="18" charset="0"/>
                        </a:rPr>
                        <m:t>𝜿</m:t>
                      </m:r>
                      <m:r>
                        <a:rPr lang="en-US" altLang="zh-TW" sz="2400" b="1" i="1" smtClean="0">
                          <a:latin typeface="Cambria Math" panose="02040503050406030204" pitchFamily="18" charset="0"/>
                        </a:rPr>
                        <m:t>=</m:t>
                      </m:r>
                      <m:d>
                        <m:dPr>
                          <m:ctrlPr>
                            <a:rPr lang="en-US" altLang="zh-TW" sz="2400" b="1" i="1" smtClean="0">
                              <a:latin typeface="Cambria Math" panose="02040503050406030204" pitchFamily="18" charset="0"/>
                            </a:rPr>
                          </m:ctrlPr>
                        </m:dPr>
                        <m:e>
                          <m:sSub>
                            <m:sSubPr>
                              <m:ctrlPr>
                                <a:rPr lang="en-US" altLang="zh-TW" sz="2400" b="1" i="1" smtClean="0">
                                  <a:latin typeface="Cambria Math" panose="02040503050406030204" pitchFamily="18" charset="0"/>
                                </a:rPr>
                              </m:ctrlPr>
                            </m:sSubPr>
                            <m:e>
                              <m:r>
                                <a:rPr lang="zh-TW" altLang="en-US" sz="2400" b="1" i="1" smtClean="0">
                                  <a:latin typeface="Cambria Math" panose="02040503050406030204" pitchFamily="18" charset="0"/>
                                </a:rPr>
                                <m:t>𝜿</m:t>
                              </m:r>
                            </m:e>
                            <m:sub>
                              <m:r>
                                <a:rPr lang="en-US" altLang="zh-TW" sz="2400" b="1" i="1" smtClean="0">
                                  <a:latin typeface="Cambria Math" panose="02040503050406030204" pitchFamily="18" charset="0"/>
                                </a:rPr>
                                <m:t>𝒎𝒂𝒙</m:t>
                              </m:r>
                            </m:sub>
                          </m:sSub>
                          <m:r>
                            <a:rPr lang="en-US" altLang="zh-TW" sz="2400" b="1" i="1" smtClean="0">
                              <a:latin typeface="Cambria Math" panose="02040503050406030204" pitchFamily="18" charset="0"/>
                            </a:rPr>
                            <m:t> −</m:t>
                          </m:r>
                          <m:sSub>
                            <m:sSubPr>
                              <m:ctrlPr>
                                <a:rPr lang="en-US" altLang="zh-TW" sz="2400" b="1" i="1" smtClean="0">
                                  <a:latin typeface="Cambria Math" panose="02040503050406030204" pitchFamily="18" charset="0"/>
                                </a:rPr>
                              </m:ctrlPr>
                            </m:sSubPr>
                            <m:e>
                              <m:r>
                                <a:rPr lang="zh-TW" altLang="en-US" sz="2400" b="1" i="1" smtClean="0">
                                  <a:latin typeface="Cambria Math" panose="02040503050406030204" pitchFamily="18" charset="0"/>
                                </a:rPr>
                                <m:t>𝜿</m:t>
                              </m:r>
                            </m:e>
                            <m:sub>
                              <m:r>
                                <a:rPr lang="en-US" altLang="zh-TW" sz="2400" b="1" i="1" smtClean="0">
                                  <a:latin typeface="Cambria Math" panose="02040503050406030204" pitchFamily="18" charset="0"/>
                                </a:rPr>
                                <m:t>𝒎𝒊𝒏</m:t>
                              </m:r>
                            </m:sub>
                          </m:sSub>
                        </m:e>
                      </m:d>
                      <m:sSup>
                        <m:sSupPr>
                          <m:ctrlPr>
                            <a:rPr lang="en-US" altLang="zh-TW" sz="2400" b="1" i="1" smtClean="0">
                              <a:latin typeface="Cambria Math" panose="02040503050406030204" pitchFamily="18" charset="0"/>
                            </a:rPr>
                          </m:ctrlPr>
                        </m:sSupPr>
                        <m:e>
                          <m:r>
                            <a:rPr lang="en-US" altLang="zh-TW" sz="2400" b="1" i="1" smtClean="0">
                              <a:latin typeface="Cambria Math" panose="02040503050406030204" pitchFamily="18" charset="0"/>
                            </a:rPr>
                            <m:t>𝒆</m:t>
                          </m:r>
                        </m:e>
                        <m:sup>
                          <m:r>
                            <a:rPr lang="en-US" altLang="zh-TW" sz="2400" b="1" i="1" smtClean="0">
                              <a:latin typeface="Cambria Math" panose="02040503050406030204" pitchFamily="18" charset="0"/>
                            </a:rPr>
                            <m:t>−</m:t>
                          </m:r>
                          <m:r>
                            <a:rPr lang="en-US" altLang="zh-TW" sz="2400" b="1" i="1" smtClean="0">
                              <a:latin typeface="Cambria Math" panose="02040503050406030204" pitchFamily="18" charset="0"/>
                            </a:rPr>
                            <m:t>𝟎</m:t>
                          </m:r>
                          <m:r>
                            <a:rPr lang="en-US" altLang="zh-TW" sz="2400" b="1" i="1" smtClean="0">
                              <a:latin typeface="Cambria Math" panose="02040503050406030204" pitchFamily="18" charset="0"/>
                            </a:rPr>
                            <m:t>.</m:t>
                          </m:r>
                          <m:r>
                            <a:rPr lang="en-US" altLang="zh-TW" sz="2400" b="1" i="1" smtClean="0">
                              <a:latin typeface="Cambria Math" panose="02040503050406030204" pitchFamily="18" charset="0"/>
                            </a:rPr>
                            <m:t>𝟔𝟗</m:t>
                          </m:r>
                          <m:r>
                            <a:rPr lang="en-US" altLang="zh-TW" sz="2400" b="1" i="1" smtClean="0">
                              <a:latin typeface="Cambria Math" panose="02040503050406030204" pitchFamily="18" charset="0"/>
                            </a:rPr>
                            <m:t> ∗</m:t>
                          </m:r>
                          <m:sSup>
                            <m:sSupPr>
                              <m:ctrlPr>
                                <a:rPr lang="en-US" altLang="zh-TW" sz="2400" b="1" i="1" smtClean="0">
                                  <a:latin typeface="Cambria Math" panose="02040503050406030204" pitchFamily="18" charset="0"/>
                                </a:rPr>
                              </m:ctrlPr>
                            </m:sSupPr>
                            <m:e>
                              <m:r>
                                <a:rPr lang="en-US" altLang="zh-TW" sz="2400" b="1" i="1" smtClean="0">
                                  <a:latin typeface="Cambria Math" panose="02040503050406030204" pitchFamily="18" charset="0"/>
                                </a:rPr>
                                <m:t>𝒆</m:t>
                              </m:r>
                            </m:e>
                            <m:sup>
                              <m:r>
                                <a:rPr lang="en-US" altLang="zh-TW" sz="2400" b="1" i="1" smtClean="0">
                                  <a:latin typeface="Cambria Math" panose="02040503050406030204" pitchFamily="18" charset="0"/>
                                </a:rPr>
                                <m:t>−</m:t>
                              </m:r>
                              <m:r>
                                <a:rPr lang="en-US" altLang="zh-TW" sz="2400" b="1" i="1" smtClean="0">
                                  <a:latin typeface="Cambria Math" panose="02040503050406030204" pitchFamily="18" charset="0"/>
                                </a:rPr>
                                <m:t>𝒄</m:t>
                              </m:r>
                              <m:r>
                                <a:rPr lang="en-US" altLang="zh-TW" sz="2400" b="1" i="1" smtClean="0">
                                  <a:latin typeface="Cambria Math" panose="02040503050406030204" pitchFamily="18" charset="0"/>
                                </a:rPr>
                                <m:t>(</m:t>
                              </m:r>
                              <m:r>
                                <a:rPr lang="en-US" altLang="zh-TW" sz="2400" b="1" i="1" smtClean="0">
                                  <a:latin typeface="Cambria Math" panose="02040503050406030204" pitchFamily="18" charset="0"/>
                                </a:rPr>
                                <m:t>𝒕</m:t>
                              </m:r>
                              <m:r>
                                <a:rPr lang="en-US" altLang="zh-TW" sz="2400" b="1" i="1" smtClean="0">
                                  <a:latin typeface="Cambria Math" panose="02040503050406030204" pitchFamily="18" charset="0"/>
                                </a:rPr>
                                <m:t> − </m:t>
                              </m:r>
                              <m:sSub>
                                <m:sSubPr>
                                  <m:ctrlPr>
                                    <a:rPr lang="en-US" altLang="zh-TW" sz="2400" b="1" i="1" smtClean="0">
                                      <a:latin typeface="Cambria Math" panose="02040503050406030204" pitchFamily="18" charset="0"/>
                                    </a:rPr>
                                  </m:ctrlPr>
                                </m:sSubPr>
                                <m:e>
                                  <m:r>
                                    <a:rPr lang="en-US" altLang="zh-TW" sz="2400" b="1" i="1" smtClean="0">
                                      <a:latin typeface="Cambria Math" panose="02040503050406030204" pitchFamily="18" charset="0"/>
                                    </a:rPr>
                                    <m:t>𝒕</m:t>
                                  </m:r>
                                </m:e>
                                <m:sub>
                                  <m:r>
                                    <a:rPr lang="en-US" altLang="zh-TW" sz="2400" b="1" i="1" smtClean="0">
                                      <a:latin typeface="Cambria Math" panose="02040503050406030204" pitchFamily="18" charset="0"/>
                                    </a:rPr>
                                    <m:t>𝟎</m:t>
                                  </m:r>
                                </m:sub>
                              </m:sSub>
                              <m:r>
                                <a:rPr lang="en-US" altLang="zh-TW" sz="2400" b="1" i="1" smtClean="0">
                                  <a:latin typeface="Cambria Math" panose="02040503050406030204" pitchFamily="18" charset="0"/>
                                </a:rPr>
                                <m:t>)</m:t>
                              </m:r>
                            </m:sup>
                          </m:sSup>
                        </m:sup>
                      </m:sSup>
                      <m:r>
                        <a:rPr lang="en-US" altLang="zh-TW" sz="2400" b="1" i="1" smtClean="0">
                          <a:latin typeface="Cambria Math" panose="02040503050406030204" pitchFamily="18" charset="0"/>
                        </a:rPr>
                        <m:t>+</m:t>
                      </m:r>
                      <m:sSub>
                        <m:sSubPr>
                          <m:ctrlPr>
                            <a:rPr lang="en-US" altLang="zh-TW" sz="2400" b="1" i="1" smtClean="0">
                              <a:latin typeface="Cambria Math" panose="02040503050406030204" pitchFamily="18" charset="0"/>
                            </a:rPr>
                          </m:ctrlPr>
                        </m:sSubPr>
                        <m:e>
                          <m:r>
                            <a:rPr lang="zh-TW" altLang="en-US" sz="2400" b="1" i="1" smtClean="0">
                              <a:latin typeface="Cambria Math" panose="02040503050406030204" pitchFamily="18" charset="0"/>
                            </a:rPr>
                            <m:t>𝜿</m:t>
                          </m:r>
                        </m:e>
                        <m:sub>
                          <m:r>
                            <a:rPr lang="en-US" altLang="zh-TW" sz="2400" b="1" i="1" smtClean="0">
                              <a:latin typeface="Cambria Math" panose="02040503050406030204" pitchFamily="18" charset="0"/>
                            </a:rPr>
                            <m:t>𝒎𝒊𝒏</m:t>
                          </m:r>
                        </m:sub>
                      </m:sSub>
                      <m:r>
                        <a:rPr lang="en-US" altLang="zh-TW" sz="2400" b="1" i="0" smtClean="0">
                          <a:latin typeface="Cambria Math" panose="02040503050406030204" pitchFamily="18" charset="0"/>
                        </a:rPr>
                        <m:t>            </m:t>
                      </m:r>
                      <m:sSub>
                        <m:sSubPr>
                          <m:ctrlPr>
                            <a:rPr lang="en-US" altLang="zh-TW" sz="2400" b="1" i="1" smtClean="0">
                              <a:latin typeface="Cambria Math" panose="02040503050406030204" pitchFamily="18" charset="0"/>
                            </a:rPr>
                          </m:ctrlPr>
                        </m:sSubPr>
                        <m:e>
                          <m:r>
                            <a:rPr lang="zh-TW" altLang="en-US" sz="2400" b="1" i="1" smtClean="0">
                              <a:latin typeface="Cambria Math" panose="02040503050406030204" pitchFamily="18" charset="0"/>
                            </a:rPr>
                            <m:t>𝜿</m:t>
                          </m:r>
                        </m:e>
                        <m:sub>
                          <m:r>
                            <a:rPr lang="en-US" altLang="zh-TW" sz="2400" b="1" i="1" smtClean="0">
                              <a:latin typeface="Cambria Math" panose="02040503050406030204" pitchFamily="18" charset="0"/>
                            </a:rPr>
                            <m:t>𝒎𝒂𝒙</m:t>
                          </m:r>
                          <m:r>
                            <a:rPr lang="en-US" altLang="zh-TW" sz="2400" b="1" i="1" smtClean="0">
                              <a:latin typeface="Cambria Math" panose="02040503050406030204" pitchFamily="18" charset="0"/>
                            </a:rPr>
                            <m:t>,</m:t>
                          </m:r>
                        </m:sub>
                      </m:sSub>
                      <m:r>
                        <a:rPr lang="en-US" altLang="zh-TW" sz="2400" b="1" i="1" smtClean="0">
                          <a:latin typeface="Cambria Math" panose="02040503050406030204" pitchFamily="18" charset="0"/>
                        </a:rPr>
                        <m:t> </m:t>
                      </m:r>
                      <m:sSub>
                        <m:sSubPr>
                          <m:ctrlPr>
                            <a:rPr lang="en-US" altLang="zh-TW" sz="2400" b="1" i="1" smtClean="0">
                              <a:latin typeface="Cambria Math" panose="02040503050406030204" pitchFamily="18" charset="0"/>
                            </a:rPr>
                          </m:ctrlPr>
                        </m:sSubPr>
                        <m:e>
                          <m:r>
                            <a:rPr lang="zh-TW" altLang="en-US" sz="2400" b="1" i="1" smtClean="0">
                              <a:latin typeface="Cambria Math" panose="02040503050406030204" pitchFamily="18" charset="0"/>
                            </a:rPr>
                            <m:t>𝜿</m:t>
                          </m:r>
                        </m:e>
                        <m:sub>
                          <m:r>
                            <a:rPr lang="en-US" altLang="zh-TW" sz="2400" b="1" i="1" smtClean="0">
                              <a:latin typeface="Cambria Math" panose="02040503050406030204" pitchFamily="18" charset="0"/>
                            </a:rPr>
                            <m:t>𝒎𝒊𝒏</m:t>
                          </m:r>
                          <m:r>
                            <a:rPr lang="en-US" altLang="zh-TW" sz="2400" b="1" i="1" smtClean="0">
                              <a:latin typeface="Cambria Math" panose="02040503050406030204" pitchFamily="18" charset="0"/>
                            </a:rPr>
                            <m:t>, </m:t>
                          </m:r>
                        </m:sub>
                      </m:sSub>
                      <m:r>
                        <a:rPr lang="en-US" altLang="zh-TW" sz="2400" b="1" i="1" smtClean="0">
                          <a:latin typeface="Cambria Math" panose="02040503050406030204" pitchFamily="18" charset="0"/>
                        </a:rPr>
                        <m:t>𝒄</m:t>
                      </m:r>
                      <m:r>
                        <a:rPr lang="en-US" altLang="zh-TW" sz="2400" b="1" i="1" smtClean="0">
                          <a:latin typeface="Cambria Math" panose="02040503050406030204" pitchFamily="18" charset="0"/>
                        </a:rPr>
                        <m:t>, </m:t>
                      </m:r>
                      <m:r>
                        <a:rPr lang="en-US" altLang="zh-TW" sz="2400" b="1" i="1" smtClean="0">
                          <a:latin typeface="Cambria Math" panose="02040503050406030204" pitchFamily="18" charset="0"/>
                        </a:rPr>
                        <m:t>𝒂𝒏𝒅</m:t>
                      </m:r>
                      <m:r>
                        <a:rPr lang="en-US" altLang="zh-TW" sz="2400" b="1" i="1" smtClean="0">
                          <a:latin typeface="Cambria Math" panose="02040503050406030204" pitchFamily="18" charset="0"/>
                        </a:rPr>
                        <m:t> </m:t>
                      </m:r>
                      <m:sSub>
                        <m:sSubPr>
                          <m:ctrlPr>
                            <a:rPr lang="en-US" altLang="zh-TW" sz="2400" b="1" i="1" smtClean="0">
                              <a:latin typeface="Cambria Math" panose="02040503050406030204" pitchFamily="18" charset="0"/>
                            </a:rPr>
                          </m:ctrlPr>
                        </m:sSubPr>
                        <m:e>
                          <m:r>
                            <a:rPr lang="en-US" altLang="zh-TW" sz="2400" b="1" i="1" smtClean="0">
                              <a:latin typeface="Cambria Math" panose="02040503050406030204" pitchFamily="18" charset="0"/>
                            </a:rPr>
                            <m:t>𝒕</m:t>
                          </m:r>
                        </m:e>
                        <m:sub>
                          <m:r>
                            <a:rPr lang="en-US" altLang="zh-TW" sz="2400" b="1" i="1" smtClean="0">
                              <a:latin typeface="Cambria Math" panose="02040503050406030204" pitchFamily="18" charset="0"/>
                            </a:rPr>
                            <m:t>𝟎</m:t>
                          </m:r>
                        </m:sub>
                      </m:sSub>
                      <m:r>
                        <a:rPr lang="en-US" altLang="zh-TW" sz="2400" b="1" i="1" smtClean="0">
                          <a:latin typeface="Cambria Math" panose="02040503050406030204" pitchFamily="18" charset="0"/>
                        </a:rPr>
                        <m:t> </m:t>
                      </m:r>
                      <m:r>
                        <a:rPr lang="en-US" altLang="zh-TW" sz="2400" b="1" i="1" smtClean="0">
                          <a:latin typeface="Cambria Math" panose="02040503050406030204" pitchFamily="18" charset="0"/>
                        </a:rPr>
                        <m:t>𝒂𝒓𝒆</m:t>
                      </m:r>
                      <m:r>
                        <a:rPr lang="en-US" altLang="zh-TW" sz="2400" b="1" i="1" smtClean="0">
                          <a:latin typeface="Cambria Math" panose="02040503050406030204" pitchFamily="18" charset="0"/>
                        </a:rPr>
                        <m:t> </m:t>
                      </m:r>
                      <m:r>
                        <a:rPr lang="en-US" altLang="zh-TW" sz="2400" b="1" i="1" smtClean="0">
                          <a:latin typeface="Cambria Math" panose="02040503050406030204" pitchFamily="18" charset="0"/>
                        </a:rPr>
                        <m:t>𝒖𝒔𝒆𝒓</m:t>
                      </m:r>
                      <m:r>
                        <a:rPr lang="en-US" altLang="zh-TW" sz="2400" b="1" i="1" smtClean="0">
                          <a:latin typeface="Cambria Math" panose="02040503050406030204" pitchFamily="18" charset="0"/>
                        </a:rPr>
                        <m:t> </m:t>
                      </m:r>
                      <m:r>
                        <a:rPr lang="en-US" altLang="zh-TW" sz="2400" b="1" i="1" smtClean="0">
                          <a:latin typeface="Cambria Math" panose="02040503050406030204" pitchFamily="18" charset="0"/>
                        </a:rPr>
                        <m:t>𝒅𝒆𝒇𝒊𝒏𝒆𝒅</m:t>
                      </m:r>
                      <m:r>
                        <a:rPr lang="en-US" altLang="zh-TW" sz="2400" b="1" i="1" smtClean="0">
                          <a:latin typeface="Cambria Math" panose="02040503050406030204" pitchFamily="18" charset="0"/>
                        </a:rPr>
                        <m:t> </m:t>
                      </m:r>
                    </m:oMath>
                  </m:oMathPara>
                </a14:m>
                <a:endParaRPr lang="zh-TW" altLang="en-US" sz="2400" b="1" dirty="0"/>
              </a:p>
            </p:txBody>
          </p:sp>
        </mc:Choice>
        <mc:Fallback>
          <p:sp>
            <p:nvSpPr>
              <p:cNvPr id="15" name="文字方塊 14">
                <a:extLst>
                  <a:ext uri="{FF2B5EF4-FFF2-40B4-BE49-F238E27FC236}">
                    <a16:creationId xmlns:a16="http://schemas.microsoft.com/office/drawing/2014/main" id="{4FD364F3-08E0-17F8-E24E-AC6B1BF31E5F}"/>
                  </a:ext>
                </a:extLst>
              </p:cNvPr>
              <p:cNvSpPr txBox="1">
                <a:spLocks noRot="1" noChangeAspect="1" noMove="1" noResize="1" noEditPoints="1" noAdjustHandles="1" noChangeArrowheads="1" noChangeShapeType="1" noTextEdit="1"/>
              </p:cNvSpPr>
              <p:nvPr/>
            </p:nvSpPr>
            <p:spPr>
              <a:xfrm>
                <a:off x="112757" y="5652918"/>
                <a:ext cx="11965858" cy="464807"/>
              </a:xfrm>
              <a:prstGeom prst="rect">
                <a:avLst/>
              </a:prstGeom>
              <a:blipFill>
                <a:blip r:embed="rId8"/>
                <a:stretch>
                  <a:fillRect/>
                </a:stretch>
              </a:blipFill>
            </p:spPr>
            <p:txBody>
              <a:bodyPr/>
              <a:lstStyle/>
              <a:p>
                <a:r>
                  <a:rPr lang="zh-TW" altLang="en-US">
                    <a:noFill/>
                  </a:rPr>
                  <a:t> </a:t>
                </a:r>
              </a:p>
            </p:txBody>
          </p:sp>
        </mc:Fallback>
      </mc:AlternateContent>
      <p:cxnSp>
        <p:nvCxnSpPr>
          <p:cNvPr id="18" name="直線單箭頭接點 17">
            <a:extLst>
              <a:ext uri="{FF2B5EF4-FFF2-40B4-BE49-F238E27FC236}">
                <a16:creationId xmlns:a16="http://schemas.microsoft.com/office/drawing/2014/main" id="{E6839926-36F8-AAE1-7B2B-BF6A5C9B5855}"/>
              </a:ext>
            </a:extLst>
          </p:cNvPr>
          <p:cNvCxnSpPr/>
          <p:nvPr/>
        </p:nvCxnSpPr>
        <p:spPr>
          <a:xfrm>
            <a:off x="8101781" y="4836160"/>
            <a:ext cx="1061884"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9" name="文字方塊 18">
            <a:extLst>
              <a:ext uri="{FF2B5EF4-FFF2-40B4-BE49-F238E27FC236}">
                <a16:creationId xmlns:a16="http://schemas.microsoft.com/office/drawing/2014/main" id="{13866AB1-4C9D-9B95-117E-35589BD0828D}"/>
              </a:ext>
            </a:extLst>
          </p:cNvPr>
          <p:cNvSpPr txBox="1"/>
          <p:nvPr/>
        </p:nvSpPr>
        <p:spPr>
          <a:xfrm>
            <a:off x="9406384" y="4651494"/>
            <a:ext cx="1927750" cy="369332"/>
          </a:xfrm>
          <a:prstGeom prst="rect">
            <a:avLst/>
          </a:prstGeom>
          <a:noFill/>
        </p:spPr>
        <p:txBody>
          <a:bodyPr wrap="square" rtlCol="0">
            <a:spAutoFit/>
          </a:bodyPr>
          <a:lstStyle/>
          <a:p>
            <a:r>
              <a:rPr lang="en-US" altLang="zh-TW" dirty="0">
                <a:solidFill>
                  <a:srgbClr val="002060"/>
                </a:solidFill>
              </a:rPr>
              <a:t>Choose big epsilon</a:t>
            </a:r>
            <a:endParaRPr lang="zh-TW" altLang="en-US" dirty="0">
              <a:solidFill>
                <a:srgbClr val="002060"/>
              </a:solidFill>
            </a:endParaRPr>
          </a:p>
        </p:txBody>
      </p:sp>
    </p:spTree>
    <p:extLst>
      <p:ext uri="{BB962C8B-B14F-4D97-AF65-F5344CB8AC3E}">
        <p14:creationId xmlns:p14="http://schemas.microsoft.com/office/powerpoint/2010/main" val="120189596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BA52AA3-BAF4-9681-E331-0D42DBFEF06D}"/>
              </a:ext>
            </a:extLst>
          </p:cNvPr>
          <p:cNvSpPr>
            <a:spLocks noGrp="1"/>
          </p:cNvSpPr>
          <p:nvPr>
            <p:ph type="title"/>
          </p:nvPr>
        </p:nvSpPr>
        <p:spPr>
          <a:xfrm>
            <a:off x="913774" y="153710"/>
            <a:ext cx="10364451" cy="1596177"/>
          </a:xfrm>
        </p:spPr>
        <p:txBody>
          <a:bodyPr/>
          <a:lstStyle/>
          <a:p>
            <a:r>
              <a:rPr lang="en-US" altLang="zh-TW" cap="none" dirty="0">
                <a:latin typeface="Calibri" panose="020F0502020204030204" pitchFamily="34" charset="0"/>
                <a:ea typeface="Calibri" panose="020F0502020204030204" pitchFamily="34" charset="0"/>
                <a:cs typeface="Calibri" panose="020F0502020204030204" pitchFamily="34" charset="0"/>
              </a:rPr>
              <a:t>Method And Implementation</a:t>
            </a:r>
            <a:endParaRPr lang="zh-TW" altLang="en-US" cap="none" dirty="0">
              <a:latin typeface="Calibri" panose="020F0502020204030204" pitchFamily="34" charset="0"/>
              <a:cs typeface="Calibri" panose="020F0502020204030204" pitchFamily="34" charset="0"/>
            </a:endParaRPr>
          </a:p>
        </p:txBody>
      </p:sp>
      <mc:AlternateContent xmlns:mc="http://schemas.openxmlformats.org/markup-compatibility/2006" xmlns:a14="http://schemas.microsoft.com/office/drawing/2010/main">
        <mc:Choice Requires="a14">
          <p:sp>
            <p:nvSpPr>
              <p:cNvPr id="4" name="文字方塊 3">
                <a:extLst>
                  <a:ext uri="{FF2B5EF4-FFF2-40B4-BE49-F238E27FC236}">
                    <a16:creationId xmlns:a16="http://schemas.microsoft.com/office/drawing/2014/main" id="{2D521850-00C7-F3CA-C4D9-FEEFC9C66BDF}"/>
                  </a:ext>
                </a:extLst>
              </p:cNvPr>
              <p:cNvSpPr txBox="1"/>
              <p:nvPr/>
            </p:nvSpPr>
            <p:spPr>
              <a:xfrm>
                <a:off x="-184042" y="1657734"/>
                <a:ext cx="6140246" cy="365613"/>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zh-TW" altLang="en-US" sz="2000" b="0" i="1" smtClean="0">
                          <a:latin typeface="Cambria Math" panose="02040503050406030204" pitchFamily="18" charset="0"/>
                        </a:rPr>
                        <m:t>𝜅</m:t>
                      </m:r>
                      <m:r>
                        <a:rPr lang="en-US" altLang="zh-TW" sz="2000" b="0" i="1" smtClean="0">
                          <a:latin typeface="Cambria Math" panose="02040503050406030204" pitchFamily="18" charset="0"/>
                        </a:rPr>
                        <m:t>=</m:t>
                      </m:r>
                      <m:d>
                        <m:dPr>
                          <m:ctrlPr>
                            <a:rPr lang="en-US" altLang="zh-TW" sz="2000" i="1" smtClean="0">
                              <a:latin typeface="Cambria Math" panose="02040503050406030204" pitchFamily="18" charset="0"/>
                            </a:rPr>
                          </m:ctrlPr>
                        </m:dPr>
                        <m:e>
                          <m:sSub>
                            <m:sSubPr>
                              <m:ctrlPr>
                                <a:rPr lang="en-US" altLang="zh-TW" sz="2000" i="1" smtClean="0">
                                  <a:latin typeface="Cambria Math" panose="02040503050406030204" pitchFamily="18" charset="0"/>
                                </a:rPr>
                              </m:ctrlPr>
                            </m:sSubPr>
                            <m:e>
                              <m:r>
                                <a:rPr lang="zh-TW" altLang="en-US" sz="2000" b="0" i="1" smtClean="0">
                                  <a:latin typeface="Cambria Math" panose="02040503050406030204" pitchFamily="18" charset="0"/>
                                </a:rPr>
                                <m:t>𝜅</m:t>
                              </m:r>
                            </m:e>
                            <m:sub>
                              <m:r>
                                <a:rPr lang="en-US" altLang="zh-TW" sz="2000" b="0" i="1" smtClean="0">
                                  <a:latin typeface="Cambria Math" panose="02040503050406030204" pitchFamily="18" charset="0"/>
                                </a:rPr>
                                <m:t>𝑚𝑎𝑥</m:t>
                              </m:r>
                            </m:sub>
                          </m:sSub>
                          <m:r>
                            <a:rPr lang="en-US" altLang="zh-TW" sz="2000" b="0" i="1" smtClean="0">
                              <a:latin typeface="Cambria Math" panose="02040503050406030204" pitchFamily="18" charset="0"/>
                            </a:rPr>
                            <m:t> −</m:t>
                          </m:r>
                          <m:sSub>
                            <m:sSubPr>
                              <m:ctrlPr>
                                <a:rPr lang="en-US" altLang="zh-TW" sz="2000" i="1" smtClean="0">
                                  <a:latin typeface="Cambria Math" panose="02040503050406030204" pitchFamily="18" charset="0"/>
                                </a:rPr>
                              </m:ctrlPr>
                            </m:sSubPr>
                            <m:e>
                              <m:r>
                                <a:rPr lang="zh-TW" altLang="en-US" sz="2000" b="0" i="1" smtClean="0">
                                  <a:latin typeface="Cambria Math" panose="02040503050406030204" pitchFamily="18" charset="0"/>
                                </a:rPr>
                                <m:t>𝜅</m:t>
                              </m:r>
                            </m:e>
                            <m:sub>
                              <m:r>
                                <a:rPr lang="en-US" altLang="zh-TW" sz="2000" b="0" i="1" smtClean="0">
                                  <a:latin typeface="Cambria Math" panose="02040503050406030204" pitchFamily="18" charset="0"/>
                                </a:rPr>
                                <m:t>𝑚𝑖𝑛</m:t>
                              </m:r>
                            </m:sub>
                          </m:sSub>
                        </m:e>
                      </m:d>
                      <m:sSup>
                        <m:sSupPr>
                          <m:ctrlPr>
                            <a:rPr lang="en-US" altLang="zh-TW" sz="2000" i="1" smtClean="0">
                              <a:latin typeface="Cambria Math" panose="02040503050406030204" pitchFamily="18" charset="0"/>
                            </a:rPr>
                          </m:ctrlPr>
                        </m:sSupPr>
                        <m:e>
                          <m:r>
                            <a:rPr lang="en-US" altLang="zh-TW" sz="2000" b="0" i="1" smtClean="0">
                              <a:latin typeface="Cambria Math" panose="02040503050406030204" pitchFamily="18" charset="0"/>
                            </a:rPr>
                            <m:t>𝑒</m:t>
                          </m:r>
                        </m:e>
                        <m:sup>
                          <m:r>
                            <a:rPr lang="en-US" altLang="zh-TW" sz="2000" b="0" i="1" smtClean="0">
                              <a:latin typeface="Cambria Math" panose="02040503050406030204" pitchFamily="18" charset="0"/>
                            </a:rPr>
                            <m:t>−0.69 ∗</m:t>
                          </m:r>
                          <m:sSup>
                            <m:sSupPr>
                              <m:ctrlPr>
                                <a:rPr lang="en-US" altLang="zh-TW" sz="2000" i="1" smtClean="0">
                                  <a:latin typeface="Cambria Math" panose="02040503050406030204" pitchFamily="18" charset="0"/>
                                </a:rPr>
                              </m:ctrlPr>
                            </m:sSupPr>
                            <m:e>
                              <m:r>
                                <a:rPr lang="en-US" altLang="zh-TW" sz="2000" b="0" i="1" smtClean="0">
                                  <a:latin typeface="Cambria Math" panose="02040503050406030204" pitchFamily="18" charset="0"/>
                                </a:rPr>
                                <m:t>𝑒</m:t>
                              </m:r>
                            </m:e>
                            <m:sup>
                              <m:r>
                                <a:rPr lang="en-US" altLang="zh-TW" sz="2000" b="0" i="1" smtClean="0">
                                  <a:latin typeface="Cambria Math" panose="02040503050406030204" pitchFamily="18" charset="0"/>
                                </a:rPr>
                                <m:t>−</m:t>
                              </m:r>
                              <m:r>
                                <a:rPr lang="en-US" altLang="zh-TW" sz="2000" b="0" i="1" smtClean="0">
                                  <a:latin typeface="Cambria Math" panose="02040503050406030204" pitchFamily="18" charset="0"/>
                                </a:rPr>
                                <m:t>𝑐</m:t>
                              </m:r>
                              <m:r>
                                <a:rPr lang="en-US" altLang="zh-TW" sz="2000" b="0" i="1" smtClean="0">
                                  <a:latin typeface="Cambria Math" panose="02040503050406030204" pitchFamily="18" charset="0"/>
                                </a:rPr>
                                <m:t>(</m:t>
                              </m:r>
                              <m:r>
                                <a:rPr lang="en-US" altLang="zh-TW" sz="2000" b="0" i="1" smtClean="0">
                                  <a:latin typeface="Cambria Math" panose="02040503050406030204" pitchFamily="18" charset="0"/>
                                </a:rPr>
                                <m:t>𝑡</m:t>
                              </m:r>
                              <m:r>
                                <a:rPr lang="en-US" altLang="zh-TW" sz="2000" b="0" i="1" smtClean="0">
                                  <a:latin typeface="Cambria Math" panose="02040503050406030204" pitchFamily="18" charset="0"/>
                                </a:rPr>
                                <m:t> − </m:t>
                              </m:r>
                              <m:sSub>
                                <m:sSubPr>
                                  <m:ctrlPr>
                                    <a:rPr lang="en-US" altLang="zh-TW" sz="2000" i="1" smtClean="0">
                                      <a:latin typeface="Cambria Math" panose="02040503050406030204" pitchFamily="18" charset="0"/>
                                    </a:rPr>
                                  </m:ctrlPr>
                                </m:sSubPr>
                                <m:e>
                                  <m:r>
                                    <a:rPr lang="en-US" altLang="zh-TW" sz="2000" b="0" i="1" smtClean="0">
                                      <a:latin typeface="Cambria Math" panose="02040503050406030204" pitchFamily="18" charset="0"/>
                                    </a:rPr>
                                    <m:t>𝑡</m:t>
                                  </m:r>
                                </m:e>
                                <m:sub>
                                  <m:r>
                                    <a:rPr lang="en-US" altLang="zh-TW" sz="2000" b="0" i="1" smtClean="0">
                                      <a:latin typeface="Cambria Math" panose="02040503050406030204" pitchFamily="18" charset="0"/>
                                    </a:rPr>
                                    <m:t>0</m:t>
                                  </m:r>
                                </m:sub>
                              </m:sSub>
                              <m:r>
                                <a:rPr lang="en-US" altLang="zh-TW" sz="2000" b="0" i="1" smtClean="0">
                                  <a:latin typeface="Cambria Math" panose="02040503050406030204" pitchFamily="18" charset="0"/>
                                </a:rPr>
                                <m:t>)</m:t>
                              </m:r>
                            </m:sup>
                          </m:sSup>
                        </m:sup>
                      </m:sSup>
                      <m:r>
                        <a:rPr lang="en-US" altLang="zh-TW" sz="2000" b="0" i="1" smtClean="0">
                          <a:latin typeface="Cambria Math" panose="02040503050406030204" pitchFamily="18" charset="0"/>
                        </a:rPr>
                        <m:t>+</m:t>
                      </m:r>
                      <m:sSub>
                        <m:sSubPr>
                          <m:ctrlPr>
                            <a:rPr lang="en-US" altLang="zh-TW" sz="2000" i="1" smtClean="0">
                              <a:latin typeface="Cambria Math" panose="02040503050406030204" pitchFamily="18" charset="0"/>
                            </a:rPr>
                          </m:ctrlPr>
                        </m:sSubPr>
                        <m:e>
                          <m:r>
                            <a:rPr lang="zh-TW" altLang="en-US" sz="2000" b="0" i="1" smtClean="0">
                              <a:latin typeface="Cambria Math" panose="02040503050406030204" pitchFamily="18" charset="0"/>
                            </a:rPr>
                            <m:t>𝜅</m:t>
                          </m:r>
                        </m:e>
                        <m:sub>
                          <m:r>
                            <a:rPr lang="en-US" altLang="zh-TW" sz="2000" b="0" i="1" smtClean="0">
                              <a:latin typeface="Cambria Math" panose="02040503050406030204" pitchFamily="18" charset="0"/>
                            </a:rPr>
                            <m:t>𝑚𝑖𝑛</m:t>
                          </m:r>
                        </m:sub>
                      </m:sSub>
                    </m:oMath>
                  </m:oMathPara>
                </a14:m>
                <a:endParaRPr lang="zh-TW" altLang="en-US" sz="2000" dirty="0"/>
              </a:p>
            </p:txBody>
          </p:sp>
        </mc:Choice>
        <mc:Fallback xmlns="">
          <p:sp>
            <p:nvSpPr>
              <p:cNvPr id="4" name="文字方塊 3">
                <a:extLst>
                  <a:ext uri="{FF2B5EF4-FFF2-40B4-BE49-F238E27FC236}">
                    <a16:creationId xmlns:a16="http://schemas.microsoft.com/office/drawing/2014/main" id="{2D521850-00C7-F3CA-C4D9-FEEFC9C66BDF}"/>
                  </a:ext>
                </a:extLst>
              </p:cNvPr>
              <p:cNvSpPr txBox="1">
                <a:spLocks noRot="1" noChangeAspect="1" noMove="1" noResize="1" noEditPoints="1" noAdjustHandles="1" noChangeArrowheads="1" noChangeShapeType="1" noTextEdit="1"/>
              </p:cNvSpPr>
              <p:nvPr/>
            </p:nvSpPr>
            <p:spPr>
              <a:xfrm>
                <a:off x="-184042" y="1657734"/>
                <a:ext cx="6140246" cy="365613"/>
              </a:xfrm>
              <a:prstGeom prst="rect">
                <a:avLst/>
              </a:prstGeom>
              <a:blipFill>
                <a:blip r:embed="rId2"/>
                <a:stretch>
                  <a:fillRect t="-3333" b="-15000"/>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6" name="文字方塊 5">
                <a:extLst>
                  <a:ext uri="{FF2B5EF4-FFF2-40B4-BE49-F238E27FC236}">
                    <a16:creationId xmlns:a16="http://schemas.microsoft.com/office/drawing/2014/main" id="{009BBCDF-DDBA-1E96-883D-0E32F7BC856D}"/>
                  </a:ext>
                </a:extLst>
              </p:cNvPr>
              <p:cNvSpPr txBox="1"/>
              <p:nvPr/>
            </p:nvSpPr>
            <p:spPr>
              <a:xfrm>
                <a:off x="-275304" y="2297511"/>
                <a:ext cx="6096000" cy="38151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TW" sz="1800" b="1" i="1" smtClean="0">
                              <a:latin typeface="Cambria Math" panose="02040503050406030204" pitchFamily="18" charset="0"/>
                            </a:rPr>
                          </m:ctrlPr>
                        </m:sSubPr>
                        <m:e>
                          <m:r>
                            <a:rPr lang="zh-TW" altLang="en-US" sz="1800" b="1" i="1" smtClean="0">
                              <a:latin typeface="Cambria Math" panose="02040503050406030204" pitchFamily="18" charset="0"/>
                            </a:rPr>
                            <m:t>𝜿</m:t>
                          </m:r>
                        </m:e>
                        <m:sub>
                          <m:r>
                            <a:rPr lang="en-US" altLang="zh-TW" sz="1800" b="1" i="1" smtClean="0">
                              <a:latin typeface="Cambria Math" panose="02040503050406030204" pitchFamily="18" charset="0"/>
                            </a:rPr>
                            <m:t>𝒎𝒂𝒙</m:t>
                          </m:r>
                          <m:r>
                            <a:rPr lang="en-US" altLang="zh-TW" sz="1800" b="1" i="1" smtClean="0">
                              <a:latin typeface="Cambria Math" panose="02040503050406030204" pitchFamily="18" charset="0"/>
                            </a:rPr>
                            <m:t>,</m:t>
                          </m:r>
                        </m:sub>
                      </m:sSub>
                      <m:r>
                        <a:rPr lang="en-US" altLang="zh-TW" sz="1800" b="1" i="1" smtClean="0">
                          <a:latin typeface="Cambria Math" panose="02040503050406030204" pitchFamily="18" charset="0"/>
                        </a:rPr>
                        <m:t> </m:t>
                      </m:r>
                      <m:sSub>
                        <m:sSubPr>
                          <m:ctrlPr>
                            <a:rPr lang="en-US" altLang="zh-TW" sz="1800" b="1" i="1" smtClean="0">
                              <a:latin typeface="Cambria Math" panose="02040503050406030204" pitchFamily="18" charset="0"/>
                            </a:rPr>
                          </m:ctrlPr>
                        </m:sSubPr>
                        <m:e>
                          <m:r>
                            <a:rPr lang="zh-TW" altLang="en-US" sz="1800" b="1" i="1" smtClean="0">
                              <a:latin typeface="Cambria Math" panose="02040503050406030204" pitchFamily="18" charset="0"/>
                            </a:rPr>
                            <m:t>𝜿</m:t>
                          </m:r>
                        </m:e>
                        <m:sub>
                          <m:r>
                            <a:rPr lang="en-US" altLang="zh-TW" sz="1800" b="1" i="1" smtClean="0">
                              <a:latin typeface="Cambria Math" panose="02040503050406030204" pitchFamily="18" charset="0"/>
                            </a:rPr>
                            <m:t>𝒎𝒊𝒏</m:t>
                          </m:r>
                          <m:r>
                            <a:rPr lang="en-US" altLang="zh-TW" sz="1800" b="1" i="1" smtClean="0">
                              <a:latin typeface="Cambria Math" panose="02040503050406030204" pitchFamily="18" charset="0"/>
                            </a:rPr>
                            <m:t>, </m:t>
                          </m:r>
                        </m:sub>
                      </m:sSub>
                      <m:r>
                        <a:rPr lang="en-US" altLang="zh-TW" sz="1800" b="1" i="1" smtClean="0">
                          <a:latin typeface="Cambria Math" panose="02040503050406030204" pitchFamily="18" charset="0"/>
                        </a:rPr>
                        <m:t>𝒄</m:t>
                      </m:r>
                      <m:r>
                        <a:rPr lang="en-US" altLang="zh-TW" sz="1800" b="1" i="1" smtClean="0">
                          <a:latin typeface="Cambria Math" panose="02040503050406030204" pitchFamily="18" charset="0"/>
                        </a:rPr>
                        <m:t>, </m:t>
                      </m:r>
                      <m:r>
                        <a:rPr lang="en-US" altLang="zh-TW" sz="1800" b="1" i="1" smtClean="0">
                          <a:latin typeface="Cambria Math" panose="02040503050406030204" pitchFamily="18" charset="0"/>
                        </a:rPr>
                        <m:t>𝒂𝒏𝒅</m:t>
                      </m:r>
                      <m:r>
                        <a:rPr lang="en-US" altLang="zh-TW" sz="1800" b="1" i="1" smtClean="0">
                          <a:latin typeface="Cambria Math" panose="02040503050406030204" pitchFamily="18" charset="0"/>
                        </a:rPr>
                        <m:t> </m:t>
                      </m:r>
                      <m:sSub>
                        <m:sSubPr>
                          <m:ctrlPr>
                            <a:rPr lang="en-US" altLang="zh-TW" sz="1800" b="1" i="1" smtClean="0">
                              <a:latin typeface="Cambria Math" panose="02040503050406030204" pitchFamily="18" charset="0"/>
                            </a:rPr>
                          </m:ctrlPr>
                        </m:sSubPr>
                        <m:e>
                          <m:r>
                            <a:rPr lang="en-US" altLang="zh-TW" sz="1800" b="1" i="1" smtClean="0">
                              <a:latin typeface="Cambria Math" panose="02040503050406030204" pitchFamily="18" charset="0"/>
                            </a:rPr>
                            <m:t>𝒕</m:t>
                          </m:r>
                        </m:e>
                        <m:sub>
                          <m:r>
                            <a:rPr lang="en-US" altLang="zh-TW" sz="1800" b="1" i="1" smtClean="0">
                              <a:latin typeface="Cambria Math" panose="02040503050406030204" pitchFamily="18" charset="0"/>
                            </a:rPr>
                            <m:t>𝟎</m:t>
                          </m:r>
                        </m:sub>
                      </m:sSub>
                      <m:r>
                        <a:rPr lang="en-US" altLang="zh-TW" sz="1800" b="1" i="1" smtClean="0">
                          <a:latin typeface="Cambria Math" panose="02040503050406030204" pitchFamily="18" charset="0"/>
                        </a:rPr>
                        <m:t> </m:t>
                      </m:r>
                      <m:r>
                        <a:rPr lang="en-US" altLang="zh-TW" sz="1800" b="1" i="1" smtClean="0">
                          <a:latin typeface="Cambria Math" panose="02040503050406030204" pitchFamily="18" charset="0"/>
                        </a:rPr>
                        <m:t>𝒂𝒓𝒆</m:t>
                      </m:r>
                      <m:r>
                        <a:rPr lang="en-US" altLang="zh-TW" sz="1800" b="1" i="1" smtClean="0">
                          <a:latin typeface="Cambria Math" panose="02040503050406030204" pitchFamily="18" charset="0"/>
                        </a:rPr>
                        <m:t> </m:t>
                      </m:r>
                      <m:r>
                        <a:rPr lang="en-US" altLang="zh-TW" sz="1800" b="1" i="1" smtClean="0">
                          <a:latin typeface="Cambria Math" panose="02040503050406030204" pitchFamily="18" charset="0"/>
                        </a:rPr>
                        <m:t>𝒖𝒔𝒆𝒓</m:t>
                      </m:r>
                      <m:r>
                        <a:rPr lang="en-US" altLang="zh-TW" sz="1800" b="1" i="1" smtClean="0">
                          <a:latin typeface="Cambria Math" panose="02040503050406030204" pitchFamily="18" charset="0"/>
                        </a:rPr>
                        <m:t> </m:t>
                      </m:r>
                      <m:r>
                        <a:rPr lang="en-US" altLang="zh-TW" sz="1800" b="1" i="1" smtClean="0">
                          <a:latin typeface="Cambria Math" panose="02040503050406030204" pitchFamily="18" charset="0"/>
                        </a:rPr>
                        <m:t>𝒅𝒆𝒇𝒊𝒏𝒆𝒅</m:t>
                      </m:r>
                      <m:r>
                        <a:rPr lang="en-US" altLang="zh-TW" sz="1800" b="1" i="1" smtClean="0">
                          <a:latin typeface="Cambria Math" panose="02040503050406030204" pitchFamily="18" charset="0"/>
                        </a:rPr>
                        <m:t> </m:t>
                      </m:r>
                    </m:oMath>
                  </m:oMathPara>
                </a14:m>
                <a:endParaRPr lang="zh-TW" altLang="en-US" dirty="0"/>
              </a:p>
            </p:txBody>
          </p:sp>
        </mc:Choice>
        <mc:Fallback xmlns="">
          <p:sp>
            <p:nvSpPr>
              <p:cNvPr id="6" name="文字方塊 5">
                <a:extLst>
                  <a:ext uri="{FF2B5EF4-FFF2-40B4-BE49-F238E27FC236}">
                    <a16:creationId xmlns:a16="http://schemas.microsoft.com/office/drawing/2014/main" id="{009BBCDF-DDBA-1E96-883D-0E32F7BC856D}"/>
                  </a:ext>
                </a:extLst>
              </p:cNvPr>
              <p:cNvSpPr txBox="1">
                <a:spLocks noRot="1" noChangeAspect="1" noMove="1" noResize="1" noEditPoints="1" noAdjustHandles="1" noChangeArrowheads="1" noChangeShapeType="1" noTextEdit="1"/>
              </p:cNvSpPr>
              <p:nvPr/>
            </p:nvSpPr>
            <p:spPr>
              <a:xfrm>
                <a:off x="-275304" y="2297511"/>
                <a:ext cx="6096000" cy="381515"/>
              </a:xfrm>
              <a:prstGeom prst="rect">
                <a:avLst/>
              </a:prstGeom>
              <a:blipFill>
                <a:blip r:embed="rId3"/>
                <a:stretch>
                  <a:fillRect b="-12903"/>
                </a:stretch>
              </a:blipFill>
            </p:spPr>
            <p:txBody>
              <a:bodyPr/>
              <a:lstStyle/>
              <a:p>
                <a:r>
                  <a:rPr lang="zh-TW" altLang="en-US">
                    <a:noFill/>
                  </a:rPr>
                  <a:t> </a:t>
                </a:r>
              </a:p>
            </p:txBody>
          </p:sp>
        </mc:Fallback>
      </mc:AlternateContent>
      <p:pic>
        <p:nvPicPr>
          <p:cNvPr id="8" name="圖片 7">
            <a:extLst>
              <a:ext uri="{FF2B5EF4-FFF2-40B4-BE49-F238E27FC236}">
                <a16:creationId xmlns:a16="http://schemas.microsoft.com/office/drawing/2014/main" id="{F160D63A-4265-7147-1D25-19BAC38E66F2}"/>
              </a:ext>
            </a:extLst>
          </p:cNvPr>
          <p:cNvPicPr>
            <a:picLocks noChangeAspect="1"/>
          </p:cNvPicPr>
          <p:nvPr/>
        </p:nvPicPr>
        <p:blipFill>
          <a:blip r:embed="rId4"/>
          <a:srcRect r="11506"/>
          <a:stretch/>
        </p:blipFill>
        <p:spPr>
          <a:xfrm>
            <a:off x="617625" y="2953190"/>
            <a:ext cx="4536911" cy="2784280"/>
          </a:xfrm>
          <a:prstGeom prst="rect">
            <a:avLst/>
          </a:prstGeom>
        </p:spPr>
      </p:pic>
      <p:pic>
        <p:nvPicPr>
          <p:cNvPr id="10" name="圖片 9" descr="一張含有 黑與白, 白色, 設計, 單色 的圖片&#10;&#10;自動產生的描述">
            <a:extLst>
              <a:ext uri="{FF2B5EF4-FFF2-40B4-BE49-F238E27FC236}">
                <a16:creationId xmlns:a16="http://schemas.microsoft.com/office/drawing/2014/main" id="{A69F5190-547A-E237-277C-260AAEEAE568}"/>
              </a:ext>
            </a:extLst>
          </p:cNvPr>
          <p:cNvPicPr>
            <a:picLocks noChangeAspect="1"/>
          </p:cNvPicPr>
          <p:nvPr/>
        </p:nvPicPr>
        <p:blipFill>
          <a:blip r:embed="rId5">
            <a:extLst>
              <a:ext uri="{28A0092B-C50C-407E-A947-70E740481C1C}">
                <a14:useLocalDpi xmlns:a14="http://schemas.microsoft.com/office/drawing/2010/main" val="0"/>
              </a:ext>
            </a:extLst>
          </a:blip>
          <a:srcRect l="9414" t="8932" r="6352" b="11630"/>
          <a:stretch/>
        </p:blipFill>
        <p:spPr>
          <a:xfrm>
            <a:off x="8785123" y="1500648"/>
            <a:ext cx="3304266" cy="2337092"/>
          </a:xfrm>
          <a:prstGeom prst="rect">
            <a:avLst/>
          </a:prstGeom>
        </p:spPr>
      </p:pic>
      <p:pic>
        <p:nvPicPr>
          <p:cNvPr id="12" name="圖片 11" descr="一張含有 寵物, 狗飼養, 狗, 棕色 的圖片&#10;&#10;自動產生的描述">
            <a:extLst>
              <a:ext uri="{FF2B5EF4-FFF2-40B4-BE49-F238E27FC236}">
                <a16:creationId xmlns:a16="http://schemas.microsoft.com/office/drawing/2014/main" id="{B68AE687-7885-7922-1268-4896E0F9C38D}"/>
              </a:ext>
            </a:extLst>
          </p:cNvPr>
          <p:cNvPicPr>
            <a:picLocks noChangeAspect="1"/>
          </p:cNvPicPr>
          <p:nvPr/>
        </p:nvPicPr>
        <p:blipFill>
          <a:blip r:embed="rId6">
            <a:extLst>
              <a:ext uri="{28A0092B-C50C-407E-A947-70E740481C1C}">
                <a14:useLocalDpi xmlns:a14="http://schemas.microsoft.com/office/drawing/2010/main" val="0"/>
              </a:ext>
            </a:extLst>
          </a:blip>
          <a:srcRect l="9311" t="8832" r="6454" b="11730"/>
          <a:stretch/>
        </p:blipFill>
        <p:spPr>
          <a:xfrm>
            <a:off x="5480857" y="1500648"/>
            <a:ext cx="3304266" cy="2337092"/>
          </a:xfrm>
          <a:prstGeom prst="rect">
            <a:avLst/>
          </a:prstGeom>
        </p:spPr>
      </p:pic>
      <p:pic>
        <p:nvPicPr>
          <p:cNvPr id="14" name="圖片 13" descr="一張含有 白色, 黑與白, 設計, 藝術 的圖片&#10;&#10;自動產生的描述">
            <a:extLst>
              <a:ext uri="{FF2B5EF4-FFF2-40B4-BE49-F238E27FC236}">
                <a16:creationId xmlns:a16="http://schemas.microsoft.com/office/drawing/2014/main" id="{C6713CA4-5B83-4DEA-D6BB-3CE19A73C5D5}"/>
              </a:ext>
            </a:extLst>
          </p:cNvPr>
          <p:cNvPicPr>
            <a:picLocks noChangeAspect="1"/>
          </p:cNvPicPr>
          <p:nvPr/>
        </p:nvPicPr>
        <p:blipFill>
          <a:blip r:embed="rId7">
            <a:extLst>
              <a:ext uri="{28A0092B-C50C-407E-A947-70E740481C1C}">
                <a14:useLocalDpi xmlns:a14="http://schemas.microsoft.com/office/drawing/2010/main" val="0"/>
              </a:ext>
            </a:extLst>
          </a:blip>
          <a:srcRect l="11349" t="9394" r="9292" b="10854"/>
          <a:stretch/>
        </p:blipFill>
        <p:spPr>
          <a:xfrm>
            <a:off x="8754020" y="3986720"/>
            <a:ext cx="3335369" cy="2513899"/>
          </a:xfrm>
          <a:prstGeom prst="rect">
            <a:avLst/>
          </a:prstGeom>
        </p:spPr>
      </p:pic>
    </p:spTree>
    <p:extLst>
      <p:ext uri="{BB962C8B-B14F-4D97-AF65-F5344CB8AC3E}">
        <p14:creationId xmlns:p14="http://schemas.microsoft.com/office/powerpoint/2010/main" val="59266975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2CF0DE8-7655-BE00-BD71-59F3ADB5D0EC}"/>
              </a:ext>
            </a:extLst>
          </p:cNvPr>
          <p:cNvSpPr>
            <a:spLocks noGrp="1"/>
          </p:cNvSpPr>
          <p:nvPr>
            <p:ph type="title"/>
          </p:nvPr>
        </p:nvSpPr>
        <p:spPr>
          <a:xfrm>
            <a:off x="913774" y="415317"/>
            <a:ext cx="10364451" cy="671803"/>
          </a:xfrm>
        </p:spPr>
        <p:txBody>
          <a:bodyPr/>
          <a:lstStyle/>
          <a:p>
            <a:r>
              <a:rPr lang="en-US" altLang="zh-TW" cap="none" dirty="0">
                <a:latin typeface="Calibri" panose="020F0502020204030204" pitchFamily="34" charset="0"/>
                <a:ea typeface="Calibri" panose="020F0502020204030204" pitchFamily="34" charset="0"/>
                <a:cs typeface="Calibri" panose="020F0502020204030204" pitchFamily="34" charset="0"/>
              </a:rPr>
              <a:t>Choose of t0</a:t>
            </a:r>
            <a:endParaRPr lang="zh-TW" altLang="en-US" cap="none" dirty="0">
              <a:latin typeface="Calibri" panose="020F0502020204030204" pitchFamily="34" charset="0"/>
              <a:cs typeface="Calibri" panose="020F0502020204030204" pitchFamily="34" charset="0"/>
            </a:endParaRPr>
          </a:p>
        </p:txBody>
      </p:sp>
      <p:pic>
        <p:nvPicPr>
          <p:cNvPr id="9" name="圖片 8" descr="一張含有 黑與白, 白色, 設計, 單色 的圖片&#10;&#10;自動產生的描述">
            <a:extLst>
              <a:ext uri="{FF2B5EF4-FFF2-40B4-BE49-F238E27FC236}">
                <a16:creationId xmlns:a16="http://schemas.microsoft.com/office/drawing/2014/main" id="{4FED4A7A-9E6B-E353-4B8B-193A1410288A}"/>
              </a:ext>
            </a:extLst>
          </p:cNvPr>
          <p:cNvPicPr>
            <a:picLocks noChangeAspect="1"/>
          </p:cNvPicPr>
          <p:nvPr/>
        </p:nvPicPr>
        <p:blipFill>
          <a:blip r:embed="rId2">
            <a:extLst>
              <a:ext uri="{28A0092B-C50C-407E-A947-70E740481C1C}">
                <a14:useLocalDpi xmlns:a14="http://schemas.microsoft.com/office/drawing/2010/main" val="0"/>
              </a:ext>
            </a:extLst>
          </a:blip>
          <a:srcRect l="9414" t="8932" r="6352" b="11630"/>
          <a:stretch/>
        </p:blipFill>
        <p:spPr>
          <a:xfrm>
            <a:off x="314960" y="940841"/>
            <a:ext cx="3454400" cy="2443281"/>
          </a:xfrm>
          <a:prstGeom prst="rect">
            <a:avLst/>
          </a:prstGeom>
        </p:spPr>
      </p:pic>
      <p:pic>
        <p:nvPicPr>
          <p:cNvPr id="12" name="圖片 11">
            <a:extLst>
              <a:ext uri="{FF2B5EF4-FFF2-40B4-BE49-F238E27FC236}">
                <a16:creationId xmlns:a16="http://schemas.microsoft.com/office/drawing/2014/main" id="{40DC49CF-3F8B-37D0-2ADB-B97E204520CC}"/>
              </a:ext>
            </a:extLst>
          </p:cNvPr>
          <p:cNvPicPr>
            <a:picLocks noChangeAspect="1"/>
          </p:cNvPicPr>
          <p:nvPr/>
        </p:nvPicPr>
        <p:blipFill>
          <a:blip r:embed="rId3"/>
          <a:stretch>
            <a:fillRect/>
          </a:stretch>
        </p:blipFill>
        <p:spPr>
          <a:xfrm>
            <a:off x="3639602" y="3654542"/>
            <a:ext cx="3319998" cy="2537461"/>
          </a:xfrm>
          <a:prstGeom prst="rect">
            <a:avLst/>
          </a:prstGeom>
        </p:spPr>
      </p:pic>
      <p:sp>
        <p:nvSpPr>
          <p:cNvPr id="14" name="內容版面配置區 13">
            <a:extLst>
              <a:ext uri="{FF2B5EF4-FFF2-40B4-BE49-F238E27FC236}">
                <a16:creationId xmlns:a16="http://schemas.microsoft.com/office/drawing/2014/main" id="{CCEAEDBE-73D2-0D0D-7665-BC0D5C7E2966}"/>
              </a:ext>
            </a:extLst>
          </p:cNvPr>
          <p:cNvSpPr>
            <a:spLocks noGrp="1"/>
          </p:cNvSpPr>
          <p:nvPr>
            <p:ph sz="quarter" idx="13"/>
          </p:nvPr>
        </p:nvSpPr>
        <p:spPr>
          <a:xfrm>
            <a:off x="4130352" y="1218590"/>
            <a:ext cx="6786880" cy="2210409"/>
          </a:xfrm>
        </p:spPr>
        <p:txBody>
          <a:bodyPr>
            <a:normAutofit/>
          </a:bodyPr>
          <a:lstStyle/>
          <a:p>
            <a:r>
              <a:rPr lang="en-US" altLang="zh-TW" cap="none" dirty="0">
                <a:latin typeface="Calibri" panose="020F0502020204030204" pitchFamily="34" charset="0"/>
                <a:ea typeface="Calibri" panose="020F0502020204030204" pitchFamily="34" charset="0"/>
                <a:cs typeface="Calibri" panose="020F0502020204030204" pitchFamily="34" charset="0"/>
              </a:rPr>
              <a:t>At first, t0 is a parameter that the user defined, now it is taken as a thresholding problem.</a:t>
            </a:r>
          </a:p>
          <a:p>
            <a:r>
              <a:rPr lang="en-US" altLang="zh-TW" cap="none" dirty="0">
                <a:latin typeface="Calibri" panose="020F0502020204030204" pitchFamily="34" charset="0"/>
                <a:ea typeface="Calibri" panose="020F0502020204030204" pitchFamily="34" charset="0"/>
                <a:cs typeface="Calibri" panose="020F0502020204030204" pitchFamily="34" charset="0"/>
              </a:rPr>
              <a:t> Use Otsu’s method (maximizing the between-class variance) on the histogram of depth map.</a:t>
            </a:r>
          </a:p>
          <a:p>
            <a:r>
              <a:rPr lang="en-US" altLang="zh-TW" cap="none" dirty="0">
                <a:latin typeface="Calibri" panose="020F0502020204030204" pitchFamily="34" charset="0"/>
                <a:cs typeface="Calibri" panose="020F0502020204030204" pitchFamily="34" charset="0"/>
              </a:rPr>
              <a:t>Choose Kappa max &gt; 1, Kappa min = 0, c = growth rate</a:t>
            </a:r>
            <a:endParaRPr lang="zh-TW" altLang="en-US" cap="none" dirty="0">
              <a:latin typeface="Calibri" panose="020F0502020204030204" pitchFamily="34" charset="0"/>
              <a:cs typeface="Calibri" panose="020F0502020204030204" pitchFamily="34" charset="0"/>
            </a:endParaRPr>
          </a:p>
        </p:txBody>
      </p:sp>
      <p:pic>
        <p:nvPicPr>
          <p:cNvPr id="16" name="圖片 15">
            <a:extLst>
              <a:ext uri="{FF2B5EF4-FFF2-40B4-BE49-F238E27FC236}">
                <a16:creationId xmlns:a16="http://schemas.microsoft.com/office/drawing/2014/main" id="{3AEEF87F-89DF-B697-55AE-33981B6AB785}"/>
              </a:ext>
            </a:extLst>
          </p:cNvPr>
          <p:cNvPicPr>
            <a:picLocks noChangeAspect="1"/>
          </p:cNvPicPr>
          <p:nvPr/>
        </p:nvPicPr>
        <p:blipFill>
          <a:blip r:embed="rId4"/>
          <a:stretch>
            <a:fillRect/>
          </a:stretch>
        </p:blipFill>
        <p:spPr>
          <a:xfrm>
            <a:off x="314960" y="3654542"/>
            <a:ext cx="3174084" cy="2537461"/>
          </a:xfrm>
          <a:prstGeom prst="rect">
            <a:avLst/>
          </a:prstGeom>
        </p:spPr>
      </p:pic>
    </p:spTree>
    <p:extLst>
      <p:ext uri="{BB962C8B-B14F-4D97-AF65-F5344CB8AC3E}">
        <p14:creationId xmlns:p14="http://schemas.microsoft.com/office/powerpoint/2010/main" val="222598559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EB05C73-62D2-575D-10B7-6322D64F7AC7}"/>
              </a:ext>
            </a:extLst>
          </p:cNvPr>
          <p:cNvSpPr>
            <a:spLocks noGrp="1"/>
          </p:cNvSpPr>
          <p:nvPr>
            <p:ph type="title"/>
          </p:nvPr>
        </p:nvSpPr>
        <p:spPr>
          <a:xfrm>
            <a:off x="677800" y="32895"/>
            <a:ext cx="10364451" cy="908762"/>
          </a:xfrm>
        </p:spPr>
        <p:txBody>
          <a:bodyPr/>
          <a:lstStyle/>
          <a:p>
            <a:r>
              <a:rPr lang="en-US" altLang="zh-TW" cap="none" dirty="0">
                <a:latin typeface="Calibri" panose="020F0502020204030204" pitchFamily="34" charset="0"/>
                <a:ea typeface="Calibri" panose="020F0502020204030204" pitchFamily="34" charset="0"/>
                <a:cs typeface="Calibri" panose="020F0502020204030204" pitchFamily="34" charset="0"/>
              </a:rPr>
              <a:t>Filtered image and energy map</a:t>
            </a:r>
            <a:endParaRPr lang="zh-TW" altLang="en-US" cap="none" dirty="0">
              <a:latin typeface="Calibri" panose="020F0502020204030204" pitchFamily="34" charset="0"/>
              <a:cs typeface="Calibri" panose="020F0502020204030204" pitchFamily="34" charset="0"/>
            </a:endParaRPr>
          </a:p>
        </p:txBody>
      </p:sp>
      <p:pic>
        <p:nvPicPr>
          <p:cNvPr id="13" name="圖片 12" descr="一張含有 螢幕擷取畫面, 黑與白, 黑白攝影, 單色 的圖片&#10;&#10;自動產生的描述">
            <a:extLst>
              <a:ext uri="{FF2B5EF4-FFF2-40B4-BE49-F238E27FC236}">
                <a16:creationId xmlns:a16="http://schemas.microsoft.com/office/drawing/2014/main" id="{F792151D-9C6B-4D46-7F55-4F62F9B5C6D2}"/>
              </a:ext>
            </a:extLst>
          </p:cNvPr>
          <p:cNvPicPr>
            <a:picLocks noChangeAspect="1"/>
          </p:cNvPicPr>
          <p:nvPr/>
        </p:nvPicPr>
        <p:blipFill>
          <a:blip r:embed="rId2">
            <a:extLst>
              <a:ext uri="{28A0092B-C50C-407E-A947-70E740481C1C}">
                <a14:useLocalDpi xmlns:a14="http://schemas.microsoft.com/office/drawing/2010/main" val="0"/>
              </a:ext>
            </a:extLst>
          </a:blip>
          <a:srcRect l="14214" t="5252" r="10685" b="7605"/>
          <a:stretch/>
        </p:blipFill>
        <p:spPr>
          <a:xfrm>
            <a:off x="130758" y="3682554"/>
            <a:ext cx="3310533" cy="2880976"/>
          </a:xfrm>
          <a:prstGeom prst="rect">
            <a:avLst/>
          </a:prstGeom>
        </p:spPr>
      </p:pic>
      <p:pic>
        <p:nvPicPr>
          <p:cNvPr id="17" name="圖片 16" descr="一張含有 牛, 哺乳動物, 戶外, 油畫 的圖片&#10;&#10;自動產生的描述">
            <a:extLst>
              <a:ext uri="{FF2B5EF4-FFF2-40B4-BE49-F238E27FC236}">
                <a16:creationId xmlns:a16="http://schemas.microsoft.com/office/drawing/2014/main" id="{4DD80962-7F92-D1F2-C548-3E54054455B9}"/>
              </a:ext>
            </a:extLst>
          </p:cNvPr>
          <p:cNvPicPr>
            <a:picLocks noChangeAspect="1"/>
          </p:cNvPicPr>
          <p:nvPr/>
        </p:nvPicPr>
        <p:blipFill>
          <a:blip r:embed="rId3">
            <a:extLst>
              <a:ext uri="{28A0092B-C50C-407E-A947-70E740481C1C}">
                <a14:useLocalDpi xmlns:a14="http://schemas.microsoft.com/office/drawing/2010/main" val="0"/>
              </a:ext>
            </a:extLst>
          </a:blip>
          <a:srcRect l="13624" t="5362" r="11275" b="6835"/>
          <a:stretch/>
        </p:blipFill>
        <p:spPr>
          <a:xfrm>
            <a:off x="130758" y="848176"/>
            <a:ext cx="3310533" cy="2902830"/>
          </a:xfrm>
          <a:prstGeom prst="rect">
            <a:avLst/>
          </a:prstGeom>
        </p:spPr>
      </p:pic>
      <p:pic>
        <p:nvPicPr>
          <p:cNvPr id="19" name="圖片 18" descr="一張含有 牛, 哺乳動物, 戶外, 母牛 的圖片&#10;&#10;自動產生的描述">
            <a:extLst>
              <a:ext uri="{FF2B5EF4-FFF2-40B4-BE49-F238E27FC236}">
                <a16:creationId xmlns:a16="http://schemas.microsoft.com/office/drawing/2014/main" id="{D51D255E-21CF-E552-C966-DB4BF71205E8}"/>
              </a:ext>
            </a:extLst>
          </p:cNvPr>
          <p:cNvPicPr>
            <a:picLocks noChangeAspect="1"/>
          </p:cNvPicPr>
          <p:nvPr/>
        </p:nvPicPr>
        <p:blipFill>
          <a:blip r:embed="rId4">
            <a:extLst>
              <a:ext uri="{28A0092B-C50C-407E-A947-70E740481C1C}">
                <a14:useLocalDpi xmlns:a14="http://schemas.microsoft.com/office/drawing/2010/main" val="0"/>
              </a:ext>
            </a:extLst>
          </a:blip>
          <a:srcRect l="13198" t="2848" r="9182" b="5963"/>
          <a:stretch/>
        </p:blipFill>
        <p:spPr>
          <a:xfrm>
            <a:off x="3359498" y="760482"/>
            <a:ext cx="3493587" cy="3078218"/>
          </a:xfrm>
          <a:prstGeom prst="rect">
            <a:avLst/>
          </a:prstGeom>
        </p:spPr>
      </p:pic>
      <p:pic>
        <p:nvPicPr>
          <p:cNvPr id="15" name="圖片 14" descr="一張含有 螢幕擷取畫面, 黑與白, 黑白攝影, 單色 的圖片&#10;&#10;自動產生的描述">
            <a:extLst>
              <a:ext uri="{FF2B5EF4-FFF2-40B4-BE49-F238E27FC236}">
                <a16:creationId xmlns:a16="http://schemas.microsoft.com/office/drawing/2014/main" id="{96495BCA-95B3-44C5-0B30-F4AA26C9049B}"/>
              </a:ext>
            </a:extLst>
          </p:cNvPr>
          <p:cNvPicPr>
            <a:picLocks noChangeAspect="1"/>
          </p:cNvPicPr>
          <p:nvPr/>
        </p:nvPicPr>
        <p:blipFill>
          <a:blip r:embed="rId5">
            <a:extLst>
              <a:ext uri="{28A0092B-C50C-407E-A947-70E740481C1C}">
                <a14:useLocalDpi xmlns:a14="http://schemas.microsoft.com/office/drawing/2010/main" val="0"/>
              </a:ext>
            </a:extLst>
          </a:blip>
          <a:srcRect l="14003" t="5868" r="10896" b="6990"/>
          <a:stretch/>
        </p:blipFill>
        <p:spPr>
          <a:xfrm>
            <a:off x="3405311" y="3682553"/>
            <a:ext cx="3310533" cy="2880977"/>
          </a:xfrm>
          <a:prstGeom prst="rect">
            <a:avLst/>
          </a:prstGeom>
        </p:spPr>
      </p:pic>
      <mc:AlternateContent xmlns:mc="http://schemas.openxmlformats.org/markup-compatibility/2006" xmlns:a14="http://schemas.microsoft.com/office/drawing/2010/main">
        <mc:Choice Requires="a14">
          <p:sp>
            <p:nvSpPr>
              <p:cNvPr id="20" name="文字方塊 19">
                <a:extLst>
                  <a:ext uri="{FF2B5EF4-FFF2-40B4-BE49-F238E27FC236}">
                    <a16:creationId xmlns:a16="http://schemas.microsoft.com/office/drawing/2014/main" id="{B8D96071-C29B-22B3-1A7B-4A1BED8F8E58}"/>
                  </a:ext>
                </a:extLst>
              </p:cNvPr>
              <p:cNvSpPr txBox="1"/>
              <p:nvPr/>
            </p:nvSpPr>
            <p:spPr>
              <a:xfrm>
                <a:off x="6853085" y="1275130"/>
                <a:ext cx="5338915" cy="3718454"/>
              </a:xfrm>
              <a:prstGeom prst="rect">
                <a:avLst/>
              </a:prstGeom>
              <a:noFill/>
            </p:spPr>
            <p:txBody>
              <a:bodyPr wrap="square" rtlCol="0">
                <a:spAutoFit/>
              </a:bodyPr>
              <a:lstStyle/>
              <a:p>
                <a:r>
                  <a:rPr lang="en-US" altLang="zh-TW" i="1" dirty="0">
                    <a:latin typeface="Calibri" panose="020F0502020204030204" pitchFamily="34" charset="0"/>
                    <a:ea typeface="Calibri" panose="020F0502020204030204" pitchFamily="34" charset="0"/>
                    <a:cs typeface="Calibri" panose="020F0502020204030204" pitchFamily="34" charset="0"/>
                  </a:rPr>
                  <a:t>Shai </a:t>
                </a:r>
                <a:r>
                  <a:rPr lang="en-US" altLang="zh-TW" i="1" dirty="0" err="1">
                    <a:latin typeface="Calibri" panose="020F0502020204030204" pitchFamily="34" charset="0"/>
                    <a:ea typeface="Calibri" panose="020F0502020204030204" pitchFamily="34" charset="0"/>
                    <a:cs typeface="Calibri" panose="020F0502020204030204" pitchFamily="34" charset="0"/>
                  </a:rPr>
                  <a:t>Avidan</a:t>
                </a:r>
                <a:r>
                  <a:rPr lang="en-US" altLang="zh-TW" i="1" dirty="0">
                    <a:latin typeface="Calibri" panose="020F0502020204030204" pitchFamily="34" charset="0"/>
                    <a:ea typeface="Calibri" panose="020F0502020204030204" pitchFamily="34" charset="0"/>
                    <a:cs typeface="Calibri" panose="020F0502020204030204" pitchFamily="34" charset="0"/>
                  </a:rPr>
                  <a:t> and Ariel Shamir, </a:t>
                </a:r>
                <a:r>
                  <a:rPr lang="en-US" altLang="zh-TW" sz="1800" i="1" dirty="0">
                    <a:latin typeface="Calibri" panose="020F0502020204030204" pitchFamily="34" charset="0"/>
                    <a:ea typeface="Calibri" panose="020F0502020204030204" pitchFamily="34" charset="0"/>
                    <a:cs typeface="Calibri" panose="020F0502020204030204" pitchFamily="34" charset="0"/>
                  </a:rPr>
                  <a:t>“Seam Carving </a:t>
                </a:r>
                <a:r>
                  <a:rPr lang="en-US" altLang="zh-TW" i="1" dirty="0">
                    <a:latin typeface="Calibri" panose="020F0502020204030204" pitchFamily="34" charset="0"/>
                    <a:ea typeface="Calibri" panose="020F0502020204030204" pitchFamily="34" charset="0"/>
                    <a:cs typeface="Calibri" panose="020F0502020204030204" pitchFamily="34" charset="0"/>
                  </a:rPr>
                  <a:t>for Content-Aware Image Resizing</a:t>
                </a:r>
                <a:r>
                  <a:rPr lang="en-US" altLang="zh-TW" sz="1800" i="1" dirty="0">
                    <a:latin typeface="Calibri" panose="020F0502020204030204" pitchFamily="34" charset="0"/>
                    <a:ea typeface="Calibri" panose="020F0502020204030204" pitchFamily="34" charset="0"/>
                    <a:cs typeface="Calibri" panose="020F0502020204030204" pitchFamily="34" charset="0"/>
                  </a:rPr>
                  <a:t>" in </a:t>
                </a:r>
                <a:r>
                  <a:rPr lang="en-US" altLang="zh-TW" dirty="0">
                    <a:latin typeface="Calibri" panose="020F0502020204030204" pitchFamily="34" charset="0"/>
                    <a:ea typeface="Calibri" panose="020F0502020204030204" pitchFamily="34" charset="0"/>
                    <a:cs typeface="Calibri" panose="020F0502020204030204" pitchFamily="34" charset="0"/>
                  </a:rPr>
                  <a:t>ACM Transactions on Graphics · July 2007</a:t>
                </a:r>
                <a:endParaRPr lang="en-US" altLang="zh-TW" sz="1800" i="1" dirty="0">
                  <a:latin typeface="Calibri" panose="020F0502020204030204" pitchFamily="34" charset="0"/>
                  <a:ea typeface="Calibri" panose="020F0502020204030204" pitchFamily="34" charset="0"/>
                  <a:cs typeface="Calibri" panose="020F0502020204030204" pitchFamily="34" charset="0"/>
                </a:endParaRPr>
              </a:p>
              <a:p>
                <a:endParaRPr lang="en-US" altLang="zh-TW" dirty="0">
                  <a:latin typeface="Calibri" panose="020F0502020204030204" pitchFamily="34" charset="0"/>
                  <a:ea typeface="Calibri" panose="020F0502020204030204" pitchFamily="34" charset="0"/>
                  <a:cs typeface="Calibri" panose="020F0502020204030204" pitchFamily="34" charset="0"/>
                </a:endParaRPr>
              </a:p>
              <a:p>
                <a:pPr marL="285750" indent="-285750">
                  <a:lnSpc>
                    <a:spcPct val="150000"/>
                  </a:lnSpc>
                  <a:buFont typeface="Arial" panose="020B0604020202020204" pitchFamily="34" charset="0"/>
                  <a:buChar char="•"/>
                </a:pPr>
                <a:r>
                  <a:rPr lang="en-US" altLang="zh-TW" dirty="0">
                    <a:latin typeface="Calibri" panose="020F0502020204030204" pitchFamily="34" charset="0"/>
                    <a:ea typeface="Calibri" panose="020F0502020204030204" pitchFamily="34" charset="0"/>
                    <a:cs typeface="Calibri" panose="020F0502020204030204" pitchFamily="34" charset="0"/>
                  </a:rPr>
                  <a:t>Defined energy map by</a:t>
                </a:r>
              </a:p>
              <a:p>
                <a:pPr>
                  <a:lnSpc>
                    <a:spcPct val="150000"/>
                  </a:lnSpc>
                </a:pPr>
                <a14:m>
                  <m:oMath xmlns:m="http://schemas.openxmlformats.org/officeDocument/2006/math">
                    <m:r>
                      <a:rPr lang="en-US" altLang="zh-TW" b="0" i="1" smtClean="0">
                        <a:latin typeface="Cambria Math" panose="02040503050406030204" pitchFamily="18" charset="0"/>
                      </a:rPr>
                      <m:t>𝐸</m:t>
                    </m:r>
                    <m:d>
                      <m:dPr>
                        <m:ctrlPr>
                          <a:rPr lang="en-US" altLang="zh-TW" b="0" i="1" smtClean="0">
                            <a:latin typeface="Cambria Math" panose="02040503050406030204" pitchFamily="18" charset="0"/>
                          </a:rPr>
                        </m:ctrlPr>
                      </m:dPr>
                      <m:e>
                        <m:r>
                          <a:rPr lang="en-US" altLang="zh-TW" b="0" i="1" smtClean="0">
                            <a:latin typeface="Cambria Math" panose="02040503050406030204" pitchFamily="18" charset="0"/>
                          </a:rPr>
                          <m:t>𝑥</m:t>
                        </m:r>
                        <m:r>
                          <a:rPr lang="en-US" altLang="zh-TW" b="0" i="1" smtClean="0">
                            <a:latin typeface="Cambria Math" panose="02040503050406030204" pitchFamily="18" charset="0"/>
                          </a:rPr>
                          <m:t>, </m:t>
                        </m:r>
                        <m:r>
                          <a:rPr lang="en-US" altLang="zh-TW" b="0" i="1" smtClean="0">
                            <a:latin typeface="Cambria Math" panose="02040503050406030204" pitchFamily="18" charset="0"/>
                          </a:rPr>
                          <m:t>𝑦</m:t>
                        </m:r>
                      </m:e>
                    </m:d>
                    <m:r>
                      <a:rPr lang="en-US" altLang="zh-TW" b="0" i="1" smtClean="0">
                        <a:latin typeface="Cambria Math" panose="02040503050406030204" pitchFamily="18" charset="0"/>
                      </a:rPr>
                      <m:t>=</m:t>
                    </m:r>
                    <m:d>
                      <m:dPr>
                        <m:begChr m:val="|"/>
                        <m:endChr m:val="|"/>
                        <m:ctrlPr>
                          <a:rPr lang="en-US" altLang="zh-TW" b="0" i="1" smtClean="0">
                            <a:latin typeface="Cambria Math" panose="02040503050406030204" pitchFamily="18" charset="0"/>
                          </a:rPr>
                        </m:ctrlPr>
                      </m:dPr>
                      <m:e>
                        <m:f>
                          <m:fPr>
                            <m:ctrlPr>
                              <a:rPr lang="en-US" altLang="zh-TW" i="1">
                                <a:latin typeface="Cambria Math" panose="02040503050406030204" pitchFamily="18" charset="0"/>
                              </a:rPr>
                            </m:ctrlPr>
                          </m:fPr>
                          <m:num>
                            <m:r>
                              <a:rPr lang="en-US" altLang="zh-TW" i="1">
                                <a:latin typeface="Cambria Math" panose="02040503050406030204" pitchFamily="18" charset="0"/>
                              </a:rPr>
                              <m:t>𝜕</m:t>
                            </m:r>
                            <m:r>
                              <a:rPr lang="en-US" altLang="zh-TW" i="1">
                                <a:latin typeface="Cambria Math" panose="02040503050406030204" pitchFamily="18" charset="0"/>
                              </a:rPr>
                              <m:t>𝐼</m:t>
                            </m:r>
                          </m:num>
                          <m:den>
                            <m:r>
                              <a:rPr lang="en-US" altLang="zh-TW" i="1">
                                <a:latin typeface="Cambria Math" panose="02040503050406030204" pitchFamily="18" charset="0"/>
                              </a:rPr>
                              <m:t>𝜕</m:t>
                            </m:r>
                            <m:r>
                              <a:rPr lang="en-US" altLang="zh-TW" i="1">
                                <a:latin typeface="Cambria Math" panose="02040503050406030204" pitchFamily="18" charset="0"/>
                              </a:rPr>
                              <m:t>𝑥</m:t>
                            </m:r>
                          </m:den>
                        </m:f>
                      </m:e>
                    </m:d>
                    <m:r>
                      <a:rPr lang="en-US" altLang="zh-TW" b="0" i="1" smtClean="0">
                        <a:latin typeface="Cambria Math" panose="02040503050406030204" pitchFamily="18" charset="0"/>
                      </a:rPr>
                      <m:t>+</m:t>
                    </m:r>
                  </m:oMath>
                </a14:m>
                <a:r>
                  <a:rPr lang="en-US" altLang="zh-TW" dirty="0">
                    <a:latin typeface="Calibri" panose="020F0502020204030204" pitchFamily="34" charset="0"/>
                    <a:ea typeface="Calibri" panose="020F0502020204030204" pitchFamily="34" charset="0"/>
                    <a:cs typeface="Calibri" panose="020F0502020204030204" pitchFamily="34" charset="0"/>
                  </a:rPr>
                  <a:t> </a:t>
                </a:r>
                <a14:m>
                  <m:oMath xmlns:m="http://schemas.openxmlformats.org/officeDocument/2006/math">
                    <m:d>
                      <m:dPr>
                        <m:begChr m:val="|"/>
                        <m:endChr m:val="|"/>
                        <m:ctrlPr>
                          <a:rPr lang="en-US" altLang="zh-TW" i="1">
                            <a:latin typeface="Cambria Math" panose="02040503050406030204" pitchFamily="18" charset="0"/>
                          </a:rPr>
                        </m:ctrlPr>
                      </m:dPr>
                      <m:e>
                        <m:f>
                          <m:fPr>
                            <m:ctrlPr>
                              <a:rPr lang="en-US" altLang="zh-TW" i="1">
                                <a:latin typeface="Cambria Math" panose="02040503050406030204" pitchFamily="18" charset="0"/>
                              </a:rPr>
                            </m:ctrlPr>
                          </m:fPr>
                          <m:num>
                            <m:r>
                              <a:rPr lang="en-US" altLang="zh-TW" i="1">
                                <a:latin typeface="Cambria Math" panose="02040503050406030204" pitchFamily="18" charset="0"/>
                              </a:rPr>
                              <m:t>𝜕</m:t>
                            </m:r>
                            <m:r>
                              <a:rPr lang="en-US" altLang="zh-TW" i="1">
                                <a:latin typeface="Cambria Math" panose="02040503050406030204" pitchFamily="18" charset="0"/>
                              </a:rPr>
                              <m:t>𝐼</m:t>
                            </m:r>
                          </m:num>
                          <m:den>
                            <m:r>
                              <a:rPr lang="en-US" altLang="zh-TW" i="1">
                                <a:latin typeface="Cambria Math" panose="02040503050406030204" pitchFamily="18" charset="0"/>
                              </a:rPr>
                              <m:t>𝜕</m:t>
                            </m:r>
                            <m:r>
                              <a:rPr lang="en-US" altLang="zh-TW" b="0" i="1" smtClean="0">
                                <a:latin typeface="Cambria Math" panose="02040503050406030204" pitchFamily="18" charset="0"/>
                              </a:rPr>
                              <m:t>𝑦</m:t>
                            </m:r>
                          </m:den>
                        </m:f>
                      </m:e>
                    </m:d>
                  </m:oMath>
                </a14:m>
                <a:endParaRPr lang="en-US" altLang="zh-TW" dirty="0">
                  <a:latin typeface="Calibri" panose="020F0502020204030204" pitchFamily="34" charset="0"/>
                  <a:ea typeface="Calibri" panose="020F0502020204030204" pitchFamily="34" charset="0"/>
                  <a:cs typeface="Calibri" panose="020F0502020204030204" pitchFamily="34" charset="0"/>
                </a:endParaRPr>
              </a:p>
              <a:p>
                <a:pPr marL="285750" indent="-285750">
                  <a:lnSpc>
                    <a:spcPct val="150000"/>
                  </a:lnSpc>
                  <a:buFont typeface="Arial" panose="020B0604020202020204" pitchFamily="34" charset="0"/>
                  <a:buChar char="•"/>
                </a:pPr>
                <a:r>
                  <a:rPr lang="en-US" altLang="zh-TW" dirty="0">
                    <a:latin typeface="Calibri" panose="020F0502020204030204" pitchFamily="34" charset="0"/>
                    <a:ea typeface="Calibri" panose="020F0502020204030204" pitchFamily="34" charset="0"/>
                    <a:cs typeface="Calibri" panose="020F0502020204030204" pitchFamily="34" charset="0"/>
                  </a:rPr>
                  <a:t>For RGB colored image, define energy map: </a:t>
                </a:r>
              </a:p>
              <a:p>
                <a:pPr>
                  <a:lnSpc>
                    <a:spcPct val="150000"/>
                  </a:lnSpc>
                </a:pPr>
                <a14:m>
                  <m:oMath xmlns:m="http://schemas.openxmlformats.org/officeDocument/2006/math">
                    <m:r>
                      <a:rPr lang="en-US" altLang="zh-TW" b="0" i="1" smtClean="0">
                        <a:latin typeface="Cambria Math" panose="02040503050406030204" pitchFamily="18" charset="0"/>
                      </a:rPr>
                      <m:t>𝐸</m:t>
                    </m:r>
                    <m:d>
                      <m:dPr>
                        <m:ctrlPr>
                          <a:rPr lang="en-US" altLang="zh-TW" b="0" i="1" smtClean="0">
                            <a:latin typeface="Cambria Math" panose="02040503050406030204" pitchFamily="18" charset="0"/>
                          </a:rPr>
                        </m:ctrlPr>
                      </m:dPr>
                      <m:e>
                        <m:r>
                          <a:rPr lang="en-US" altLang="zh-TW" b="0" i="1" smtClean="0">
                            <a:latin typeface="Cambria Math" panose="02040503050406030204" pitchFamily="18" charset="0"/>
                          </a:rPr>
                          <m:t>𝑥</m:t>
                        </m:r>
                        <m:r>
                          <a:rPr lang="en-US" altLang="zh-TW" b="0" i="1" smtClean="0">
                            <a:latin typeface="Cambria Math" panose="02040503050406030204" pitchFamily="18" charset="0"/>
                          </a:rPr>
                          <m:t>, </m:t>
                        </m:r>
                        <m:r>
                          <a:rPr lang="en-US" altLang="zh-TW" b="0" i="1" smtClean="0">
                            <a:latin typeface="Cambria Math" panose="02040503050406030204" pitchFamily="18" charset="0"/>
                          </a:rPr>
                          <m:t>𝑦</m:t>
                        </m:r>
                      </m:e>
                    </m:d>
                    <m:r>
                      <a:rPr lang="en-US" altLang="zh-TW" b="0" i="1" smtClean="0">
                        <a:latin typeface="Cambria Math" panose="02040503050406030204" pitchFamily="18" charset="0"/>
                      </a:rPr>
                      <m:t>=</m:t>
                    </m:r>
                    <m:d>
                      <m:dPr>
                        <m:begChr m:val="|"/>
                        <m:endChr m:val="|"/>
                        <m:ctrlPr>
                          <a:rPr lang="en-US" altLang="zh-TW" b="0" i="1" smtClean="0">
                            <a:latin typeface="Cambria Math" panose="02040503050406030204" pitchFamily="18" charset="0"/>
                          </a:rPr>
                        </m:ctrlPr>
                      </m:dPr>
                      <m:e>
                        <m:f>
                          <m:fPr>
                            <m:ctrlPr>
                              <a:rPr lang="en-US" altLang="zh-TW" i="1">
                                <a:latin typeface="Cambria Math" panose="02040503050406030204" pitchFamily="18" charset="0"/>
                              </a:rPr>
                            </m:ctrlPr>
                          </m:fPr>
                          <m:num>
                            <m:r>
                              <a:rPr lang="en-US" altLang="zh-TW" i="1">
                                <a:latin typeface="Cambria Math" panose="02040503050406030204" pitchFamily="18" charset="0"/>
                              </a:rPr>
                              <m:t>𝜕</m:t>
                            </m:r>
                            <m:sSub>
                              <m:sSubPr>
                                <m:ctrlPr>
                                  <a:rPr lang="en-US" altLang="zh-TW" i="1" smtClean="0">
                                    <a:latin typeface="Cambria Math" panose="02040503050406030204" pitchFamily="18" charset="0"/>
                                  </a:rPr>
                                </m:ctrlPr>
                              </m:sSubPr>
                              <m:e>
                                <m:r>
                                  <a:rPr lang="en-US" altLang="zh-TW" b="0" i="1" smtClean="0">
                                    <a:latin typeface="Cambria Math" panose="02040503050406030204" pitchFamily="18" charset="0"/>
                                  </a:rPr>
                                  <m:t>𝐼</m:t>
                                </m:r>
                              </m:e>
                              <m:sub>
                                <m:r>
                                  <a:rPr lang="en-US" altLang="zh-TW" b="0" i="1" smtClean="0">
                                    <a:latin typeface="Cambria Math" panose="02040503050406030204" pitchFamily="18" charset="0"/>
                                  </a:rPr>
                                  <m:t>𝑅</m:t>
                                </m:r>
                              </m:sub>
                            </m:sSub>
                          </m:num>
                          <m:den>
                            <m:r>
                              <a:rPr lang="en-US" altLang="zh-TW" i="1">
                                <a:latin typeface="Cambria Math" panose="02040503050406030204" pitchFamily="18" charset="0"/>
                              </a:rPr>
                              <m:t>𝜕</m:t>
                            </m:r>
                            <m:r>
                              <a:rPr lang="en-US" altLang="zh-TW" i="1">
                                <a:latin typeface="Cambria Math" panose="02040503050406030204" pitchFamily="18" charset="0"/>
                              </a:rPr>
                              <m:t>𝑥</m:t>
                            </m:r>
                          </m:den>
                        </m:f>
                      </m:e>
                    </m:d>
                    <m:r>
                      <a:rPr lang="en-US" altLang="zh-TW" b="0" i="1" smtClean="0">
                        <a:latin typeface="Cambria Math" panose="02040503050406030204" pitchFamily="18" charset="0"/>
                      </a:rPr>
                      <m:t>+</m:t>
                    </m:r>
                  </m:oMath>
                </a14:m>
                <a:r>
                  <a:rPr lang="en-US" altLang="zh-TW" dirty="0">
                    <a:latin typeface="Calibri" panose="020F0502020204030204" pitchFamily="34" charset="0"/>
                    <a:ea typeface="Calibri" panose="020F0502020204030204" pitchFamily="34" charset="0"/>
                    <a:cs typeface="Calibri" panose="020F0502020204030204" pitchFamily="34" charset="0"/>
                  </a:rPr>
                  <a:t> </a:t>
                </a:r>
                <a14:m>
                  <m:oMath xmlns:m="http://schemas.openxmlformats.org/officeDocument/2006/math">
                    <m:d>
                      <m:dPr>
                        <m:begChr m:val="|"/>
                        <m:endChr m:val="|"/>
                        <m:ctrlPr>
                          <a:rPr lang="en-US" altLang="zh-TW" i="1">
                            <a:latin typeface="Cambria Math" panose="02040503050406030204" pitchFamily="18" charset="0"/>
                          </a:rPr>
                        </m:ctrlPr>
                      </m:dPr>
                      <m:e>
                        <m:f>
                          <m:fPr>
                            <m:ctrlPr>
                              <a:rPr lang="en-US" altLang="zh-TW" i="1">
                                <a:latin typeface="Cambria Math" panose="02040503050406030204" pitchFamily="18" charset="0"/>
                              </a:rPr>
                            </m:ctrlPr>
                          </m:fPr>
                          <m:num>
                            <m:r>
                              <a:rPr lang="en-US" altLang="zh-TW" i="1" smtClean="0">
                                <a:latin typeface="Cambria Math" panose="02040503050406030204" pitchFamily="18" charset="0"/>
                              </a:rPr>
                              <m:t>𝜕</m:t>
                            </m:r>
                            <m:sSub>
                              <m:sSubPr>
                                <m:ctrlPr>
                                  <a:rPr lang="en-US" altLang="zh-TW" i="1" smtClean="0">
                                    <a:latin typeface="Cambria Math" panose="02040503050406030204" pitchFamily="18" charset="0"/>
                                  </a:rPr>
                                </m:ctrlPr>
                              </m:sSubPr>
                              <m:e>
                                <m:r>
                                  <a:rPr lang="en-US" altLang="zh-TW" b="0" i="1" smtClean="0">
                                    <a:latin typeface="Cambria Math" panose="02040503050406030204" pitchFamily="18" charset="0"/>
                                  </a:rPr>
                                  <m:t>𝐼</m:t>
                                </m:r>
                              </m:e>
                              <m:sub>
                                <m:r>
                                  <a:rPr lang="en-US" altLang="zh-TW" b="0" i="1" smtClean="0">
                                    <a:latin typeface="Cambria Math" panose="02040503050406030204" pitchFamily="18" charset="0"/>
                                  </a:rPr>
                                  <m:t>𝑅</m:t>
                                </m:r>
                              </m:sub>
                            </m:sSub>
                          </m:num>
                          <m:den>
                            <m:r>
                              <a:rPr lang="en-US" altLang="zh-TW" i="1">
                                <a:latin typeface="Cambria Math" panose="02040503050406030204" pitchFamily="18" charset="0"/>
                              </a:rPr>
                              <m:t>𝜕</m:t>
                            </m:r>
                            <m:r>
                              <a:rPr lang="en-US" altLang="zh-TW" b="0" i="1" smtClean="0">
                                <a:latin typeface="Cambria Math" panose="02040503050406030204" pitchFamily="18" charset="0"/>
                              </a:rPr>
                              <m:t>𝑦</m:t>
                            </m:r>
                          </m:den>
                        </m:f>
                      </m:e>
                    </m:d>
                  </m:oMath>
                </a14:m>
                <a:r>
                  <a:rPr lang="zh-TW" altLang="en-US" dirty="0">
                    <a:latin typeface="Calibri" panose="020F0502020204030204" pitchFamily="34" charset="0"/>
                    <a:cs typeface="Calibri" panose="020F0502020204030204" pitchFamily="34" charset="0"/>
                  </a:rPr>
                  <a:t> </a:t>
                </a:r>
                <a:r>
                  <a:rPr lang="en-US" altLang="zh-TW" dirty="0">
                    <a:latin typeface="Calibri" panose="020F0502020204030204" pitchFamily="34" charset="0"/>
                    <a:cs typeface="Calibri" panose="020F0502020204030204" pitchFamily="34" charset="0"/>
                  </a:rPr>
                  <a:t>+ </a:t>
                </a:r>
                <a14:m>
                  <m:oMath xmlns:m="http://schemas.openxmlformats.org/officeDocument/2006/math">
                    <m:d>
                      <m:dPr>
                        <m:begChr m:val="|"/>
                        <m:endChr m:val="|"/>
                        <m:ctrlPr>
                          <a:rPr lang="en-US" altLang="zh-TW" i="1">
                            <a:latin typeface="Cambria Math" panose="02040503050406030204" pitchFamily="18" charset="0"/>
                          </a:rPr>
                        </m:ctrlPr>
                      </m:dPr>
                      <m:e>
                        <m:f>
                          <m:fPr>
                            <m:ctrlPr>
                              <a:rPr lang="en-US" altLang="zh-TW" i="1">
                                <a:latin typeface="Cambria Math" panose="02040503050406030204" pitchFamily="18" charset="0"/>
                              </a:rPr>
                            </m:ctrlPr>
                          </m:fPr>
                          <m:num>
                            <m:r>
                              <a:rPr lang="en-US" altLang="zh-TW" i="1">
                                <a:latin typeface="Cambria Math" panose="02040503050406030204" pitchFamily="18" charset="0"/>
                              </a:rPr>
                              <m:t>𝜕</m:t>
                            </m:r>
                            <m:sSub>
                              <m:sSubPr>
                                <m:ctrlPr>
                                  <a:rPr lang="en-US" altLang="zh-TW" i="1">
                                    <a:latin typeface="Cambria Math" panose="02040503050406030204" pitchFamily="18" charset="0"/>
                                  </a:rPr>
                                </m:ctrlPr>
                              </m:sSubPr>
                              <m:e>
                                <m:r>
                                  <a:rPr lang="en-US" altLang="zh-TW" i="1">
                                    <a:latin typeface="Cambria Math" panose="02040503050406030204" pitchFamily="18" charset="0"/>
                                  </a:rPr>
                                  <m:t>𝐼</m:t>
                                </m:r>
                              </m:e>
                              <m:sub>
                                <m:r>
                                  <a:rPr lang="en-US" altLang="zh-TW" b="0" i="1" smtClean="0">
                                    <a:latin typeface="Cambria Math" panose="02040503050406030204" pitchFamily="18" charset="0"/>
                                  </a:rPr>
                                  <m:t>𝐺</m:t>
                                </m:r>
                              </m:sub>
                            </m:sSub>
                          </m:num>
                          <m:den>
                            <m:r>
                              <a:rPr lang="en-US" altLang="zh-TW" i="1">
                                <a:latin typeface="Cambria Math" panose="02040503050406030204" pitchFamily="18" charset="0"/>
                              </a:rPr>
                              <m:t>𝜕</m:t>
                            </m:r>
                            <m:r>
                              <a:rPr lang="en-US" altLang="zh-TW" i="1">
                                <a:latin typeface="Cambria Math" panose="02040503050406030204" pitchFamily="18" charset="0"/>
                              </a:rPr>
                              <m:t>𝑥</m:t>
                            </m:r>
                          </m:den>
                        </m:f>
                      </m:e>
                    </m:d>
                    <m:r>
                      <a:rPr lang="en-US" altLang="zh-TW" i="1">
                        <a:latin typeface="Cambria Math" panose="02040503050406030204" pitchFamily="18" charset="0"/>
                      </a:rPr>
                      <m:t>+</m:t>
                    </m:r>
                  </m:oMath>
                </a14:m>
                <a:r>
                  <a:rPr lang="en-US" altLang="zh-TW" dirty="0">
                    <a:latin typeface="Calibri" panose="020F0502020204030204" pitchFamily="34" charset="0"/>
                    <a:ea typeface="Calibri" panose="020F0502020204030204" pitchFamily="34" charset="0"/>
                    <a:cs typeface="Calibri" panose="020F0502020204030204" pitchFamily="34" charset="0"/>
                  </a:rPr>
                  <a:t> </a:t>
                </a:r>
                <a14:m>
                  <m:oMath xmlns:m="http://schemas.openxmlformats.org/officeDocument/2006/math">
                    <m:d>
                      <m:dPr>
                        <m:begChr m:val="|"/>
                        <m:endChr m:val="|"/>
                        <m:ctrlPr>
                          <a:rPr lang="en-US" altLang="zh-TW" i="1">
                            <a:latin typeface="Cambria Math" panose="02040503050406030204" pitchFamily="18" charset="0"/>
                          </a:rPr>
                        </m:ctrlPr>
                      </m:dPr>
                      <m:e>
                        <m:f>
                          <m:fPr>
                            <m:ctrlPr>
                              <a:rPr lang="en-US" altLang="zh-TW" i="1">
                                <a:latin typeface="Cambria Math" panose="02040503050406030204" pitchFamily="18" charset="0"/>
                              </a:rPr>
                            </m:ctrlPr>
                          </m:fPr>
                          <m:num>
                            <m:r>
                              <a:rPr lang="en-US" altLang="zh-TW" i="1">
                                <a:latin typeface="Cambria Math" panose="02040503050406030204" pitchFamily="18" charset="0"/>
                              </a:rPr>
                              <m:t>𝜕</m:t>
                            </m:r>
                            <m:sSub>
                              <m:sSubPr>
                                <m:ctrlPr>
                                  <a:rPr lang="en-US" altLang="zh-TW" i="1">
                                    <a:latin typeface="Cambria Math" panose="02040503050406030204" pitchFamily="18" charset="0"/>
                                  </a:rPr>
                                </m:ctrlPr>
                              </m:sSubPr>
                              <m:e>
                                <m:r>
                                  <a:rPr lang="en-US" altLang="zh-TW" i="1">
                                    <a:latin typeface="Cambria Math" panose="02040503050406030204" pitchFamily="18" charset="0"/>
                                  </a:rPr>
                                  <m:t>𝐼</m:t>
                                </m:r>
                              </m:e>
                              <m:sub>
                                <m:r>
                                  <a:rPr lang="en-US" altLang="zh-TW" b="0" i="1" smtClean="0">
                                    <a:latin typeface="Cambria Math" panose="02040503050406030204" pitchFamily="18" charset="0"/>
                                  </a:rPr>
                                  <m:t>𝐺</m:t>
                                </m:r>
                              </m:sub>
                            </m:sSub>
                          </m:num>
                          <m:den>
                            <m:r>
                              <a:rPr lang="en-US" altLang="zh-TW" i="1">
                                <a:latin typeface="Cambria Math" panose="02040503050406030204" pitchFamily="18" charset="0"/>
                              </a:rPr>
                              <m:t>𝜕</m:t>
                            </m:r>
                            <m:r>
                              <a:rPr lang="en-US" altLang="zh-TW" i="1">
                                <a:latin typeface="Cambria Math" panose="02040503050406030204" pitchFamily="18" charset="0"/>
                              </a:rPr>
                              <m:t>𝑦</m:t>
                            </m:r>
                          </m:den>
                        </m:f>
                      </m:e>
                    </m:d>
                  </m:oMath>
                </a14:m>
                <a:r>
                  <a:rPr lang="zh-TW" altLang="en-US" dirty="0">
                    <a:latin typeface="Calibri" panose="020F0502020204030204" pitchFamily="34" charset="0"/>
                    <a:cs typeface="Calibri" panose="020F0502020204030204" pitchFamily="34" charset="0"/>
                  </a:rPr>
                  <a:t> </a:t>
                </a:r>
                <a:r>
                  <a:rPr lang="en-US" altLang="zh-TW" dirty="0">
                    <a:latin typeface="Calibri" panose="020F0502020204030204" pitchFamily="34" charset="0"/>
                    <a:cs typeface="Calibri" panose="020F0502020204030204" pitchFamily="34" charset="0"/>
                  </a:rPr>
                  <a:t>+ </a:t>
                </a:r>
                <a14:m>
                  <m:oMath xmlns:m="http://schemas.openxmlformats.org/officeDocument/2006/math">
                    <m:d>
                      <m:dPr>
                        <m:begChr m:val="|"/>
                        <m:endChr m:val="|"/>
                        <m:ctrlPr>
                          <a:rPr lang="en-US" altLang="zh-TW" i="1">
                            <a:latin typeface="Cambria Math" panose="02040503050406030204" pitchFamily="18" charset="0"/>
                          </a:rPr>
                        </m:ctrlPr>
                      </m:dPr>
                      <m:e>
                        <m:f>
                          <m:fPr>
                            <m:ctrlPr>
                              <a:rPr lang="en-US" altLang="zh-TW" i="1">
                                <a:latin typeface="Cambria Math" panose="02040503050406030204" pitchFamily="18" charset="0"/>
                              </a:rPr>
                            </m:ctrlPr>
                          </m:fPr>
                          <m:num>
                            <m:r>
                              <a:rPr lang="en-US" altLang="zh-TW" i="1">
                                <a:latin typeface="Cambria Math" panose="02040503050406030204" pitchFamily="18" charset="0"/>
                              </a:rPr>
                              <m:t>𝜕</m:t>
                            </m:r>
                            <m:sSub>
                              <m:sSubPr>
                                <m:ctrlPr>
                                  <a:rPr lang="en-US" altLang="zh-TW" i="1">
                                    <a:latin typeface="Cambria Math" panose="02040503050406030204" pitchFamily="18" charset="0"/>
                                  </a:rPr>
                                </m:ctrlPr>
                              </m:sSubPr>
                              <m:e>
                                <m:r>
                                  <a:rPr lang="en-US" altLang="zh-TW" i="1">
                                    <a:latin typeface="Cambria Math" panose="02040503050406030204" pitchFamily="18" charset="0"/>
                                  </a:rPr>
                                  <m:t>𝐼</m:t>
                                </m:r>
                              </m:e>
                              <m:sub>
                                <m:r>
                                  <a:rPr lang="en-US" altLang="zh-TW" b="0" i="1" smtClean="0">
                                    <a:latin typeface="Cambria Math" panose="02040503050406030204" pitchFamily="18" charset="0"/>
                                  </a:rPr>
                                  <m:t>𝐵</m:t>
                                </m:r>
                              </m:sub>
                            </m:sSub>
                          </m:num>
                          <m:den>
                            <m:r>
                              <a:rPr lang="en-US" altLang="zh-TW" i="1">
                                <a:latin typeface="Cambria Math" panose="02040503050406030204" pitchFamily="18" charset="0"/>
                              </a:rPr>
                              <m:t>𝜕</m:t>
                            </m:r>
                            <m:r>
                              <a:rPr lang="en-US" altLang="zh-TW" i="1">
                                <a:latin typeface="Cambria Math" panose="02040503050406030204" pitchFamily="18" charset="0"/>
                              </a:rPr>
                              <m:t>𝑥</m:t>
                            </m:r>
                          </m:den>
                        </m:f>
                      </m:e>
                    </m:d>
                    <m:r>
                      <a:rPr lang="en-US" altLang="zh-TW" i="1">
                        <a:latin typeface="Cambria Math" panose="02040503050406030204" pitchFamily="18" charset="0"/>
                      </a:rPr>
                      <m:t>+</m:t>
                    </m:r>
                  </m:oMath>
                </a14:m>
                <a:r>
                  <a:rPr lang="en-US" altLang="zh-TW" dirty="0">
                    <a:latin typeface="Calibri" panose="020F0502020204030204" pitchFamily="34" charset="0"/>
                    <a:ea typeface="Calibri" panose="020F0502020204030204" pitchFamily="34" charset="0"/>
                    <a:cs typeface="Calibri" panose="020F0502020204030204" pitchFamily="34" charset="0"/>
                  </a:rPr>
                  <a:t> </a:t>
                </a:r>
                <a14:m>
                  <m:oMath xmlns:m="http://schemas.openxmlformats.org/officeDocument/2006/math">
                    <m:d>
                      <m:dPr>
                        <m:begChr m:val="|"/>
                        <m:endChr m:val="|"/>
                        <m:ctrlPr>
                          <a:rPr lang="en-US" altLang="zh-TW" i="1">
                            <a:latin typeface="Cambria Math" panose="02040503050406030204" pitchFamily="18" charset="0"/>
                          </a:rPr>
                        </m:ctrlPr>
                      </m:dPr>
                      <m:e>
                        <m:f>
                          <m:fPr>
                            <m:ctrlPr>
                              <a:rPr lang="en-US" altLang="zh-TW" i="1">
                                <a:latin typeface="Cambria Math" panose="02040503050406030204" pitchFamily="18" charset="0"/>
                              </a:rPr>
                            </m:ctrlPr>
                          </m:fPr>
                          <m:num>
                            <m:r>
                              <a:rPr lang="en-US" altLang="zh-TW" i="1">
                                <a:latin typeface="Cambria Math" panose="02040503050406030204" pitchFamily="18" charset="0"/>
                              </a:rPr>
                              <m:t>𝜕</m:t>
                            </m:r>
                            <m:sSub>
                              <m:sSubPr>
                                <m:ctrlPr>
                                  <a:rPr lang="en-US" altLang="zh-TW" i="1">
                                    <a:latin typeface="Cambria Math" panose="02040503050406030204" pitchFamily="18" charset="0"/>
                                  </a:rPr>
                                </m:ctrlPr>
                              </m:sSubPr>
                              <m:e>
                                <m:r>
                                  <a:rPr lang="en-US" altLang="zh-TW" i="1">
                                    <a:latin typeface="Cambria Math" panose="02040503050406030204" pitchFamily="18" charset="0"/>
                                  </a:rPr>
                                  <m:t>𝐼</m:t>
                                </m:r>
                              </m:e>
                              <m:sub>
                                <m:r>
                                  <a:rPr lang="en-US" altLang="zh-TW" b="0" i="1" smtClean="0">
                                    <a:latin typeface="Cambria Math" panose="02040503050406030204" pitchFamily="18" charset="0"/>
                                  </a:rPr>
                                  <m:t>𝐵</m:t>
                                </m:r>
                              </m:sub>
                            </m:sSub>
                          </m:num>
                          <m:den>
                            <m:r>
                              <a:rPr lang="en-US" altLang="zh-TW" i="1">
                                <a:latin typeface="Cambria Math" panose="02040503050406030204" pitchFamily="18" charset="0"/>
                              </a:rPr>
                              <m:t>𝜕</m:t>
                            </m:r>
                            <m:r>
                              <a:rPr lang="en-US" altLang="zh-TW" i="1">
                                <a:latin typeface="Cambria Math" panose="02040503050406030204" pitchFamily="18" charset="0"/>
                              </a:rPr>
                              <m:t>𝑦</m:t>
                            </m:r>
                          </m:den>
                        </m:f>
                      </m:e>
                    </m:d>
                  </m:oMath>
                </a14:m>
                <a:endParaRPr lang="en-US" altLang="zh-TW" dirty="0">
                  <a:latin typeface="Calibri" panose="020F0502020204030204" pitchFamily="34" charset="0"/>
                  <a:cs typeface="Calibri" panose="020F0502020204030204" pitchFamily="34" charset="0"/>
                </a:endParaRPr>
              </a:p>
              <a:p>
                <a:pPr>
                  <a:lnSpc>
                    <a:spcPct val="150000"/>
                  </a:lnSpc>
                </a:pPr>
                <a:r>
                  <a:rPr lang="en-US" altLang="zh-TW" dirty="0">
                    <a:latin typeface="Calibri" panose="020F0502020204030204" pitchFamily="34" charset="0"/>
                    <a:cs typeface="Calibri" panose="020F0502020204030204" pitchFamily="34" charset="0"/>
                  </a:rPr>
                  <a:t>for later calculation on dynamic programming.</a:t>
                </a:r>
                <a:endParaRPr lang="zh-TW" altLang="en-US" dirty="0">
                  <a:latin typeface="Calibri" panose="020F0502020204030204" pitchFamily="34" charset="0"/>
                  <a:cs typeface="Calibri" panose="020F0502020204030204" pitchFamily="34" charset="0"/>
                </a:endParaRPr>
              </a:p>
            </p:txBody>
          </p:sp>
        </mc:Choice>
        <mc:Fallback xmlns="">
          <p:sp>
            <p:nvSpPr>
              <p:cNvPr id="20" name="文字方塊 19">
                <a:extLst>
                  <a:ext uri="{FF2B5EF4-FFF2-40B4-BE49-F238E27FC236}">
                    <a16:creationId xmlns:a16="http://schemas.microsoft.com/office/drawing/2014/main" id="{B8D96071-C29B-22B3-1A7B-4A1BED8F8E58}"/>
                  </a:ext>
                </a:extLst>
              </p:cNvPr>
              <p:cNvSpPr txBox="1">
                <a:spLocks noRot="1" noChangeAspect="1" noMove="1" noResize="1" noEditPoints="1" noAdjustHandles="1" noChangeArrowheads="1" noChangeShapeType="1" noTextEdit="1"/>
              </p:cNvSpPr>
              <p:nvPr/>
            </p:nvSpPr>
            <p:spPr>
              <a:xfrm>
                <a:off x="6853085" y="1275130"/>
                <a:ext cx="5338915" cy="3718454"/>
              </a:xfrm>
              <a:prstGeom prst="rect">
                <a:avLst/>
              </a:prstGeom>
              <a:blipFill>
                <a:blip r:embed="rId6"/>
                <a:stretch>
                  <a:fillRect l="-913" t="-820" r="-1826" b="-1639"/>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268283988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E610F81-C9B1-3586-95EC-9C03012D0E22}"/>
              </a:ext>
            </a:extLst>
          </p:cNvPr>
          <p:cNvSpPr>
            <a:spLocks noGrp="1"/>
          </p:cNvSpPr>
          <p:nvPr>
            <p:ph type="title"/>
          </p:nvPr>
        </p:nvSpPr>
        <p:spPr>
          <a:xfrm>
            <a:off x="913773" y="0"/>
            <a:ext cx="10364451" cy="1596177"/>
          </a:xfrm>
        </p:spPr>
        <p:txBody>
          <a:bodyPr/>
          <a:lstStyle/>
          <a:p>
            <a:r>
              <a:rPr lang="en-US" altLang="zh-TW" cap="none" dirty="0"/>
              <a:t>Seam carving implementation</a:t>
            </a:r>
            <a:endParaRPr lang="zh-TW" altLang="en-US" cap="none" dirty="0"/>
          </a:p>
        </p:txBody>
      </p:sp>
      <p:pic>
        <p:nvPicPr>
          <p:cNvPr id="7" name="圖片 6" descr="一張含有 文字, 螢幕擷取畫面, 字型, 數字 的圖片&#10;&#10;自動產生的描述">
            <a:extLst>
              <a:ext uri="{FF2B5EF4-FFF2-40B4-BE49-F238E27FC236}">
                <a16:creationId xmlns:a16="http://schemas.microsoft.com/office/drawing/2014/main" id="{32C21780-9D2E-E729-410B-BB7452599A5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37203" y="1396099"/>
            <a:ext cx="5521031" cy="4486541"/>
          </a:xfrm>
          <a:prstGeom prst="rect">
            <a:avLst/>
          </a:prstGeom>
        </p:spPr>
      </p:pic>
      <p:sp>
        <p:nvSpPr>
          <p:cNvPr id="8" name="文字方塊 7">
            <a:extLst>
              <a:ext uri="{FF2B5EF4-FFF2-40B4-BE49-F238E27FC236}">
                <a16:creationId xmlns:a16="http://schemas.microsoft.com/office/drawing/2014/main" id="{EB2CBFAB-9D84-5138-C9A6-5B9C32755D61}"/>
              </a:ext>
            </a:extLst>
          </p:cNvPr>
          <p:cNvSpPr txBox="1"/>
          <p:nvPr/>
        </p:nvSpPr>
        <p:spPr>
          <a:xfrm>
            <a:off x="6498920" y="1721616"/>
            <a:ext cx="5222240" cy="3139321"/>
          </a:xfrm>
          <a:prstGeom prst="rect">
            <a:avLst/>
          </a:prstGeom>
          <a:noFill/>
        </p:spPr>
        <p:txBody>
          <a:bodyPr wrap="square" rtlCol="0">
            <a:spAutoFit/>
          </a:bodyPr>
          <a:lstStyle/>
          <a:p>
            <a:pPr marL="285750" indent="-285750">
              <a:buFont typeface="Arial" panose="020B0604020202020204" pitchFamily="34" charset="0"/>
              <a:buChar char="•"/>
            </a:pPr>
            <a:r>
              <a:rPr lang="en-US" altLang="zh-TW" dirty="0">
                <a:latin typeface="Calibri" panose="020F0502020204030204" pitchFamily="34" charset="0"/>
                <a:ea typeface="Calibri" panose="020F0502020204030204" pitchFamily="34" charset="0"/>
                <a:cs typeface="Calibri" panose="020F0502020204030204" pitchFamily="34" charset="0"/>
              </a:rPr>
              <a:t>After applying the filter to the image, it is now sharpened at the near contents and smoothed at the far background. </a:t>
            </a:r>
          </a:p>
          <a:p>
            <a:pPr marL="285750" indent="-285750">
              <a:buFont typeface="Arial" panose="020B0604020202020204" pitchFamily="34" charset="0"/>
              <a:buChar char="•"/>
            </a:pPr>
            <a:r>
              <a:rPr lang="en-US" altLang="zh-TW" dirty="0">
                <a:latin typeface="Calibri" panose="020F0502020204030204" pitchFamily="34" charset="0"/>
                <a:ea typeface="Calibri" panose="020F0502020204030204" pitchFamily="34" charset="0"/>
                <a:cs typeface="Calibri" panose="020F0502020204030204" pitchFamily="34" charset="0"/>
              </a:rPr>
              <a:t>The energy map is supposed to have smaller value on background and bigger value at contents. Therefore, the seam track of filtered image will be different from the seam track of the original image.</a:t>
            </a:r>
          </a:p>
          <a:p>
            <a:pPr marL="285750" indent="-285750">
              <a:buFont typeface="Arial" panose="020B0604020202020204" pitchFamily="34" charset="0"/>
              <a:buChar char="•"/>
            </a:pPr>
            <a:r>
              <a:rPr lang="en-US" altLang="zh-TW" dirty="0">
                <a:latin typeface="Calibri" panose="020F0502020204030204" pitchFamily="34" charset="0"/>
                <a:ea typeface="Calibri" panose="020F0502020204030204" pitchFamily="34" charset="0"/>
                <a:cs typeface="Calibri" panose="020F0502020204030204" pitchFamily="34" charset="0"/>
              </a:rPr>
              <a:t>To make the seam path clear, it is marked as red. When there are more than one seam to be removed, they are recorded and marked once at the end.</a:t>
            </a:r>
            <a:endParaRPr lang="zh-TW" altLang="en-US"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50835734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1345A40-7F6D-5A66-AD3E-3F98D3644FDD}"/>
              </a:ext>
            </a:extLst>
          </p:cNvPr>
          <p:cNvSpPr>
            <a:spLocks noGrp="1"/>
          </p:cNvSpPr>
          <p:nvPr>
            <p:ph type="title"/>
          </p:nvPr>
        </p:nvSpPr>
        <p:spPr>
          <a:xfrm>
            <a:off x="913774" y="-346683"/>
            <a:ext cx="10364451" cy="1596177"/>
          </a:xfrm>
        </p:spPr>
        <p:txBody>
          <a:bodyPr/>
          <a:lstStyle/>
          <a:p>
            <a:r>
              <a:rPr lang="en-US" altLang="zh-TW" cap="none" dirty="0">
                <a:latin typeface="Calibri" panose="020F0502020204030204" pitchFamily="34" charset="0"/>
                <a:ea typeface="Calibri" panose="020F0502020204030204" pitchFamily="34" charset="0"/>
                <a:cs typeface="Calibri" panose="020F0502020204030204" pitchFamily="34" charset="0"/>
              </a:rPr>
              <a:t>Result</a:t>
            </a:r>
            <a:endParaRPr lang="zh-TW" altLang="en-US" cap="none" dirty="0">
              <a:latin typeface="Calibri" panose="020F0502020204030204" pitchFamily="34" charset="0"/>
              <a:cs typeface="Calibri" panose="020F0502020204030204" pitchFamily="34" charset="0"/>
            </a:endParaRPr>
          </a:p>
        </p:txBody>
      </p:sp>
      <p:pic>
        <p:nvPicPr>
          <p:cNvPr id="10" name="圖片 9">
            <a:extLst>
              <a:ext uri="{FF2B5EF4-FFF2-40B4-BE49-F238E27FC236}">
                <a16:creationId xmlns:a16="http://schemas.microsoft.com/office/drawing/2014/main" id="{CA60AE8D-07B4-19E1-B36F-5D75E5D57596}"/>
              </a:ext>
            </a:extLst>
          </p:cNvPr>
          <p:cNvPicPr>
            <a:picLocks noChangeAspect="1"/>
          </p:cNvPicPr>
          <p:nvPr/>
        </p:nvPicPr>
        <p:blipFill>
          <a:blip r:embed="rId2"/>
          <a:stretch>
            <a:fillRect/>
          </a:stretch>
        </p:blipFill>
        <p:spPr>
          <a:xfrm>
            <a:off x="1165774" y="632792"/>
            <a:ext cx="3356803" cy="2967018"/>
          </a:xfrm>
          <a:prstGeom prst="rect">
            <a:avLst/>
          </a:prstGeom>
        </p:spPr>
      </p:pic>
      <p:pic>
        <p:nvPicPr>
          <p:cNvPr id="12" name="圖片 11">
            <a:extLst>
              <a:ext uri="{FF2B5EF4-FFF2-40B4-BE49-F238E27FC236}">
                <a16:creationId xmlns:a16="http://schemas.microsoft.com/office/drawing/2014/main" id="{C1676EBD-8414-3E66-BCE4-43F0BD5BB66B}"/>
              </a:ext>
            </a:extLst>
          </p:cNvPr>
          <p:cNvPicPr>
            <a:picLocks noChangeAspect="1"/>
          </p:cNvPicPr>
          <p:nvPr/>
        </p:nvPicPr>
        <p:blipFill>
          <a:blip r:embed="rId3"/>
          <a:stretch>
            <a:fillRect/>
          </a:stretch>
        </p:blipFill>
        <p:spPr>
          <a:xfrm>
            <a:off x="1198254" y="3722101"/>
            <a:ext cx="3378288" cy="2967018"/>
          </a:xfrm>
          <a:prstGeom prst="rect">
            <a:avLst/>
          </a:prstGeom>
        </p:spPr>
      </p:pic>
      <p:pic>
        <p:nvPicPr>
          <p:cNvPr id="5" name="圖片 4" descr="一張含有 油畫, 藝術, 視覺藝術, 現代藝術 的圖片&#10;&#10;自動產生的描述">
            <a:extLst>
              <a:ext uri="{FF2B5EF4-FFF2-40B4-BE49-F238E27FC236}">
                <a16:creationId xmlns:a16="http://schemas.microsoft.com/office/drawing/2014/main" id="{6C29F751-C825-58BE-BD53-BA76ADC2F3BA}"/>
              </a:ext>
            </a:extLst>
          </p:cNvPr>
          <p:cNvPicPr>
            <a:picLocks noChangeAspect="1"/>
          </p:cNvPicPr>
          <p:nvPr/>
        </p:nvPicPr>
        <p:blipFill>
          <a:blip r:embed="rId4">
            <a:extLst>
              <a:ext uri="{28A0092B-C50C-407E-A947-70E740481C1C}">
                <a14:useLocalDpi xmlns:a14="http://schemas.microsoft.com/office/drawing/2010/main" val="0"/>
              </a:ext>
            </a:extLst>
          </a:blip>
          <a:srcRect l="15614" t="6135" r="12153" b="9757"/>
          <a:stretch/>
        </p:blipFill>
        <p:spPr>
          <a:xfrm>
            <a:off x="4567886" y="649522"/>
            <a:ext cx="3378288" cy="2950288"/>
          </a:xfrm>
          <a:prstGeom prst="rect">
            <a:avLst/>
          </a:prstGeom>
        </p:spPr>
      </p:pic>
      <p:pic>
        <p:nvPicPr>
          <p:cNvPr id="7" name="圖片 6" descr="一張含有 油畫, 藝術, 圖畫, 視覺藝術 的圖片&#10;&#10;自動產生的描述">
            <a:extLst>
              <a:ext uri="{FF2B5EF4-FFF2-40B4-BE49-F238E27FC236}">
                <a16:creationId xmlns:a16="http://schemas.microsoft.com/office/drawing/2014/main" id="{7CFFECE2-BB48-1AD5-3016-8A4EDFAD06B8}"/>
              </a:ext>
            </a:extLst>
          </p:cNvPr>
          <p:cNvPicPr>
            <a:picLocks noChangeAspect="1"/>
          </p:cNvPicPr>
          <p:nvPr/>
        </p:nvPicPr>
        <p:blipFill>
          <a:blip r:embed="rId5">
            <a:extLst>
              <a:ext uri="{28A0092B-C50C-407E-A947-70E740481C1C}">
                <a14:useLocalDpi xmlns:a14="http://schemas.microsoft.com/office/drawing/2010/main" val="0"/>
              </a:ext>
            </a:extLst>
          </a:blip>
          <a:srcRect l="14972" t="5726" r="12796" b="10165"/>
          <a:stretch/>
        </p:blipFill>
        <p:spPr>
          <a:xfrm>
            <a:off x="4567887" y="3722102"/>
            <a:ext cx="3397446" cy="2967018"/>
          </a:xfrm>
          <a:prstGeom prst="rect">
            <a:avLst/>
          </a:prstGeom>
        </p:spPr>
      </p:pic>
      <p:pic>
        <p:nvPicPr>
          <p:cNvPr id="9" name="圖片 8" descr="一張含有 哺乳動物, 垃圾, 牛, 戶外 的圖片&#10;&#10;自動產生的描述">
            <a:extLst>
              <a:ext uri="{FF2B5EF4-FFF2-40B4-BE49-F238E27FC236}">
                <a16:creationId xmlns:a16="http://schemas.microsoft.com/office/drawing/2014/main" id="{050C988B-408F-144B-51EE-EFE64890DD13}"/>
              </a:ext>
            </a:extLst>
          </p:cNvPr>
          <p:cNvPicPr>
            <a:picLocks noChangeAspect="1"/>
          </p:cNvPicPr>
          <p:nvPr/>
        </p:nvPicPr>
        <p:blipFill>
          <a:blip r:embed="rId6">
            <a:extLst>
              <a:ext uri="{28A0092B-C50C-407E-A947-70E740481C1C}">
                <a14:useLocalDpi xmlns:a14="http://schemas.microsoft.com/office/drawing/2010/main" val="0"/>
              </a:ext>
            </a:extLst>
          </a:blip>
          <a:srcRect l="18124" t="6834" r="15556" b="9056"/>
          <a:stretch/>
        </p:blipFill>
        <p:spPr>
          <a:xfrm>
            <a:off x="8274801" y="684121"/>
            <a:ext cx="3116839" cy="2964670"/>
          </a:xfrm>
          <a:prstGeom prst="rect">
            <a:avLst/>
          </a:prstGeom>
        </p:spPr>
      </p:pic>
      <p:pic>
        <p:nvPicPr>
          <p:cNvPr id="13" name="圖片 12" descr="一張含有 哺乳動物, 牛, 戶外, 山羊 的圖片&#10;&#10;自動產生的描述">
            <a:extLst>
              <a:ext uri="{FF2B5EF4-FFF2-40B4-BE49-F238E27FC236}">
                <a16:creationId xmlns:a16="http://schemas.microsoft.com/office/drawing/2014/main" id="{7E9A2F0D-47C0-E0DB-70A3-3054AA340C06}"/>
              </a:ext>
            </a:extLst>
          </p:cNvPr>
          <p:cNvPicPr>
            <a:picLocks noChangeAspect="1"/>
          </p:cNvPicPr>
          <p:nvPr/>
        </p:nvPicPr>
        <p:blipFill>
          <a:blip r:embed="rId7">
            <a:extLst>
              <a:ext uri="{28A0092B-C50C-407E-A947-70E740481C1C}">
                <a14:useLocalDpi xmlns:a14="http://schemas.microsoft.com/office/drawing/2010/main" val="0"/>
              </a:ext>
            </a:extLst>
          </a:blip>
          <a:srcRect l="19275" t="6416" r="15995" b="9476"/>
          <a:stretch/>
        </p:blipFill>
        <p:spPr>
          <a:xfrm>
            <a:off x="8328766" y="3686869"/>
            <a:ext cx="3116838" cy="3037481"/>
          </a:xfrm>
          <a:prstGeom prst="rect">
            <a:avLst/>
          </a:prstGeom>
        </p:spPr>
      </p:pic>
    </p:spTree>
    <p:extLst>
      <p:ext uri="{BB962C8B-B14F-4D97-AF65-F5344CB8AC3E}">
        <p14:creationId xmlns:p14="http://schemas.microsoft.com/office/powerpoint/2010/main" val="374903051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C380232-4AB3-1CAD-7E0F-AE4FA813CCE0}"/>
              </a:ext>
            </a:extLst>
          </p:cNvPr>
          <p:cNvSpPr>
            <a:spLocks noGrp="1"/>
          </p:cNvSpPr>
          <p:nvPr>
            <p:ph type="title"/>
          </p:nvPr>
        </p:nvSpPr>
        <p:spPr>
          <a:xfrm>
            <a:off x="913774" y="0"/>
            <a:ext cx="10364451" cy="661457"/>
          </a:xfrm>
        </p:spPr>
        <p:txBody>
          <a:bodyPr/>
          <a:lstStyle/>
          <a:p>
            <a:r>
              <a:rPr lang="en-US" altLang="zh-TW" cap="none" dirty="0">
                <a:latin typeface="Calibri" panose="020F0502020204030204" pitchFamily="34" charset="0"/>
                <a:ea typeface="Calibri" panose="020F0502020204030204" pitchFamily="34" charset="0"/>
                <a:cs typeface="Calibri" panose="020F0502020204030204" pitchFamily="34" charset="0"/>
              </a:rPr>
              <a:t>Result</a:t>
            </a:r>
            <a:endParaRPr lang="zh-TW" altLang="en-US" cap="none" dirty="0">
              <a:latin typeface="Calibri" panose="020F0502020204030204" pitchFamily="34" charset="0"/>
              <a:cs typeface="Calibri" panose="020F0502020204030204" pitchFamily="34" charset="0"/>
            </a:endParaRPr>
          </a:p>
        </p:txBody>
      </p:sp>
      <p:pic>
        <p:nvPicPr>
          <p:cNvPr id="5" name="圖片 4" descr="一張含有 文字, 服裝, 海報, 螢幕擷取畫面 的圖片&#10;&#10;自動產生的描述">
            <a:extLst>
              <a:ext uri="{FF2B5EF4-FFF2-40B4-BE49-F238E27FC236}">
                <a16:creationId xmlns:a16="http://schemas.microsoft.com/office/drawing/2014/main" id="{522BCACD-2FE2-DD68-0003-5349F95F97DD}"/>
              </a:ext>
            </a:extLst>
          </p:cNvPr>
          <p:cNvPicPr>
            <a:picLocks noChangeAspect="1"/>
          </p:cNvPicPr>
          <p:nvPr/>
        </p:nvPicPr>
        <p:blipFill>
          <a:blip r:embed="rId2">
            <a:extLst>
              <a:ext uri="{28A0092B-C50C-407E-A947-70E740481C1C}">
                <a14:useLocalDpi xmlns:a14="http://schemas.microsoft.com/office/drawing/2010/main" val="0"/>
              </a:ext>
            </a:extLst>
          </a:blip>
          <a:srcRect l="30729" t="7536" r="27952" b="8692"/>
          <a:stretch/>
        </p:blipFill>
        <p:spPr>
          <a:xfrm>
            <a:off x="502770" y="553104"/>
            <a:ext cx="2002206" cy="3044497"/>
          </a:xfrm>
          <a:prstGeom prst="rect">
            <a:avLst/>
          </a:prstGeom>
        </p:spPr>
      </p:pic>
      <p:pic>
        <p:nvPicPr>
          <p:cNvPr id="7" name="圖片 6" descr="一張含有 文字, 服裝, 男人, 螢幕擷取畫面 的圖片&#10;&#10;自動產生的描述">
            <a:extLst>
              <a:ext uri="{FF2B5EF4-FFF2-40B4-BE49-F238E27FC236}">
                <a16:creationId xmlns:a16="http://schemas.microsoft.com/office/drawing/2014/main" id="{A5C9ED14-D6A4-BBF9-489E-663756065C26}"/>
              </a:ext>
            </a:extLst>
          </p:cNvPr>
          <p:cNvPicPr>
            <a:picLocks noChangeAspect="1"/>
          </p:cNvPicPr>
          <p:nvPr/>
        </p:nvPicPr>
        <p:blipFill>
          <a:blip r:embed="rId3">
            <a:extLst>
              <a:ext uri="{28A0092B-C50C-407E-A947-70E740481C1C}">
                <a14:useLocalDpi xmlns:a14="http://schemas.microsoft.com/office/drawing/2010/main" val="0"/>
              </a:ext>
            </a:extLst>
          </a:blip>
          <a:srcRect l="29729" t="3417" r="26000" b="6597"/>
          <a:stretch/>
        </p:blipFill>
        <p:spPr>
          <a:xfrm>
            <a:off x="502770" y="3594650"/>
            <a:ext cx="1997103" cy="3044498"/>
          </a:xfrm>
          <a:prstGeom prst="rect">
            <a:avLst/>
          </a:prstGeom>
        </p:spPr>
      </p:pic>
      <p:pic>
        <p:nvPicPr>
          <p:cNvPr id="9" name="圖片 8" descr="一張含有 男人, 服裝, 天空, 人員 的圖片&#10;&#10;自動產生的描述">
            <a:extLst>
              <a:ext uri="{FF2B5EF4-FFF2-40B4-BE49-F238E27FC236}">
                <a16:creationId xmlns:a16="http://schemas.microsoft.com/office/drawing/2014/main" id="{096F99EA-A352-547D-61AC-F3952ECB9030}"/>
              </a:ext>
            </a:extLst>
          </p:cNvPr>
          <p:cNvPicPr>
            <a:picLocks noChangeAspect="1"/>
          </p:cNvPicPr>
          <p:nvPr/>
        </p:nvPicPr>
        <p:blipFill>
          <a:blip r:embed="rId4">
            <a:extLst>
              <a:ext uri="{28A0092B-C50C-407E-A947-70E740481C1C}">
                <a14:useLocalDpi xmlns:a14="http://schemas.microsoft.com/office/drawing/2010/main" val="0"/>
              </a:ext>
            </a:extLst>
          </a:blip>
          <a:srcRect l="30117" t="4855" r="28390" b="6835"/>
          <a:stretch/>
        </p:blipFill>
        <p:spPr>
          <a:xfrm>
            <a:off x="2730817" y="401608"/>
            <a:ext cx="2002206" cy="3195993"/>
          </a:xfrm>
          <a:prstGeom prst="rect">
            <a:avLst/>
          </a:prstGeom>
        </p:spPr>
      </p:pic>
      <p:pic>
        <p:nvPicPr>
          <p:cNvPr id="11" name="圖片 10" descr="一張含有 男人, 服裝, 天空, 人員 的圖片&#10;&#10;自動產生的描述">
            <a:extLst>
              <a:ext uri="{FF2B5EF4-FFF2-40B4-BE49-F238E27FC236}">
                <a16:creationId xmlns:a16="http://schemas.microsoft.com/office/drawing/2014/main" id="{3BA9AD75-FA12-A444-3A95-CC3B10BC5868}"/>
              </a:ext>
            </a:extLst>
          </p:cNvPr>
          <p:cNvPicPr>
            <a:picLocks noChangeAspect="1"/>
          </p:cNvPicPr>
          <p:nvPr/>
        </p:nvPicPr>
        <p:blipFill>
          <a:blip r:embed="rId5">
            <a:extLst>
              <a:ext uri="{28A0092B-C50C-407E-A947-70E740481C1C}">
                <a14:useLocalDpi xmlns:a14="http://schemas.microsoft.com/office/drawing/2010/main" val="0"/>
              </a:ext>
            </a:extLst>
          </a:blip>
          <a:srcRect l="31250" t="5550" r="28870" b="8543"/>
          <a:stretch/>
        </p:blipFill>
        <p:spPr>
          <a:xfrm>
            <a:off x="2730817" y="3429000"/>
            <a:ext cx="2002206" cy="3234775"/>
          </a:xfrm>
          <a:prstGeom prst="rect">
            <a:avLst/>
          </a:prstGeom>
        </p:spPr>
      </p:pic>
      <p:pic>
        <p:nvPicPr>
          <p:cNvPr id="13" name="圖片 12" descr="一張含有 寵物, 狗飼養, 狗, 室內 的圖片&#10;&#10;自動產生的描述">
            <a:extLst>
              <a:ext uri="{FF2B5EF4-FFF2-40B4-BE49-F238E27FC236}">
                <a16:creationId xmlns:a16="http://schemas.microsoft.com/office/drawing/2014/main" id="{F5CD7CBC-2F2D-12CE-1BC2-1ACF92188991}"/>
              </a:ext>
            </a:extLst>
          </p:cNvPr>
          <p:cNvPicPr>
            <a:picLocks noChangeAspect="1"/>
          </p:cNvPicPr>
          <p:nvPr/>
        </p:nvPicPr>
        <p:blipFill>
          <a:blip r:embed="rId6">
            <a:extLst>
              <a:ext uri="{28A0092B-C50C-407E-A947-70E740481C1C}">
                <a14:useLocalDpi xmlns:a14="http://schemas.microsoft.com/office/drawing/2010/main" val="0"/>
              </a:ext>
            </a:extLst>
          </a:blip>
          <a:srcRect l="11631" t="6339" r="7987" b="9401"/>
          <a:stretch/>
        </p:blipFill>
        <p:spPr>
          <a:xfrm>
            <a:off x="5046686" y="980990"/>
            <a:ext cx="3251200" cy="2556019"/>
          </a:xfrm>
          <a:prstGeom prst="rect">
            <a:avLst/>
          </a:prstGeom>
        </p:spPr>
      </p:pic>
      <p:pic>
        <p:nvPicPr>
          <p:cNvPr id="15" name="圖片 14" descr="一張含有 寵物, 狗床, 狗, 黑色 的圖片&#10;&#10;自動產生的描述">
            <a:extLst>
              <a:ext uri="{FF2B5EF4-FFF2-40B4-BE49-F238E27FC236}">
                <a16:creationId xmlns:a16="http://schemas.microsoft.com/office/drawing/2014/main" id="{F7CE7BEE-2AE5-19C3-FF86-843A694983D6}"/>
              </a:ext>
            </a:extLst>
          </p:cNvPr>
          <p:cNvPicPr>
            <a:picLocks noChangeAspect="1"/>
          </p:cNvPicPr>
          <p:nvPr/>
        </p:nvPicPr>
        <p:blipFill>
          <a:blip r:embed="rId7">
            <a:extLst>
              <a:ext uri="{28A0092B-C50C-407E-A947-70E740481C1C}">
                <a14:useLocalDpi xmlns:a14="http://schemas.microsoft.com/office/drawing/2010/main" val="0"/>
              </a:ext>
            </a:extLst>
          </a:blip>
          <a:srcRect l="10805" t="5956" r="8986" b="7701"/>
          <a:stretch/>
        </p:blipFill>
        <p:spPr>
          <a:xfrm>
            <a:off x="5046686" y="3626906"/>
            <a:ext cx="3299017" cy="2663492"/>
          </a:xfrm>
          <a:prstGeom prst="rect">
            <a:avLst/>
          </a:prstGeom>
        </p:spPr>
      </p:pic>
      <p:pic>
        <p:nvPicPr>
          <p:cNvPr id="17" name="圖片 16" descr="一張含有 寵物, 狗, 狗飼養, 傢俱 的圖片&#10;&#10;自動產生的描述">
            <a:extLst>
              <a:ext uri="{FF2B5EF4-FFF2-40B4-BE49-F238E27FC236}">
                <a16:creationId xmlns:a16="http://schemas.microsoft.com/office/drawing/2014/main" id="{1D6D033D-81ED-27B8-2E1E-591E8EACD578}"/>
              </a:ext>
            </a:extLst>
          </p:cNvPr>
          <p:cNvPicPr>
            <a:picLocks noChangeAspect="1"/>
          </p:cNvPicPr>
          <p:nvPr/>
        </p:nvPicPr>
        <p:blipFill>
          <a:blip r:embed="rId8">
            <a:extLst>
              <a:ext uri="{28A0092B-C50C-407E-A947-70E740481C1C}">
                <a14:useLocalDpi xmlns:a14="http://schemas.microsoft.com/office/drawing/2010/main" val="0"/>
              </a:ext>
            </a:extLst>
          </a:blip>
          <a:srcRect l="15013" t="6706" r="12939" b="8571"/>
          <a:stretch/>
        </p:blipFill>
        <p:spPr>
          <a:xfrm>
            <a:off x="8699372" y="847914"/>
            <a:ext cx="3103714" cy="2737251"/>
          </a:xfrm>
          <a:prstGeom prst="rect">
            <a:avLst/>
          </a:prstGeom>
        </p:spPr>
      </p:pic>
      <p:pic>
        <p:nvPicPr>
          <p:cNvPr id="19" name="圖片 18" descr="一張含有 寵物, 狗飼養, 狗, 室內 的圖片&#10;&#10;自動產生的描述">
            <a:extLst>
              <a:ext uri="{FF2B5EF4-FFF2-40B4-BE49-F238E27FC236}">
                <a16:creationId xmlns:a16="http://schemas.microsoft.com/office/drawing/2014/main" id="{A1CE6BE1-6F94-5C05-A4AC-B9BB74050979}"/>
              </a:ext>
            </a:extLst>
          </p:cNvPr>
          <p:cNvPicPr>
            <a:picLocks noChangeAspect="1"/>
          </p:cNvPicPr>
          <p:nvPr/>
        </p:nvPicPr>
        <p:blipFill>
          <a:blip r:embed="rId9">
            <a:extLst>
              <a:ext uri="{28A0092B-C50C-407E-A947-70E740481C1C}">
                <a14:useLocalDpi xmlns:a14="http://schemas.microsoft.com/office/drawing/2010/main" val="0"/>
              </a:ext>
            </a:extLst>
          </a:blip>
          <a:srcRect l="15227" t="6298" r="13072" b="9089"/>
          <a:stretch/>
        </p:blipFill>
        <p:spPr>
          <a:xfrm>
            <a:off x="8699372" y="3585165"/>
            <a:ext cx="3103714" cy="2746973"/>
          </a:xfrm>
          <a:prstGeom prst="rect">
            <a:avLst/>
          </a:prstGeom>
        </p:spPr>
      </p:pic>
    </p:spTree>
    <p:extLst>
      <p:ext uri="{BB962C8B-B14F-4D97-AF65-F5344CB8AC3E}">
        <p14:creationId xmlns:p14="http://schemas.microsoft.com/office/powerpoint/2010/main" val="211277017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0B4AAA-1F25-8A4D-B922-F59A5FEB83B7}"/>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F6026F27-62C5-D4FE-EDE2-693638B86EF9}"/>
              </a:ext>
            </a:extLst>
          </p:cNvPr>
          <p:cNvSpPr>
            <a:spLocks noGrp="1"/>
          </p:cNvSpPr>
          <p:nvPr>
            <p:ph type="title"/>
          </p:nvPr>
        </p:nvSpPr>
        <p:spPr>
          <a:xfrm>
            <a:off x="913774" y="0"/>
            <a:ext cx="10364451" cy="661457"/>
          </a:xfrm>
        </p:spPr>
        <p:txBody>
          <a:bodyPr/>
          <a:lstStyle/>
          <a:p>
            <a:r>
              <a:rPr lang="en-US" altLang="zh-TW" cap="none">
                <a:latin typeface="Calibri" panose="020F0502020204030204" pitchFamily="34" charset="0"/>
                <a:ea typeface="Calibri" panose="020F0502020204030204" pitchFamily="34" charset="0"/>
                <a:cs typeface="Calibri" panose="020F0502020204030204" pitchFamily="34" charset="0"/>
              </a:rPr>
              <a:t>Result</a:t>
            </a:r>
            <a:endParaRPr lang="zh-TW" altLang="en-US" cap="none" dirty="0">
              <a:latin typeface="Calibri" panose="020F0502020204030204" pitchFamily="34" charset="0"/>
              <a:cs typeface="Calibri" panose="020F0502020204030204" pitchFamily="34" charset="0"/>
            </a:endParaRPr>
          </a:p>
        </p:txBody>
      </p:sp>
      <p:pic>
        <p:nvPicPr>
          <p:cNvPr id="4" name="圖片 3">
            <a:extLst>
              <a:ext uri="{FF2B5EF4-FFF2-40B4-BE49-F238E27FC236}">
                <a16:creationId xmlns:a16="http://schemas.microsoft.com/office/drawing/2014/main" id="{D22ED47C-C393-DB59-136E-D2E887BDA648}"/>
              </a:ext>
            </a:extLst>
          </p:cNvPr>
          <p:cNvPicPr>
            <a:picLocks noChangeAspect="1"/>
          </p:cNvPicPr>
          <p:nvPr/>
        </p:nvPicPr>
        <p:blipFill>
          <a:blip r:embed="rId2">
            <a:extLst>
              <a:ext uri="{28A0092B-C50C-407E-A947-70E740481C1C}">
                <a14:useLocalDpi xmlns:a14="http://schemas.microsoft.com/office/drawing/2010/main" val="0"/>
              </a:ext>
            </a:extLst>
          </a:blip>
          <a:srcRect l="11219" t="9838" r="9094" b="13542"/>
          <a:stretch/>
        </p:blipFill>
        <p:spPr>
          <a:xfrm>
            <a:off x="13750" y="1107886"/>
            <a:ext cx="3464414" cy="2498303"/>
          </a:xfrm>
          <a:prstGeom prst="rect">
            <a:avLst/>
          </a:prstGeom>
        </p:spPr>
      </p:pic>
      <p:pic>
        <p:nvPicPr>
          <p:cNvPr id="8" name="圖片 7">
            <a:extLst>
              <a:ext uri="{FF2B5EF4-FFF2-40B4-BE49-F238E27FC236}">
                <a16:creationId xmlns:a16="http://schemas.microsoft.com/office/drawing/2014/main" id="{F6F8D8E3-6312-CDD5-FB2A-56680DFE4094}"/>
              </a:ext>
            </a:extLst>
          </p:cNvPr>
          <p:cNvPicPr>
            <a:picLocks noChangeAspect="1"/>
          </p:cNvPicPr>
          <p:nvPr/>
        </p:nvPicPr>
        <p:blipFill>
          <a:blip r:embed="rId3">
            <a:extLst>
              <a:ext uri="{28A0092B-C50C-407E-A947-70E740481C1C}">
                <a14:useLocalDpi xmlns:a14="http://schemas.microsoft.com/office/drawing/2010/main" val="0"/>
              </a:ext>
            </a:extLst>
          </a:blip>
          <a:srcRect l="11806" t="9752" r="8507" b="13628"/>
          <a:stretch/>
        </p:blipFill>
        <p:spPr>
          <a:xfrm>
            <a:off x="64887" y="3691304"/>
            <a:ext cx="3464414" cy="2498303"/>
          </a:xfrm>
          <a:prstGeom prst="rect">
            <a:avLst/>
          </a:prstGeom>
        </p:spPr>
      </p:pic>
      <p:pic>
        <p:nvPicPr>
          <p:cNvPr id="12" name="圖片 11">
            <a:extLst>
              <a:ext uri="{FF2B5EF4-FFF2-40B4-BE49-F238E27FC236}">
                <a16:creationId xmlns:a16="http://schemas.microsoft.com/office/drawing/2014/main" id="{95F52ABB-074D-A465-ACD3-4AA7E77351A7}"/>
              </a:ext>
            </a:extLst>
          </p:cNvPr>
          <p:cNvPicPr>
            <a:picLocks noChangeAspect="1"/>
          </p:cNvPicPr>
          <p:nvPr/>
        </p:nvPicPr>
        <p:blipFill>
          <a:blip r:embed="rId4">
            <a:extLst>
              <a:ext uri="{28A0092B-C50C-407E-A947-70E740481C1C}">
                <a14:useLocalDpi xmlns:a14="http://schemas.microsoft.com/office/drawing/2010/main" val="0"/>
              </a:ext>
            </a:extLst>
          </a:blip>
          <a:srcRect l="11540" t="6938" r="8772" b="10252"/>
          <a:stretch/>
        </p:blipFill>
        <p:spPr>
          <a:xfrm>
            <a:off x="3424946" y="1122522"/>
            <a:ext cx="3186711" cy="2483667"/>
          </a:xfrm>
          <a:prstGeom prst="rect">
            <a:avLst/>
          </a:prstGeom>
        </p:spPr>
      </p:pic>
      <p:pic>
        <p:nvPicPr>
          <p:cNvPr id="16" name="圖片 15">
            <a:extLst>
              <a:ext uri="{FF2B5EF4-FFF2-40B4-BE49-F238E27FC236}">
                <a16:creationId xmlns:a16="http://schemas.microsoft.com/office/drawing/2014/main" id="{180AE473-F022-8D42-00EB-1C9C741E63C0}"/>
              </a:ext>
            </a:extLst>
          </p:cNvPr>
          <p:cNvPicPr>
            <a:picLocks noChangeAspect="1"/>
          </p:cNvPicPr>
          <p:nvPr/>
        </p:nvPicPr>
        <p:blipFill>
          <a:blip r:embed="rId5">
            <a:extLst>
              <a:ext uri="{28A0092B-C50C-407E-A947-70E740481C1C}">
                <a14:useLocalDpi xmlns:a14="http://schemas.microsoft.com/office/drawing/2010/main" val="0"/>
              </a:ext>
            </a:extLst>
          </a:blip>
          <a:srcRect l="11407" t="7224" r="8905" b="10252"/>
          <a:stretch/>
        </p:blipFill>
        <p:spPr>
          <a:xfrm>
            <a:off x="3424946" y="3762868"/>
            <a:ext cx="3137124" cy="2436571"/>
          </a:xfrm>
          <a:prstGeom prst="rect">
            <a:avLst/>
          </a:prstGeom>
        </p:spPr>
      </p:pic>
      <p:pic>
        <p:nvPicPr>
          <p:cNvPr id="20" name="圖片 19" descr="一張含有 服裝, 人員, 女孩, 大腿 的圖片&#10;&#10;自動產生的描述">
            <a:extLst>
              <a:ext uri="{FF2B5EF4-FFF2-40B4-BE49-F238E27FC236}">
                <a16:creationId xmlns:a16="http://schemas.microsoft.com/office/drawing/2014/main" id="{49443866-11B5-60BB-E0D4-A74349BA386C}"/>
              </a:ext>
            </a:extLst>
          </p:cNvPr>
          <p:cNvPicPr>
            <a:picLocks noChangeAspect="1"/>
          </p:cNvPicPr>
          <p:nvPr/>
        </p:nvPicPr>
        <p:blipFill>
          <a:blip r:embed="rId6">
            <a:extLst>
              <a:ext uri="{28A0092B-C50C-407E-A947-70E740481C1C}">
                <a14:useLocalDpi xmlns:a14="http://schemas.microsoft.com/office/drawing/2010/main" val="0"/>
              </a:ext>
            </a:extLst>
          </a:blip>
          <a:srcRect l="11414" t="6366" r="9849" b="9722"/>
          <a:stretch/>
        </p:blipFill>
        <p:spPr>
          <a:xfrm>
            <a:off x="6562071" y="1322450"/>
            <a:ext cx="2896890" cy="2315459"/>
          </a:xfrm>
          <a:prstGeom prst="rect">
            <a:avLst/>
          </a:prstGeom>
        </p:spPr>
      </p:pic>
      <p:pic>
        <p:nvPicPr>
          <p:cNvPr id="24" name="圖片 23" descr="一張含有 服裝, 女人, 人員, 女孩 的圖片&#10;&#10;自動產生的描述">
            <a:extLst>
              <a:ext uri="{FF2B5EF4-FFF2-40B4-BE49-F238E27FC236}">
                <a16:creationId xmlns:a16="http://schemas.microsoft.com/office/drawing/2014/main" id="{10BEA07F-CF8D-3BFA-4B74-D73B7FA51215}"/>
              </a:ext>
            </a:extLst>
          </p:cNvPr>
          <p:cNvPicPr>
            <a:picLocks noChangeAspect="1"/>
          </p:cNvPicPr>
          <p:nvPr/>
        </p:nvPicPr>
        <p:blipFill>
          <a:blip r:embed="rId7">
            <a:extLst>
              <a:ext uri="{28A0092B-C50C-407E-A947-70E740481C1C}">
                <a14:useLocalDpi xmlns:a14="http://schemas.microsoft.com/office/drawing/2010/main" val="0"/>
              </a:ext>
            </a:extLst>
          </a:blip>
          <a:srcRect l="12102" t="6190" r="9160" b="11001"/>
          <a:stretch/>
        </p:blipFill>
        <p:spPr>
          <a:xfrm>
            <a:off x="6562070" y="3825966"/>
            <a:ext cx="2956335" cy="2331920"/>
          </a:xfrm>
          <a:prstGeom prst="rect">
            <a:avLst/>
          </a:prstGeom>
        </p:spPr>
      </p:pic>
      <p:pic>
        <p:nvPicPr>
          <p:cNvPr id="28" name="圖片 27" descr="一張含有 服裝, 人員, 女孩, 人的臉孔 的圖片&#10;&#10;自動產生的描述">
            <a:extLst>
              <a:ext uri="{FF2B5EF4-FFF2-40B4-BE49-F238E27FC236}">
                <a16:creationId xmlns:a16="http://schemas.microsoft.com/office/drawing/2014/main" id="{DC5B9A3A-CFE8-AA69-EE2E-2F203A1B4FC2}"/>
              </a:ext>
            </a:extLst>
          </p:cNvPr>
          <p:cNvPicPr>
            <a:picLocks noChangeAspect="1"/>
          </p:cNvPicPr>
          <p:nvPr/>
        </p:nvPicPr>
        <p:blipFill>
          <a:blip r:embed="rId8">
            <a:extLst>
              <a:ext uri="{28A0092B-C50C-407E-A947-70E740481C1C}">
                <a14:useLocalDpi xmlns:a14="http://schemas.microsoft.com/office/drawing/2010/main" val="0"/>
              </a:ext>
            </a:extLst>
          </a:blip>
          <a:srcRect l="15706" t="6938" r="12939" b="10252"/>
          <a:stretch/>
        </p:blipFill>
        <p:spPr>
          <a:xfrm>
            <a:off x="9518405" y="1322450"/>
            <a:ext cx="2673595" cy="2327113"/>
          </a:xfrm>
          <a:prstGeom prst="rect">
            <a:avLst/>
          </a:prstGeom>
        </p:spPr>
      </p:pic>
      <p:pic>
        <p:nvPicPr>
          <p:cNvPr id="30" name="圖片 29" descr="一張含有 服裝, 人員, 女孩, 人的臉孔 的圖片&#10;&#10;自動產生的描述">
            <a:extLst>
              <a:ext uri="{FF2B5EF4-FFF2-40B4-BE49-F238E27FC236}">
                <a16:creationId xmlns:a16="http://schemas.microsoft.com/office/drawing/2014/main" id="{07796EB6-F05C-538E-4435-6D6A7947E757}"/>
              </a:ext>
            </a:extLst>
          </p:cNvPr>
          <p:cNvPicPr>
            <a:picLocks noChangeAspect="1"/>
          </p:cNvPicPr>
          <p:nvPr/>
        </p:nvPicPr>
        <p:blipFill>
          <a:blip r:embed="rId9">
            <a:extLst>
              <a:ext uri="{28A0092B-C50C-407E-A947-70E740481C1C}">
                <a14:useLocalDpi xmlns:a14="http://schemas.microsoft.com/office/drawing/2010/main" val="0"/>
              </a:ext>
            </a:extLst>
          </a:blip>
          <a:srcRect l="16136" t="5837" r="13245" b="10252"/>
          <a:stretch/>
        </p:blipFill>
        <p:spPr>
          <a:xfrm>
            <a:off x="9518405" y="3722493"/>
            <a:ext cx="2707379" cy="2412770"/>
          </a:xfrm>
          <a:prstGeom prst="rect">
            <a:avLst/>
          </a:prstGeom>
        </p:spPr>
      </p:pic>
    </p:spTree>
    <p:extLst>
      <p:ext uri="{BB962C8B-B14F-4D97-AF65-F5344CB8AC3E}">
        <p14:creationId xmlns:p14="http://schemas.microsoft.com/office/powerpoint/2010/main" val="324883461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967ED79-A636-51DF-A6CA-11784E4B735B}"/>
              </a:ext>
            </a:extLst>
          </p:cNvPr>
          <p:cNvSpPr>
            <a:spLocks noGrp="1"/>
          </p:cNvSpPr>
          <p:nvPr>
            <p:ph type="title"/>
          </p:nvPr>
        </p:nvSpPr>
        <p:spPr/>
        <p:txBody>
          <a:bodyPr/>
          <a:lstStyle/>
          <a:p>
            <a:r>
              <a:rPr lang="en-US" altLang="zh-TW" cap="none" dirty="0">
                <a:latin typeface="Calibri" panose="020F0502020204030204" pitchFamily="34" charset="0"/>
                <a:ea typeface="Calibri" panose="020F0502020204030204" pitchFamily="34" charset="0"/>
                <a:cs typeface="Calibri" panose="020F0502020204030204" pitchFamily="34" charset="0"/>
              </a:rPr>
              <a:t>Discussion</a:t>
            </a:r>
            <a:endParaRPr lang="zh-TW" altLang="en-US" cap="none" dirty="0">
              <a:latin typeface="Calibri" panose="020F0502020204030204" pitchFamily="34" charset="0"/>
              <a:cs typeface="Calibri" panose="020F0502020204030204" pitchFamily="34" charset="0"/>
            </a:endParaRPr>
          </a:p>
        </p:txBody>
      </p:sp>
      <p:sp>
        <p:nvSpPr>
          <p:cNvPr id="3" name="內容版面配置區 2">
            <a:extLst>
              <a:ext uri="{FF2B5EF4-FFF2-40B4-BE49-F238E27FC236}">
                <a16:creationId xmlns:a16="http://schemas.microsoft.com/office/drawing/2014/main" id="{00ECEE6F-D622-A5C9-3B41-17048ECAD566}"/>
              </a:ext>
            </a:extLst>
          </p:cNvPr>
          <p:cNvSpPr>
            <a:spLocks noGrp="1"/>
          </p:cNvSpPr>
          <p:nvPr>
            <p:ph sz="quarter" idx="13"/>
          </p:nvPr>
        </p:nvSpPr>
        <p:spPr>
          <a:xfrm>
            <a:off x="914399" y="2072452"/>
            <a:ext cx="10363826" cy="3424107"/>
          </a:xfrm>
        </p:spPr>
        <p:txBody>
          <a:bodyPr>
            <a:normAutofit fontScale="92500"/>
          </a:bodyPr>
          <a:lstStyle/>
          <a:p>
            <a:r>
              <a:rPr lang="en-US" altLang="zh-TW" cap="none" dirty="0"/>
              <a:t>Generalization: This filter works well with some structure of input, however, there are still time that it doesn’t work well or maybe in some case, even worse.</a:t>
            </a:r>
          </a:p>
          <a:p>
            <a:r>
              <a:rPr lang="en-US" altLang="zh-TW" cap="none" dirty="0"/>
              <a:t>Parameter setting: Though I’ve chosen a way to decide the parameter, it’s hard to tell whether this is the optimal choice. Other parameters also need finetuning compared with original self-guided filter. The transformation between depth map and kappa are also questioned.</a:t>
            </a:r>
          </a:p>
          <a:p>
            <a:r>
              <a:rPr lang="en-US" altLang="zh-TW" cap="none" dirty="0"/>
              <a:t>To apply this filter, extra information of depth map is needed, but sometimes you only have the image.</a:t>
            </a:r>
          </a:p>
          <a:p>
            <a:r>
              <a:rPr lang="en-US" altLang="zh-TW" cap="none" dirty="0"/>
              <a:t>The image after applying the filter is not only just a preprocessed step, but could form depth of field effect and could extend to many applications.</a:t>
            </a:r>
          </a:p>
          <a:p>
            <a:endParaRPr lang="en-US" altLang="zh-TW" cap="none" dirty="0"/>
          </a:p>
          <a:p>
            <a:endParaRPr lang="zh-TW" altLang="en-US" cap="none" dirty="0"/>
          </a:p>
        </p:txBody>
      </p:sp>
    </p:spTree>
    <p:extLst>
      <p:ext uri="{BB962C8B-B14F-4D97-AF65-F5344CB8AC3E}">
        <p14:creationId xmlns:p14="http://schemas.microsoft.com/office/powerpoint/2010/main" val="681670508"/>
      </p:ext>
    </p:extLst>
  </p:cSld>
  <p:clrMapOvr>
    <a:masterClrMapping/>
  </p:clrMapOvr>
</p:sld>
</file>

<file path=ppt/theme/theme1.xml><?xml version="1.0" encoding="utf-8"?>
<a:theme xmlns:a="http://schemas.openxmlformats.org/drawingml/2006/main" name="小水滴">
  <a:themeElements>
    <a:clrScheme name="小水滴">
      <a:dk1>
        <a:sysClr val="windowText" lastClr="000000"/>
      </a:dk1>
      <a:lt1>
        <a:sysClr val="window" lastClr="FFFFFF"/>
      </a:lt1>
      <a:dk2>
        <a:srgbClr val="355071"/>
      </a:dk2>
      <a:lt2>
        <a:srgbClr val="AABED7"/>
      </a:lt2>
      <a:accent1>
        <a:srgbClr val="2FA3EE"/>
      </a:accent1>
      <a:accent2>
        <a:srgbClr val="4BCAAD"/>
      </a:accent2>
      <a:accent3>
        <a:srgbClr val="86C157"/>
      </a:accent3>
      <a:accent4>
        <a:srgbClr val="D99C3F"/>
      </a:accent4>
      <a:accent5>
        <a:srgbClr val="CE6633"/>
      </a:accent5>
      <a:accent6>
        <a:srgbClr val="A35DD1"/>
      </a:accent6>
      <a:hlink>
        <a:srgbClr val="56BCFE"/>
      </a:hlink>
      <a:folHlink>
        <a:srgbClr val="97C5E3"/>
      </a:folHlink>
    </a:clrScheme>
    <a:fontScheme name="小水滴">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小水滴">
      <a:fillStyleLst>
        <a:solidFill>
          <a:schemeClr val="phClr"/>
        </a:solidFill>
        <a:solidFill>
          <a:schemeClr val="phClr">
            <a:tint val="69000"/>
            <a:satMod val="105000"/>
            <a:lumMod val="110000"/>
          </a:schemeClr>
        </a:solidFill>
        <a:gradFill rotWithShape="1">
          <a:gsLst>
            <a:gs pos="0">
              <a:schemeClr val="phClr">
                <a:tint val="94000"/>
                <a:satMod val="100000"/>
                <a:lumMod val="108000"/>
              </a:schemeClr>
            </a:gs>
            <a:gs pos="50000">
              <a:schemeClr val="phClr">
                <a:tint val="98000"/>
                <a:shade val="100000"/>
                <a:satMod val="100000"/>
                <a:lumMod val="100000"/>
              </a:schemeClr>
            </a:gs>
            <a:gs pos="100000">
              <a:schemeClr val="phClr">
                <a:shade val="72000"/>
                <a:satMod val="120000"/>
                <a:lumMod val="100000"/>
              </a:schemeClr>
            </a:gs>
          </a:gsLst>
          <a:lin ang="5400000" scaled="0"/>
        </a:gradFill>
      </a:fillStyleLst>
      <a:lnStyleLst>
        <a:ln w="9525" cap="flat" cmpd="sng" algn="ctr">
          <a:solidFill>
            <a:schemeClr val="phClr">
              <a:shade val="60000"/>
            </a:scheme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outerShdw blurRad="50800" dist="25400" dir="5400000" rotWithShape="0">
              <a:srgbClr val="000000">
                <a:alpha val="28000"/>
              </a:srgbClr>
            </a:outerShdw>
          </a:effectLst>
        </a:effectStyle>
        <a:effectStyle>
          <a:effectLst>
            <a:outerShdw blurRad="63500" dist="25400" dir="5400000" algn="ctr" rotWithShape="0">
              <a:srgbClr val="000000">
                <a:alpha val="69000"/>
              </a:srgbClr>
            </a:outerShdw>
          </a:effectLst>
          <a:scene3d>
            <a:camera prst="orthographicFront">
              <a:rot lat="0" lon="0" rev="0"/>
            </a:camera>
            <a:lightRig rig="balanced" dir="t">
              <a:rot lat="0" lon="0" rev="1200000"/>
            </a:lightRig>
          </a:scene3d>
          <a:sp3d prstMaterial="plastic">
            <a:bevelT w="25400" h="25400"/>
          </a:sp3d>
        </a:effectStyle>
      </a:effectStyleLst>
      <a:bgFillStyleLst>
        <a:solidFill>
          <a:schemeClr val="phClr"/>
        </a:solidFill>
        <a:gradFill rotWithShape="1">
          <a:gsLst>
            <a:gs pos="0">
              <a:schemeClr val="phClr">
                <a:tint val="90000"/>
                <a:lumMod val="110000"/>
              </a:schemeClr>
            </a:gs>
            <a:gs pos="100000">
              <a:schemeClr val="phClr">
                <a:shade val="64000"/>
                <a:lumMod val="88000"/>
              </a:schemeClr>
            </a:gs>
          </a:gsLst>
          <a:lin ang="5400000" scaled="0"/>
        </a:gradFill>
        <a:gradFill rotWithShape="1">
          <a:gsLst>
            <a:gs pos="0">
              <a:schemeClr val="phClr">
                <a:tint val="84000"/>
                <a:shade val="100000"/>
                <a:hueMod val="130000"/>
                <a:satMod val="150000"/>
                <a:lumMod val="112000"/>
              </a:schemeClr>
            </a:gs>
            <a:gs pos="100000">
              <a:schemeClr val="phClr">
                <a:shade val="92000"/>
                <a:satMod val="140000"/>
                <a:lumMod val="110000"/>
              </a:schemeClr>
            </a:gs>
          </a:gsLst>
          <a:lin ang="5400000" scaled="0"/>
        </a:gradFill>
      </a:bgFillStyleLst>
    </a:fmtScheme>
  </a:themeElements>
  <a:objectDefaults/>
  <a:extraClrSchemeLst/>
  <a:extLst>
    <a:ext uri="{05A4C25C-085E-4340-85A3-A5531E510DB2}">
      <thm15:themeFamily xmlns:thm15="http://schemas.microsoft.com/office/thememl/2012/main" name="Droplet" id="{8984A317-299A-4E50-B45D-BFC9EDE2337A}" vid="{A633B6A3-9E7F-4C10-9C98-2517A3134361}"/>
    </a:ext>
  </a:extLst>
</a:theme>
</file>

<file path=docProps/app.xml><?xml version="1.0" encoding="utf-8"?>
<Properties xmlns="http://schemas.openxmlformats.org/officeDocument/2006/extended-properties" xmlns:vt="http://schemas.openxmlformats.org/officeDocument/2006/docPropsVTypes">
  <Template>TM04033925[[fn=小水滴]]</Template>
  <TotalTime>3005</TotalTime>
  <Words>600</Words>
  <Application>Microsoft Office PowerPoint</Application>
  <PresentationFormat>寬螢幕</PresentationFormat>
  <Paragraphs>58</Paragraphs>
  <Slides>13</Slides>
  <Notes>0</Notes>
  <HiddenSlides>0</HiddenSlides>
  <MMClips>0</MMClips>
  <ScaleCrop>false</ScaleCrop>
  <HeadingPairs>
    <vt:vector size="6" baseType="variant">
      <vt:variant>
        <vt:lpstr>使用字型</vt:lpstr>
      </vt:variant>
      <vt:variant>
        <vt:i4>5</vt:i4>
      </vt:variant>
      <vt:variant>
        <vt:lpstr>佈景主題</vt:lpstr>
      </vt:variant>
      <vt:variant>
        <vt:i4>1</vt:i4>
      </vt:variant>
      <vt:variant>
        <vt:lpstr>投影片標題</vt:lpstr>
      </vt:variant>
      <vt:variant>
        <vt:i4>13</vt:i4>
      </vt:variant>
    </vt:vector>
  </HeadingPairs>
  <TitlesOfParts>
    <vt:vector size="19" baseType="lpstr">
      <vt:lpstr>Microsoft JhengHei Light</vt:lpstr>
      <vt:lpstr>Arial</vt:lpstr>
      <vt:lpstr>Calibri</vt:lpstr>
      <vt:lpstr>Cambria Math</vt:lpstr>
      <vt:lpstr>Tw Cen MT</vt:lpstr>
      <vt:lpstr>小水滴</vt:lpstr>
      <vt:lpstr>Introduction To Image Processing term project</vt:lpstr>
      <vt:lpstr>Introduction To Seam Carving</vt:lpstr>
      <vt:lpstr>Introduction to Seam Carving</vt:lpstr>
      <vt:lpstr>Introduction to Self-guided Filter</vt:lpstr>
      <vt:lpstr>Edge-Preserving Smoothing-Sharpening Self-Guided Filter</vt:lpstr>
      <vt:lpstr>Method And Implementation</vt:lpstr>
      <vt:lpstr>Choose of t0</vt:lpstr>
      <vt:lpstr>Filtered image and energy map</vt:lpstr>
      <vt:lpstr>Seam carving implementation</vt:lpstr>
      <vt:lpstr>Result</vt:lpstr>
      <vt:lpstr>Result</vt:lpstr>
      <vt:lpstr>Result</vt:lpstr>
      <vt:lpstr>Discussion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蔡孟伶</dc:creator>
  <cp:lastModifiedBy>蔡孟伶</cp:lastModifiedBy>
  <cp:revision>6</cp:revision>
  <dcterms:created xsi:type="dcterms:W3CDTF">2024-12-04T15:02:44Z</dcterms:created>
  <dcterms:modified xsi:type="dcterms:W3CDTF">2024-12-24T20:28:06Z</dcterms:modified>
</cp:coreProperties>
</file>